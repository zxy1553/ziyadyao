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7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战斗智能体系统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3840480" y="2834640"/>
            <a:ext cx="1463040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从 Skill 到多智能体架构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姚圳 | 元梦之星开发一组 | 2026年1月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业务开发工作积累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731520" cy="73152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0" y="2743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实习期间总工作量 (2025.09-2026.01)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4572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1A73E8"/>
                </a:solidFill>
              </a:rPr>
              <a:t>63</a:t>
            </a:r>
            <a:pPr algn="r" indent="0" marL="0">
              <a:buNone/>
            </a:pPr>
            <a:r>
              <a:rPr lang="en-US" sz="1600" dirty="0">
                <a:solidFill>
                  <a:srgbClr val="1A73E8"/>
                </a:solidFill>
              </a:rPr>
              <a:t>项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011680" cy="29260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23444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E8F0FE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2618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战斗系统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6916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73E8"/>
                </a:solidFill>
              </a:rPr>
              <a:t>35%</a:t>
            </a:r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  22项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94360" y="2103120"/>
            <a:ext cx="1737360" cy="5486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2103120"/>
            <a:ext cx="608076" cy="54864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2331720"/>
            <a:ext cx="36576" cy="32004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331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Condition/Filter (阵营、距离、Tag)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94360" y="2743200"/>
            <a:ext cx="36576" cy="32004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743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Find Target Task 扩展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94360" y="3154680"/>
            <a:ext cx="36576" cy="32004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154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检测框尺寸与相机UI适配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4360" y="3566160"/>
            <a:ext cx="36576" cy="32004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566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受击音效、特效接口扩展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606040" y="1097280"/>
            <a:ext cx="2011680" cy="29260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0" y="123444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E8F0FE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👁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154680" y="12618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3C表现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743200" y="16916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73E8"/>
                </a:solidFill>
              </a:rPr>
              <a:t>43%</a:t>
            </a:r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  27项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2743200" y="2103120"/>
            <a:ext cx="1737360" cy="5486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7" name="Shape 25"/>
          <p:cNvSpPr/>
          <p:nvPr/>
        </p:nvSpPr>
        <p:spPr>
          <a:xfrm>
            <a:off x="2743200" y="2103120"/>
            <a:ext cx="747065" cy="54864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28" name="Shape 26"/>
          <p:cNvSpPr/>
          <p:nvPr/>
        </p:nvSpPr>
        <p:spPr>
          <a:xfrm>
            <a:off x="2743200" y="2331720"/>
            <a:ext cx="36576" cy="32004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29" name="Text 27"/>
          <p:cNvSpPr/>
          <p:nvPr/>
        </p:nvSpPr>
        <p:spPr>
          <a:xfrm>
            <a:off x="2834640" y="2331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武器装备角色动画切换系统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743200" y="2743200"/>
            <a:ext cx="36576" cy="32004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1" name="Text 29"/>
          <p:cNvSpPr/>
          <p:nvPr/>
        </p:nvSpPr>
        <p:spPr>
          <a:xfrm>
            <a:off x="2834640" y="2743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武器显隐、动画时序优化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743200" y="3154680"/>
            <a:ext cx="36576" cy="32004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3" name="Text 31"/>
          <p:cNvSpPr/>
          <p:nvPr/>
        </p:nvSpPr>
        <p:spPr>
          <a:xfrm>
            <a:off x="2834640" y="3154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角色物理初始化流程整理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743200" y="3566160"/>
            <a:ext cx="36576" cy="32004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5" name="Text 33"/>
          <p:cNvSpPr/>
          <p:nvPr/>
        </p:nvSpPr>
        <p:spPr>
          <a:xfrm>
            <a:off x="2834640" y="3566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多端适配 Bug 修复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754880" y="1097280"/>
            <a:ext cx="2011680" cy="29260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92040" y="123444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E8F0FE"/>
          </a:solidFill>
          <a:ln/>
        </p:spPr>
      </p:sp>
      <p:sp>
        <p:nvSpPr>
          <p:cNvPr id="38" name="Text 36"/>
          <p:cNvSpPr/>
          <p:nvPr/>
        </p:nvSpPr>
        <p:spPr>
          <a:xfrm>
            <a:off x="489204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🤖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03520" y="12618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AI智能体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892040" y="16916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73E8"/>
                </a:solidFill>
              </a:rPr>
              <a:t>8%</a:t>
            </a:r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  5项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4892040" y="2103120"/>
            <a:ext cx="1737360" cy="5486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2" name="Shape 40"/>
          <p:cNvSpPr/>
          <p:nvPr/>
        </p:nvSpPr>
        <p:spPr>
          <a:xfrm>
            <a:off x="4892040" y="2103120"/>
            <a:ext cx="138989" cy="54864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3" name="Shape 41"/>
          <p:cNvSpPr/>
          <p:nvPr/>
        </p:nvSpPr>
        <p:spPr>
          <a:xfrm>
            <a:off x="4892040" y="2331720"/>
            <a:ext cx="36576" cy="32004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4" name="Text 42"/>
          <p:cNvSpPr/>
          <p:nvPr/>
        </p:nvSpPr>
        <p:spPr>
          <a:xfrm>
            <a:off x="4983480" y="2331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战斗程序多智能体系统开发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892040" y="2743200"/>
            <a:ext cx="36576" cy="32004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6" name="Text 44"/>
          <p:cNvSpPr/>
          <p:nvPr/>
        </p:nvSpPr>
        <p:spPr>
          <a:xfrm>
            <a:off x="4983480" y="2743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Cpp Risk Analyzer 等 Skills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892040" y="3154680"/>
            <a:ext cx="36576" cy="32004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8" name="Text 46"/>
          <p:cNvSpPr/>
          <p:nvPr/>
        </p:nvSpPr>
        <p:spPr>
          <a:xfrm>
            <a:off x="4983480" y="3154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ChestPVE 战斗知识库搭建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903720" y="1097280"/>
            <a:ext cx="2011680" cy="29260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040880" y="123444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E8F0FE"/>
          </a:solidFill>
          <a:ln/>
        </p:spPr>
      </p:sp>
      <p:sp>
        <p:nvSpPr>
          <p:cNvPr id="51" name="Text 49"/>
          <p:cNvSpPr/>
          <p:nvPr/>
        </p:nvSpPr>
        <p:spPr>
          <a:xfrm>
            <a:off x="704088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⚙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7452360" y="12618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工具开发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7040880" y="16916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73E8"/>
                </a:solidFill>
              </a:rPr>
              <a:t>14%</a:t>
            </a:r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  9项</a:t>
            </a:r>
            <a:endParaRPr lang="en-US" sz="2200" dirty="0"/>
          </a:p>
        </p:txBody>
      </p:sp>
      <p:sp>
        <p:nvSpPr>
          <p:cNvPr id="54" name="Shape 52"/>
          <p:cNvSpPr/>
          <p:nvPr/>
        </p:nvSpPr>
        <p:spPr>
          <a:xfrm>
            <a:off x="7040880" y="2103120"/>
            <a:ext cx="1737360" cy="5486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5" name="Shape 53"/>
          <p:cNvSpPr/>
          <p:nvPr/>
        </p:nvSpPr>
        <p:spPr>
          <a:xfrm>
            <a:off x="7040880" y="2103120"/>
            <a:ext cx="243230" cy="54864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56" name="Shape 54"/>
          <p:cNvSpPr/>
          <p:nvPr/>
        </p:nvSpPr>
        <p:spPr>
          <a:xfrm>
            <a:off x="7040880" y="2331720"/>
            <a:ext cx="36576" cy="32004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57" name="Text 55"/>
          <p:cNvSpPr/>
          <p:nvPr/>
        </p:nvSpPr>
        <p:spPr>
          <a:xfrm>
            <a:off x="7132320" y="2331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Able 编辑器 ECA 化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7040880" y="2743200"/>
            <a:ext cx="36576" cy="32004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59" name="Text 57"/>
          <p:cNvSpPr/>
          <p:nvPr/>
        </p:nvSpPr>
        <p:spPr>
          <a:xfrm>
            <a:off x="7132320" y="2743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地图生成器开发 (连通率拓展、Debug模块、UI美化)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57200" y="4160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工作类型分布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554480" y="4160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73E8"/>
                </a:solidFill>
              </a:rPr>
              <a:t>+ 功能开发 47项 (75%)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4206240"/>
            <a:ext cx="4114800" cy="13716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63" name="Shape 61"/>
          <p:cNvSpPr/>
          <p:nvPr/>
        </p:nvSpPr>
        <p:spPr>
          <a:xfrm>
            <a:off x="3291840" y="4206240"/>
            <a:ext cx="3086100" cy="13716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64" name="Shape 62"/>
          <p:cNvSpPr/>
          <p:nvPr/>
        </p:nvSpPr>
        <p:spPr>
          <a:xfrm>
            <a:off x="6377940" y="4206240"/>
            <a:ext cx="1028700" cy="13716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65" name="Text 63"/>
          <p:cNvSpPr/>
          <p:nvPr/>
        </p:nvSpPr>
        <p:spPr>
          <a:xfrm>
            <a:off x="7498080" y="41605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9800"/>
                </a:solidFill>
              </a:rPr>
              <a:t>⏱ Bug修复 16项 (25%)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Skill 矩阵：能力叠加架构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731520" cy="64008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29260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2926080" cy="54864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51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</a:rPr>
              <a:t>🔧 Dev Skills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417320"/>
            <a:ext cx="1005840" cy="2286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4173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73E8"/>
                </a:solidFill>
              </a:rPr>
              <a:t>GAS-AbleTask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45920" y="14173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Basic/SpawnActor/HitTask 模板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94360" y="1709928"/>
            <a:ext cx="1005840" cy="2286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70992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73E8"/>
                </a:solidFill>
              </a:rPr>
              <a:t>Condition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645920" y="170992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内置专家知识，实时指导开发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94360" y="2002536"/>
            <a:ext cx="1005840" cy="2286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002536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73E8"/>
                </a:solidFill>
              </a:rPr>
              <a:t>Status Writer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645920" y="2002536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替代晦涩文档，提供 SOP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246888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468880"/>
            <a:ext cx="2926080" cy="54864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606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800"/>
                </a:solidFill>
              </a:rPr>
              <a:t>🐛 Debug Skills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" y="2971800"/>
            <a:ext cx="1005840" cy="228600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9718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800"/>
                </a:solidFill>
              </a:rPr>
              <a:t>DS Log Dump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645920" y="29718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BattleID → 自动拉取日志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94360" y="3264408"/>
            <a:ext cx="1005840" cy="228600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26440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800"/>
                </a:solidFill>
              </a:rPr>
              <a:t>Log Split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645920" y="326440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按时间戳智能切分，每份&lt;10MB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3611880"/>
            <a:ext cx="2926080" cy="77724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3611880"/>
            <a:ext cx="54864" cy="777240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657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4336"/>
                </a:solidFill>
              </a:rPr>
              <a:t>⚠️ 提效了，但人工介入仍多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4360" y="39319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• Dev: API 混淆 (GetOwningPawn vs GetSelfActor)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• Debug: 误判正常机制为异常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566160" y="914400"/>
            <a:ext cx="256032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566160" y="1005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架构层次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749040" y="1417320"/>
            <a:ext cx="1005840" cy="640080"/>
          </a:xfrm>
          <a:prstGeom prst="roundRect">
            <a:avLst>
              <a:gd name="adj" fmla="val 7143"/>
            </a:avLst>
          </a:prstGeom>
          <a:solidFill>
            <a:srgbClr val="E8F0FE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49040" y="141732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73E8"/>
                </a:solidFill>
              </a:rPr>
              <a:t>🔧 Dev Skills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A73E8"/>
                </a:solidFill>
              </a:rPr>
              <a:t>代码生成、模板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937760" y="1417320"/>
            <a:ext cx="1005840" cy="640080"/>
          </a:xfrm>
          <a:prstGeom prst="roundRect">
            <a:avLst>
              <a:gd name="adj" fmla="val 7143"/>
            </a:avLst>
          </a:prstGeom>
          <a:solidFill>
            <a:srgbClr val="FFF3E0"/>
          </a:solidFill>
          <a:ln w="12700">
            <a:solidFill>
              <a:srgbClr val="FFCC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141732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9800"/>
                </a:solidFill>
              </a:rPr>
              <a:t>🐛 Debug Skills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9800"/>
                </a:solidFill>
              </a:rPr>
              <a:t>日志拉取、切分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566160" y="2148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▼ 叠加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749040" y="2468880"/>
            <a:ext cx="2194560" cy="640080"/>
          </a:xfrm>
          <a:prstGeom prst="roundRect">
            <a:avLst>
              <a:gd name="adj" fmla="val 7143"/>
            </a:avLst>
          </a:prstGeom>
          <a:solidFill>
            <a:srgbClr val="F3E5F5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49040" y="24688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1FA2"/>
                </a:solidFill>
              </a:rPr>
              <a:t>🧠 Base Agent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B1FA2"/>
                </a:solidFill>
              </a:rPr>
              <a:t>通用大模型能力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566160" y="3611880"/>
            <a:ext cx="2560320" cy="7772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9" name="Shape 37"/>
          <p:cNvSpPr/>
          <p:nvPr/>
        </p:nvSpPr>
        <p:spPr>
          <a:xfrm>
            <a:off x="3566160" y="3611880"/>
            <a:ext cx="54864" cy="77724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0" name="Text 38"/>
          <p:cNvSpPr/>
          <p:nvPr/>
        </p:nvSpPr>
        <p:spPr>
          <a:xfrm>
            <a:off x="3703320" y="3657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AF50"/>
                </a:solidFill>
              </a:rPr>
              <a:t>💡 核心洞察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703320" y="3886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44444"/>
                </a:solidFill>
              </a:rPr>
              <a:t>Skill 解决了"怎么做"，但 Agent 仍缺少"知道什么" → 需要引入知识库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309360" y="914400"/>
            <a:ext cx="2651760" cy="34747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309360" y="1005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痛点 → 解决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00800" y="14173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4336"/>
                </a:solidFill>
              </a:rPr>
              <a:t>❌ 脚本生成空壳代码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400800" y="1691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CAF50"/>
                </a:solidFill>
              </a:rPr>
              <a:t>✅ GAS-AbleTask 多套模板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400800" y="2103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4336"/>
                </a:solidFill>
              </a:rPr>
              <a:t>❌ 蓝图修改受限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400800" y="2377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CAF50"/>
                </a:solidFill>
              </a:rPr>
              <a:t>✅ Lua + 配置 SOP 指导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400800" y="2788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4336"/>
                </a:solidFill>
              </a:rPr>
              <a:t>❌ 手动拉取日志繁琐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400800" y="3063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CAF50"/>
                </a:solidFill>
              </a:rPr>
              <a:t>✅ DS Log Dump 全自动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400800" y="34747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4336"/>
                </a:solidFill>
              </a:rPr>
              <a:t>❌ 日志太大超限制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400800" y="3749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CAF50"/>
                </a:solidFill>
              </a:rPr>
              <a:t>✅ Log Split 智能切分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知识库设计：从"能做"到"做对"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731520" cy="6400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</a:rPr>
              <a:t>Skill 教会了 Agent "怎么做"，知识库告诉它"知道什么"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80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50"/>
                </a:solidFill>
              </a:rPr>
              <a:t>📊 检索方案对比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600200"/>
            <a:ext cx="3840480" cy="274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600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方案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74520" y="16002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精度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06040" y="1600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局限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9202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源码搜索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874520" y="1920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4336"/>
                </a:solidFill>
              </a:rPr>
              <a:t>低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606040" y="1920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量大，看不出意图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94360" y="21945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Codebase Search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874520" y="21945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9800"/>
                </a:solidFill>
              </a:rPr>
              <a:t>中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60604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搜不到"怎么用"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94360" y="2468880"/>
            <a:ext cx="3840480" cy="2743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468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CAF50"/>
                </a:solidFill>
              </a:rPr>
              <a:t>Knowledge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874520" y="2468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CAF50"/>
                </a:solidFill>
              </a:rPr>
              <a:t>高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606040" y="2468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CAF50"/>
                </a:solidFill>
              </a:rPr>
              <a:t>精准、可迭代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274320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2834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50"/>
                </a:solidFill>
              </a:rPr>
              <a:t>✅ 知识库能补充什么？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3154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• API 检索 → 怎么用、何时用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5800" y="3383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• 最佳实践 → 参考实现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5800" y="3611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• 经验沉淀 → Debug 案例复用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977640"/>
            <a:ext cx="4114800" cy="59436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3977640"/>
            <a:ext cx="54864" cy="5943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397764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AF50"/>
                </a:solidFill>
              </a:rPr>
              <a:t>💡 设计思考：不放代码（Agent 本来就能搜），放 Agent 的盲区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1188720"/>
            <a:ext cx="41148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92040" y="1280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📁 分层架构设计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0" y="1691640"/>
            <a:ext cx="1463040" cy="320040"/>
          </a:xfrm>
          <a:prstGeom prst="roundRect">
            <a:avLst>
              <a:gd name="adj" fmla="val 8571"/>
            </a:avLst>
          </a:prstGeom>
          <a:solidFill>
            <a:srgbClr val="4CAF50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16916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_index.md 入口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303520" y="2148840"/>
            <a:ext cx="1371600" cy="274320"/>
          </a:xfrm>
          <a:prstGeom prst="roundRect">
            <a:avLst>
              <a:gd name="adj" fmla="val 10000"/>
            </a:avLst>
          </a:prstGeom>
          <a:solidFill>
            <a:srgbClr val="E8F0FE"/>
          </a:solidFill>
          <a:ln/>
        </p:spPr>
      </p:sp>
      <p:sp>
        <p:nvSpPr>
          <p:cNvPr id="34" name="Text 32"/>
          <p:cNvSpPr/>
          <p:nvPr/>
        </p:nvSpPr>
        <p:spPr>
          <a:xfrm>
            <a:off x="5303520" y="2148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73E8"/>
                </a:solidFill>
              </a:rPr>
              <a:t>domain_context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766560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战斗系统背景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303520" y="2468880"/>
            <a:ext cx="1371600" cy="274320"/>
          </a:xfrm>
          <a:prstGeom prst="roundRect">
            <a:avLst>
              <a:gd name="adj" fmla="val 10000"/>
            </a:avLst>
          </a:prstGeom>
          <a:solidFill>
            <a:srgbClr val="E8F0FE"/>
          </a:solidFill>
          <a:ln/>
        </p:spPr>
      </p:sp>
      <p:sp>
        <p:nvSpPr>
          <p:cNvPr id="37" name="Text 35"/>
          <p:cNvSpPr/>
          <p:nvPr/>
        </p:nvSpPr>
        <p:spPr>
          <a:xfrm>
            <a:off x="5303520" y="2468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73E8"/>
                </a:solidFill>
              </a:rPr>
              <a:t>domain_agreements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766560" y="2468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开发通用约定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303520" y="2788920"/>
            <a:ext cx="1371600" cy="274320"/>
          </a:xfrm>
          <a:prstGeom prst="roundRect">
            <a:avLst>
              <a:gd name="adj" fmla="val 10000"/>
            </a:avLst>
          </a:prstGeom>
          <a:solidFill>
            <a:srgbClr val="E8F0FE"/>
          </a:solidFill>
          <a:ln/>
        </p:spPr>
      </p:sp>
      <p:sp>
        <p:nvSpPr>
          <p:cNvPr id="40" name="Text 38"/>
          <p:cNvSpPr/>
          <p:nvPr/>
        </p:nvSpPr>
        <p:spPr>
          <a:xfrm>
            <a:off x="5303520" y="2788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73E8"/>
                </a:solidFill>
              </a:rPr>
              <a:t>Concepts/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766560" y="2788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架构设计文档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577840" y="3200400"/>
            <a:ext cx="914400" cy="256032"/>
          </a:xfrm>
          <a:prstGeom prst="roundRect">
            <a:avLst>
              <a:gd name="adj" fmla="val 10714"/>
            </a:avLst>
          </a:prstGeom>
          <a:solidFill>
            <a:srgbClr val="FFF3E0"/>
          </a:solidFill>
          <a:ln/>
        </p:spPr>
      </p:sp>
      <p:sp>
        <p:nvSpPr>
          <p:cNvPr id="43" name="Text 41"/>
          <p:cNvSpPr/>
          <p:nvPr/>
        </p:nvSpPr>
        <p:spPr>
          <a:xfrm>
            <a:off x="5577840" y="32004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9800"/>
                </a:solidFill>
              </a:rPr>
              <a:t>Core/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6583680" y="3200400"/>
            <a:ext cx="914400" cy="256032"/>
          </a:xfrm>
          <a:prstGeom prst="roundRect">
            <a:avLst>
              <a:gd name="adj" fmla="val 10714"/>
            </a:avLst>
          </a:prstGeom>
          <a:solidFill>
            <a:srgbClr val="FFF3E0"/>
          </a:solidFill>
          <a:ln/>
        </p:spPr>
      </p:sp>
      <p:sp>
        <p:nvSpPr>
          <p:cNvPr id="45" name="Text 43"/>
          <p:cNvSpPr/>
          <p:nvPr/>
        </p:nvSpPr>
        <p:spPr>
          <a:xfrm>
            <a:off x="6583680" y="32004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9800"/>
                </a:solidFill>
              </a:rPr>
              <a:t>Effect/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7589520" y="3200400"/>
            <a:ext cx="914400" cy="256032"/>
          </a:xfrm>
          <a:prstGeom prst="roundRect">
            <a:avLst>
              <a:gd name="adj" fmla="val 10714"/>
            </a:avLst>
          </a:prstGeom>
          <a:solidFill>
            <a:srgbClr val="FFF3E0"/>
          </a:solidFill>
          <a:ln/>
        </p:spPr>
      </p:sp>
      <p:sp>
        <p:nvSpPr>
          <p:cNvPr id="47" name="Text 45"/>
          <p:cNvSpPr/>
          <p:nvPr/>
        </p:nvSpPr>
        <p:spPr>
          <a:xfrm>
            <a:off x="7589520" y="32004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9800"/>
                </a:solidFill>
              </a:rPr>
              <a:t>Targeting/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5577840" y="3520440"/>
            <a:ext cx="914400" cy="256032"/>
          </a:xfrm>
          <a:prstGeom prst="roundRect">
            <a:avLst>
              <a:gd name="adj" fmla="val 10714"/>
            </a:avLst>
          </a:prstGeom>
          <a:solidFill>
            <a:srgbClr val="FFF3E0"/>
          </a:solidFill>
          <a:ln/>
        </p:spPr>
      </p:sp>
      <p:sp>
        <p:nvSpPr>
          <p:cNvPr id="49" name="Text 47"/>
          <p:cNvSpPr/>
          <p:nvPr/>
        </p:nvSpPr>
        <p:spPr>
          <a:xfrm>
            <a:off x="5577840" y="35204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9800"/>
                </a:solidFill>
              </a:rPr>
              <a:t>Cue/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6583680" y="3520440"/>
            <a:ext cx="914400" cy="256032"/>
          </a:xfrm>
          <a:prstGeom prst="roundRect">
            <a:avLst>
              <a:gd name="adj" fmla="val 10714"/>
            </a:avLst>
          </a:prstGeom>
          <a:solidFill>
            <a:srgbClr val="FFF3E0"/>
          </a:solidFill>
          <a:ln/>
        </p:spPr>
      </p:sp>
      <p:sp>
        <p:nvSpPr>
          <p:cNvPr id="51" name="Text 49"/>
          <p:cNvSpPr/>
          <p:nvPr/>
        </p:nvSpPr>
        <p:spPr>
          <a:xfrm>
            <a:off x="6583680" y="35204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9800"/>
                </a:solidFill>
              </a:rPr>
              <a:t>Equipment/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5303520" y="3886200"/>
            <a:ext cx="1371600" cy="274320"/>
          </a:xfrm>
          <a:prstGeom prst="roundRect">
            <a:avLst>
              <a:gd name="adj" fmla="val 10000"/>
            </a:avLst>
          </a:prstGeom>
          <a:solidFill>
            <a:srgbClr val="FFEBEE"/>
          </a:solidFill>
          <a:ln/>
        </p:spPr>
      </p:sp>
      <p:sp>
        <p:nvSpPr>
          <p:cNvPr id="53" name="Text 51"/>
          <p:cNvSpPr/>
          <p:nvPr/>
        </p:nvSpPr>
        <p:spPr>
          <a:xfrm>
            <a:off x="5303520" y="3886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4336"/>
                </a:solidFill>
              </a:rPr>
              <a:t>Debug/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766560" y="3886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案例+方法论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029200" y="4251960"/>
            <a:ext cx="3657600" cy="320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6" name="Text 54"/>
          <p:cNvSpPr/>
          <p:nvPr/>
        </p:nvSpPr>
        <p:spPr>
          <a:xfrm>
            <a:off x="5029200" y="4251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📦 模块结构: API/ (JSON) + Logs/ (JSON) + impl.json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Dev Agent 实战对比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731520" cy="64008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41148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114800" cy="54864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051560"/>
            <a:ext cx="1280160" cy="274320"/>
          </a:xfrm>
          <a:prstGeom prst="roundRect">
            <a:avLst>
              <a:gd name="adj" fmla="val 10000"/>
            </a:avLst>
          </a:prstGeom>
          <a:solidFill>
            <a:srgbClr val="FFEBE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515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4336"/>
                </a:solidFill>
              </a:rPr>
              <a:t>❌ Default Agent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920240" y="1051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无知识库支持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463040"/>
            <a:ext cx="228600" cy="228600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630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66666"/>
                </a:solidFill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0" y="1463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搜索代码找到 GetAbilitySystemComponent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1874520"/>
            <a:ext cx="228600" cy="228600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8745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66666"/>
                </a:solidFill>
              </a:rPr>
              <a:t>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14400" y="18745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4336"/>
                </a:solidFill>
              </a:rPr>
              <a:t>直接使用 → 编译报错（这是 Actor 成员函数）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2286000"/>
            <a:ext cx="228600" cy="228600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2860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66666"/>
                </a:solidFill>
              </a:rPr>
              <a:t>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14400" y="2286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4336"/>
                </a:solidFill>
              </a:rPr>
              <a:t>再搜 GetSelf / GetSelfActor → 还是错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2697480"/>
            <a:ext cx="228600" cy="228600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6974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66666"/>
                </a:solidFill>
              </a:rPr>
              <a:t>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14400" y="2697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多次试错，效率低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3154680"/>
            <a:ext cx="3840480" cy="27432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154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4336"/>
                </a:solidFill>
              </a:rPr>
              <a:t>⚠️ 无开发模板，遗漏蓝图配置步骤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754880" y="914400"/>
            <a:ext cx="41148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914400"/>
            <a:ext cx="41148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5" name="Shape 23"/>
          <p:cNvSpPr/>
          <p:nvPr/>
        </p:nvSpPr>
        <p:spPr>
          <a:xfrm>
            <a:off x="4892040" y="1051560"/>
            <a:ext cx="1097280" cy="27432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1051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AF50"/>
                </a:solidFill>
              </a:rPr>
              <a:t>✅ Dev Agent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35040" y="1051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知识库 + Skill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37760" y="1463040"/>
            <a:ext cx="228600" cy="228600"/>
          </a:xfrm>
          <a:prstGeom prst="ellipse">
            <a:avLst/>
          </a:prstGeom>
          <a:solidFill>
            <a:srgbClr val="C8E6C9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14630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AF50"/>
                </a:solidFill>
              </a:rPr>
              <a:t>1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212080" y="1463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检索知识库获取正确 API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937760" y="1874520"/>
            <a:ext cx="228600" cy="228600"/>
          </a:xfrm>
          <a:prstGeom prst="ellipse">
            <a:avLst/>
          </a:prstGeom>
          <a:solidFill>
            <a:srgbClr val="C8E6C9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18745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AF50"/>
                </a:solidFill>
              </a:rPr>
              <a:t>2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12080" y="18745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返回：用 GetASCFromActor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937760" y="2286000"/>
            <a:ext cx="228600" cy="228600"/>
          </a:xfrm>
          <a:prstGeom prst="ellipse">
            <a:avLst/>
          </a:prstGeom>
          <a:solidFill>
            <a:srgbClr val="C8E6C9"/>
          </a:solidFill>
          <a:ln/>
        </p:spPr>
      </p:sp>
      <p:sp>
        <p:nvSpPr>
          <p:cNvPr id="35" name="Text 33"/>
          <p:cNvSpPr/>
          <p:nvPr/>
        </p:nvSpPr>
        <p:spPr>
          <a:xfrm>
            <a:off x="4937760" y="22860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AF50"/>
                </a:solidFill>
              </a:rPr>
              <a:t>3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212080" y="2286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AF50"/>
                </a:solidFill>
              </a:rPr>
              <a:t>一次正确，无编译错误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937760" y="2697480"/>
            <a:ext cx="228600" cy="228600"/>
          </a:xfrm>
          <a:prstGeom prst="ellipse">
            <a:avLst/>
          </a:prstGeom>
          <a:solidFill>
            <a:srgbClr val="C8E6C9"/>
          </a:solidFill>
          <a:ln/>
        </p:spPr>
      </p:sp>
      <p:sp>
        <p:nvSpPr>
          <p:cNvPr id="38" name="Text 36"/>
          <p:cNvSpPr/>
          <p:nvPr/>
        </p:nvSpPr>
        <p:spPr>
          <a:xfrm>
            <a:off x="4937760" y="26974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AF50"/>
                </a:solidFill>
              </a:rPr>
              <a:t>4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212080" y="2697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Skill 指导完整流程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92040" y="3154680"/>
            <a:ext cx="3840480" cy="2743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1" name="Text 39"/>
          <p:cNvSpPr/>
          <p:nvPr/>
        </p:nvSpPr>
        <p:spPr>
          <a:xfrm>
            <a:off x="4892040" y="3154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CAF50"/>
                </a:solidFill>
              </a:rPr>
              <a:t>✅ 框架自动生成，提示蓝图配置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57200" y="361188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94360" y="3657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📋 关键差异总结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94360" y="3977640"/>
            <a:ext cx="8138160" cy="228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" y="39776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2E"/>
                </a:solidFill>
              </a:rPr>
              <a:t>维度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011680" y="39776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2E"/>
                </a:solidFill>
              </a:rPr>
              <a:t>Default Agent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029200" y="39776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2E"/>
                </a:solidFill>
              </a:rPr>
              <a:t>Dev Agent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40080" y="42062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API 检索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011680" y="420624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4336"/>
                </a:solidFill>
              </a:rPr>
              <a:t>猜测 → 多次试错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029200" y="420624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CAF50"/>
                </a:solidFill>
              </a:rPr>
              <a:t>知识库 → 一次正确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40080" y="43891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开发模板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011680" y="438912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4336"/>
                </a:solidFill>
              </a:rPr>
              <a:t>无 → 从零开始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029200" y="438912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CAF50"/>
                </a:solidFill>
              </a:rPr>
              <a:t>Skill → 框架自动生成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Debug Agent 三方对比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731520" cy="64008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2743200" cy="54864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51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🔴 TAPD AI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4336"/>
                </a:solidFill>
              </a:rPr>
              <a:t>❌ 无法获取日志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4336"/>
                </a:solidFill>
              </a:rPr>
              <a:t>❌ 只读 Bug 描述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2057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4336"/>
                </a:solidFill>
              </a:rPr>
              <a:t>❌ 只能给通用建议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0" y="91440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914400"/>
            <a:ext cx="2743200" cy="54864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051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🟡 Default Agent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0440" y="14173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9800"/>
                </a:solidFill>
              </a:rPr>
              <a:t>⚠️ 需手动提供日志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20440" y="1737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9800"/>
                </a:solidFill>
              </a:rPr>
              <a:t>⚠️ 大文件读不了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20440" y="2057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9800"/>
                </a:solidFill>
              </a:rPr>
              <a:t>⚠️ 无固定分析流程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309360" y="91440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914400"/>
            <a:ext cx="27432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1051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🟢 Debug Agent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46520" y="14173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AF50"/>
                </a:solidFill>
              </a:rPr>
              <a:t>✅ 自动拉取日志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46520" y="1737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AF50"/>
                </a:solidFill>
              </a:rPr>
              <a:t>✅ 智能切分 &lt;10MB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46520" y="2057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AF50"/>
                </a:solidFill>
              </a:rPr>
              <a:t>✅ Debug总纲规范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514600"/>
            <a:ext cx="84124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436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🔄 Debug Agent 完整工作流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2926080"/>
            <a:ext cx="1645920" cy="685800"/>
          </a:xfrm>
          <a:prstGeom prst="roundRect">
            <a:avLst>
              <a:gd name="adj" fmla="val 6667"/>
            </a:avLst>
          </a:prstGeom>
          <a:solidFill>
            <a:srgbClr val="E8F0FE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2971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3E8"/>
                </a:solidFill>
              </a:rPr>
              <a:t>ds_log_dump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" y="32461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输入 BattleID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自动从智研拉取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42316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834640" y="2926080"/>
            <a:ext cx="1645920" cy="685800"/>
          </a:xfrm>
          <a:prstGeom prst="roundRect">
            <a:avLst>
              <a:gd name="adj" fmla="val 6667"/>
            </a:avLst>
          </a:prstGeom>
          <a:solidFill>
            <a:srgbClr val="E8F5E9"/>
          </a:solidFill>
          <a:ln/>
        </p:spPr>
      </p:sp>
      <p:sp>
        <p:nvSpPr>
          <p:cNvPr id="29" name="Text 27"/>
          <p:cNvSpPr/>
          <p:nvPr/>
        </p:nvSpPr>
        <p:spPr>
          <a:xfrm>
            <a:off x="2834640" y="2971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AF50"/>
                </a:solidFill>
              </a:rPr>
              <a:t>log_split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834640" y="32461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按时间/角色切分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每份 &lt;10MB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52628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937760" y="2926080"/>
            <a:ext cx="1645920" cy="685800"/>
          </a:xfrm>
          <a:prstGeom prst="roundRect">
            <a:avLst>
              <a:gd name="adj" fmla="val 6667"/>
            </a:avLst>
          </a:prstGeom>
          <a:solidFill>
            <a:srgbClr val="FFF3E0"/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2971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800"/>
                </a:solidFill>
              </a:rPr>
              <a:t>Debug总纲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37760" y="32461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固定分析流程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精准定位问题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62940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040880" y="2926080"/>
            <a:ext cx="1645920" cy="685800"/>
          </a:xfrm>
          <a:prstGeom prst="roundRect">
            <a:avLst>
              <a:gd name="adj" fmla="val 6667"/>
            </a:avLst>
          </a:prstGeom>
          <a:solidFill>
            <a:srgbClr val="F3E5F5"/>
          </a:solidFill>
          <a:ln/>
        </p:spPr>
      </p:sp>
      <p:sp>
        <p:nvSpPr>
          <p:cNvPr id="37" name="Text 35"/>
          <p:cNvSpPr/>
          <p:nvPr/>
        </p:nvSpPr>
        <p:spPr>
          <a:xfrm>
            <a:off x="7040880" y="2971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1FA2"/>
                </a:solidFill>
              </a:rPr>
              <a:t>输出报告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040880" y="32461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分析文档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关键日志行号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57200" y="3840480"/>
            <a:ext cx="4114800" cy="73152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40" name="Shape 38"/>
          <p:cNvSpPr/>
          <p:nvPr/>
        </p:nvSpPr>
        <p:spPr>
          <a:xfrm>
            <a:off x="457200" y="3840480"/>
            <a:ext cx="54864" cy="731520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41" name="Text 39"/>
          <p:cNvSpPr/>
          <p:nvPr/>
        </p:nvSpPr>
        <p:spPr>
          <a:xfrm>
            <a:off x="594360" y="3886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4336"/>
                </a:solidFill>
              </a:rPr>
              <a:t>❌ Default Agent 的问题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94360" y="41148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• 不知道分析谁的日志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• 分析无关时间段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• 不给关键日志引用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754880" y="3840480"/>
            <a:ext cx="4114800" cy="7315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4" name="Shape 42"/>
          <p:cNvSpPr/>
          <p:nvPr/>
        </p:nvSpPr>
        <p:spPr>
          <a:xfrm>
            <a:off x="4754880" y="3840480"/>
            <a:ext cx="54864" cy="7315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5" name="Text 43"/>
          <p:cNvSpPr/>
          <p:nvPr/>
        </p:nvSpPr>
        <p:spPr>
          <a:xfrm>
            <a:off x="4892040" y="3886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AF50"/>
                </a:solidFill>
              </a:rPr>
              <a:t>✅ Debug Agent 的解决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92040" y="41148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• 按 BattleID 自动过滤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• 按时间戳智能切分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• 输出文档 + 行号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SubAgent 架构：工作流封装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731520" cy="54864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85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从手动编排 → 自动编排：将 Skills 封装为专用智能体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005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1FA2"/>
                </a:solidFill>
              </a:rPr>
              <a:t>🤔 为什么要封装 SubAgent？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280160"/>
            <a:ext cx="1783080" cy="50292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4336"/>
                </a:solidFill>
              </a:rPr>
              <a:t>❌ Before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44336"/>
                </a:solidFill>
              </a:rPr>
              <a:t>手动选择 Skill，容易遗漏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68880" y="1280160"/>
            <a:ext cx="1783080" cy="5029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12801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CAF50"/>
                </a:solidFill>
              </a:rPr>
              <a:t>✅ After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CAF50"/>
                </a:solidFill>
              </a:rPr>
              <a:t>SubAgent 自动编排完整流程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1920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965960"/>
            <a:ext cx="1920240" cy="457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0574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3E8"/>
                </a:solidFill>
              </a:rPr>
              <a:t>🔧 战斗开发 Agent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2860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</a:rPr>
              <a:t>触发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48640" y="246888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Task/Condition/Status 开发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48640" y="26974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</a:rPr>
              <a:t>工作流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48640" y="288036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识别→检索→生成代码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31089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</a:rPr>
              <a:t>Skills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48640" y="32918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73E8"/>
                </a:solidFill>
              </a:rPr>
              <a:t>GAS-AbleTask Condition Status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2468880" y="1965960"/>
            <a:ext cx="1920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468880" y="1965960"/>
            <a:ext cx="1920240" cy="4572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22" name="Text 20"/>
          <p:cNvSpPr/>
          <p:nvPr/>
        </p:nvSpPr>
        <p:spPr>
          <a:xfrm>
            <a:off x="2560320" y="20574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9800"/>
                </a:solidFill>
              </a:rPr>
              <a:t>🐛 战斗 Debug Agent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60320" y="22860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</a:rPr>
              <a:t>触发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560320" y="246888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Bug 排查、崩溃、性能分析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560320" y="26974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</a:rPr>
              <a:t>工作流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2560320" y="288036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拉取→切分→按总纲分析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560320" y="31089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</a:rPr>
              <a:t>Skills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560320" y="32918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9800"/>
                </a:solidFill>
              </a:rPr>
              <a:t>DS Log Dump  Log Split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572000" y="960120"/>
            <a:ext cx="429768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0" y="10058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🏗️ 系统架构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394960" y="1325880"/>
            <a:ext cx="2651760" cy="320040"/>
          </a:xfrm>
          <a:prstGeom prst="roundRect">
            <a:avLst>
              <a:gd name="adj" fmla="val 8571"/>
            </a:avLst>
          </a:prstGeom>
          <a:solidFill>
            <a:srgbClr val="F5F5F5"/>
          </a:solidFill>
          <a:ln/>
        </p:spPr>
      </p:sp>
      <p:sp>
        <p:nvSpPr>
          <p:cNvPr id="32" name="Text 30"/>
          <p:cNvSpPr/>
          <p:nvPr/>
        </p:nvSpPr>
        <p:spPr>
          <a:xfrm>
            <a:off x="5394960" y="13258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👤 用户需求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94960" y="164592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▼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394960" y="1828800"/>
            <a:ext cx="2651760" cy="365760"/>
          </a:xfrm>
          <a:prstGeom prst="roundRect">
            <a:avLst>
              <a:gd name="adj" fmla="val 7500"/>
            </a:avLst>
          </a:prstGeom>
          <a:solidFill>
            <a:srgbClr val="F3E5F5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94960" y="1828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1FA2"/>
                </a:solidFill>
              </a:rPr>
              <a:t>🧠 Main Agent (路由)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394960" y="219456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▼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29200" y="2377440"/>
            <a:ext cx="1371600" cy="365760"/>
          </a:xfrm>
          <a:prstGeom prst="roundRect">
            <a:avLst>
              <a:gd name="adj" fmla="val 7500"/>
            </a:avLst>
          </a:prstGeom>
          <a:solidFill>
            <a:srgbClr val="E8F0FE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0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73E8"/>
                </a:solidFill>
              </a:rPr>
              <a:t>🔧 战斗开发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040880" y="2377440"/>
            <a:ext cx="1371600" cy="365760"/>
          </a:xfrm>
          <a:prstGeom prst="roundRect">
            <a:avLst>
              <a:gd name="adj" fmla="val 7500"/>
            </a:avLst>
          </a:prstGeom>
          <a:solidFill>
            <a:srgbClr val="FFF3E0"/>
          </a:solidFill>
          <a:ln w="12700">
            <a:solidFill>
              <a:srgbClr val="FFCC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40880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9800"/>
                </a:solidFill>
              </a:rPr>
              <a:t>🐛 战斗Debug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394960" y="274320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▼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394960" y="2926080"/>
            <a:ext cx="2651760" cy="365760"/>
          </a:xfrm>
          <a:prstGeom prst="roundRect">
            <a:avLst>
              <a:gd name="adj" fmla="val 7500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94960" y="2926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AF50"/>
                </a:solidFill>
              </a:rPr>
              <a:t>📚 Knowledge Base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3794760"/>
            <a:ext cx="8412480" cy="411480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45" name="Shape 43"/>
          <p:cNvSpPr/>
          <p:nvPr/>
        </p:nvSpPr>
        <p:spPr>
          <a:xfrm>
            <a:off x="457200" y="3794760"/>
            <a:ext cx="54864" cy="41148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46" name="Text 44"/>
          <p:cNvSpPr/>
          <p:nvPr/>
        </p:nvSpPr>
        <p:spPr>
          <a:xfrm>
            <a:off x="594360" y="37947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1FA2"/>
                </a:solidFill>
              </a:rPr>
              <a:t>💡 核心价值：用户零门槛，SubAgent 负责编排 Skills + 访问知识库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未来展望：自动化维护与推广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731520" cy="6400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4114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3E8"/>
                </a:solidFill>
              </a:rPr>
              <a:t>🔧 Maintainer 自动维护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1097280" cy="731520"/>
          </a:xfrm>
          <a:prstGeom prst="roundRect">
            <a:avLst>
              <a:gd name="adj" fmla="val 6250"/>
            </a:avLst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898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⚙️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</a:rPr>
              <a:t>配置路径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watch_paths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920240" y="1371600"/>
            <a:ext cx="1097280" cy="731520"/>
          </a:xfrm>
          <a:prstGeom prst="roundRect">
            <a:avLst>
              <a:gd name="adj" fmla="val 6250"/>
            </a:avLst>
          </a:prstGeom>
          <a:solidFill>
            <a:srgbClr val="E8F5E9"/>
          </a:solidFill>
          <a:ln/>
        </p:spPr>
      </p:sp>
      <p:sp>
        <p:nvSpPr>
          <p:cNvPr id="11" name="Text 9"/>
          <p:cNvSpPr/>
          <p:nvPr/>
        </p:nvSpPr>
        <p:spPr>
          <a:xfrm>
            <a:off x="1920240" y="13898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20240" y="16459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</a:rPr>
              <a:t>自动抽取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920240" y="182880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扫描 cpp/lua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200400" y="1371600"/>
            <a:ext cx="1097280" cy="731520"/>
          </a:xfrm>
          <a:prstGeom prst="roundRect">
            <a:avLst>
              <a:gd name="adj" fmla="val 6250"/>
            </a:avLst>
          </a:prstGeom>
          <a:solidFill>
            <a:srgbClr val="FFF3E0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13898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📚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00400" y="16459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</a:rPr>
              <a:t>生成文档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00400" y="182880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按模块分类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4008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• 配置关注的代码目录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• AST 解析 API 结构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• 自动生成/更新 impl.json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288036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50"/>
                </a:solidFill>
              </a:rPr>
              <a:t>🚀 一键配置推广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31546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其他团队（3C、AI）想接入？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" y="3383280"/>
            <a:ext cx="868680" cy="320040"/>
          </a:xfrm>
          <a:prstGeom prst="roundRect">
            <a:avLst>
              <a:gd name="adj" fmla="val 8571"/>
            </a:avLst>
          </a:prstGeom>
          <a:solidFill>
            <a:srgbClr val="E8F0FE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38328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73E8"/>
                </a:solidFill>
              </a:rPr>
              <a:t>配置路径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508760" y="3383280"/>
            <a:ext cx="9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→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600200" y="3383280"/>
            <a:ext cx="868680" cy="320040"/>
          </a:xfrm>
          <a:prstGeom prst="roundRect">
            <a:avLst>
              <a:gd name="adj" fmla="val 8571"/>
            </a:avLst>
          </a:prstGeom>
          <a:solidFill>
            <a:srgbClr val="E8F5E9"/>
          </a:solidFill>
          <a:ln/>
        </p:spPr>
      </p:sp>
      <p:sp>
        <p:nvSpPr>
          <p:cNvPr id="26" name="Text 24"/>
          <p:cNvSpPr/>
          <p:nvPr/>
        </p:nvSpPr>
        <p:spPr>
          <a:xfrm>
            <a:off x="1600200" y="338328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</a:rPr>
              <a:t>运行 Maintainer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468880" y="3383280"/>
            <a:ext cx="9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→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560320" y="3383280"/>
            <a:ext cx="868680" cy="320040"/>
          </a:xfrm>
          <a:prstGeom prst="roundRect">
            <a:avLst>
              <a:gd name="adj" fmla="val 8571"/>
            </a:avLst>
          </a:prstGeom>
          <a:solidFill>
            <a:srgbClr val="FFF3E0"/>
          </a:solidFill>
          <a:ln/>
        </p:spPr>
      </p:sp>
      <p:sp>
        <p:nvSpPr>
          <p:cNvPr id="29" name="Text 27"/>
          <p:cNvSpPr/>
          <p:nvPr/>
        </p:nvSpPr>
        <p:spPr>
          <a:xfrm>
            <a:off x="2560320" y="338328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9800"/>
                </a:solidFill>
              </a:rPr>
              <a:t>知识库生成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429000" y="3383280"/>
            <a:ext cx="9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→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520440" y="3383280"/>
            <a:ext cx="868680" cy="320040"/>
          </a:xfrm>
          <a:prstGeom prst="roundRect">
            <a:avLst>
              <a:gd name="adj" fmla="val 8571"/>
            </a:avLst>
          </a:prstGeom>
          <a:solidFill>
            <a:srgbClr val="F3E5F5"/>
          </a:solidFill>
          <a:ln/>
        </p:spPr>
      </p:sp>
      <p:sp>
        <p:nvSpPr>
          <p:cNvPr id="32" name="Text 30"/>
          <p:cNvSpPr/>
          <p:nvPr/>
        </p:nvSpPr>
        <p:spPr>
          <a:xfrm>
            <a:off x="3520440" y="338328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B1FA2"/>
                </a:solidFill>
              </a:rPr>
              <a:t>套用模板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4754880" y="914400"/>
            <a:ext cx="4114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9204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800"/>
                </a:solidFill>
              </a:rPr>
              <a:t>🔄 持续迭代闭环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29200" y="1371600"/>
            <a:ext cx="1097280" cy="365760"/>
          </a:xfrm>
          <a:prstGeom prst="roundRect">
            <a:avLst>
              <a:gd name="adj" fmla="val 7500"/>
            </a:avLst>
          </a:prstGeom>
          <a:solidFill>
            <a:srgbClr val="E8F0FE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0" y="1371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73E8"/>
                </a:solidFill>
              </a:rPr>
              <a:t>使用 Agent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126480" y="13716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→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09360" y="1371600"/>
            <a:ext cx="1097280" cy="365760"/>
          </a:xfrm>
          <a:prstGeom prst="roundRect">
            <a:avLst>
              <a:gd name="adj" fmla="val 7500"/>
            </a:avLst>
          </a:prstGeom>
          <a:solidFill>
            <a:srgbClr val="FFF3E0"/>
          </a:solidFill>
          <a:ln/>
        </p:spPr>
      </p:sp>
      <p:sp>
        <p:nvSpPr>
          <p:cNvPr id="39" name="Text 37"/>
          <p:cNvSpPr/>
          <p:nvPr/>
        </p:nvSpPr>
        <p:spPr>
          <a:xfrm>
            <a:off x="6309360" y="1371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9800"/>
                </a:solidFill>
              </a:rPr>
              <a:t>发现问题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406640" y="13716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→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589520" y="1371600"/>
            <a:ext cx="1097280" cy="365760"/>
          </a:xfrm>
          <a:prstGeom prst="roundRect">
            <a:avLst>
              <a:gd name="adj" fmla="val 7500"/>
            </a:avLst>
          </a:prstGeom>
          <a:solidFill>
            <a:srgbClr val="E8F5E9"/>
          </a:solidFill>
          <a:ln/>
        </p:spPr>
      </p:sp>
      <p:sp>
        <p:nvSpPr>
          <p:cNvPr id="42" name="Text 40"/>
          <p:cNvSpPr/>
          <p:nvPr/>
        </p:nvSpPr>
        <p:spPr>
          <a:xfrm>
            <a:off x="7589520" y="1371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CAF50"/>
                </a:solidFill>
              </a:rPr>
              <a:t>更新知识库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32104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↩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892040" y="18288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</a:rPr>
              <a:t>核心理念：越用越准，持续进化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54880" y="2240280"/>
            <a:ext cx="41148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892040" y="2331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📊 推广价值总结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892040" y="2651760"/>
            <a:ext cx="3840480" cy="228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8" name="Text 46"/>
          <p:cNvSpPr/>
          <p:nvPr/>
        </p:nvSpPr>
        <p:spPr>
          <a:xfrm>
            <a:off x="4892040" y="26517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2E"/>
                </a:solidFill>
              </a:rPr>
              <a:t>维度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989320" y="26517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2E"/>
                </a:solidFill>
              </a:rPr>
              <a:t>现状（战斗）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269480" y="26517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2E"/>
                </a:solidFill>
              </a:rPr>
              <a:t>推广后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892040" y="2907792"/>
            <a:ext cx="10972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覆盖范围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989320" y="2907792"/>
            <a:ext cx="12801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战斗系统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269480" y="2907792"/>
            <a:ext cx="14630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CAF50"/>
                </a:solidFill>
              </a:rPr>
              <a:t>3C、AI、UI 等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892040" y="3118104"/>
            <a:ext cx="10972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接入成本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989320" y="3118104"/>
            <a:ext cx="12801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从零搭建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269480" y="3118104"/>
            <a:ext cx="14630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CAF50"/>
                </a:solidFill>
              </a:rPr>
              <a:t>配置+一键生成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892040" y="3328416"/>
            <a:ext cx="10972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维护方式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989320" y="3328416"/>
            <a:ext cx="12801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半自动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269480" y="3328416"/>
            <a:ext cx="14630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CAF50"/>
                </a:solidFill>
              </a:rPr>
              <a:t>全自动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892040" y="3538728"/>
            <a:ext cx="10972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SubAgent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989320" y="3538728"/>
            <a:ext cx="12801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战斗 Dev/Debug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7269480" y="3538728"/>
            <a:ext cx="14630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CAF50"/>
                </a:solidFill>
              </a:rPr>
              <a:t>每模块可复用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7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Thanks!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Questions?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姚圳 | 元梦之星开发一组 | 游戏客户端开发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Combat Agent System</dc:title>
  <dc:subject>PptxGenJS Presentation</dc:subject>
  <dc:creator>Yao Zhen</dc:creator>
  <cp:lastModifiedBy>Yao Zhen</cp:lastModifiedBy>
  <cp:revision>1</cp:revision>
  <dcterms:created xsi:type="dcterms:W3CDTF">2026-01-21T14:32:36Z</dcterms:created>
  <dcterms:modified xsi:type="dcterms:W3CDTF">2026-01-21T14:32:36Z</dcterms:modified>
</cp:coreProperties>
</file>