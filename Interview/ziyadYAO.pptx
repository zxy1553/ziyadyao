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73" r:id="rId3"/>
    <p:sldId id="267" r:id="rId4"/>
    <p:sldId id="274" r:id="rId5"/>
    <p:sldId id="270" r:id="rId6"/>
    <p:sldId id="272" r:id="rId7"/>
    <p:sldId id="257" r:id="rId8"/>
    <p:sldId id="271" r:id="rId9"/>
    <p:sldId id="266" r:id="rId10"/>
  </p:sldIdLst>
  <p:sldSz cx="12192000" cy="6858000"/>
  <p:notesSz cx="7559675" cy="106918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722"/>
    <a:srgbClr val="003791"/>
    <a:srgbClr val="0052D9"/>
    <a:srgbClr val="041540"/>
    <a:srgbClr val="B9B9B9"/>
    <a:srgbClr val="3475E1"/>
    <a:srgbClr val="E8F0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E3FDE45-AF77-4B5C-9715-49D594BDF05E}" styleName="浅色样式 1 - 强调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869" autoAdjust="0"/>
  </p:normalViewPr>
  <p:slideViewPr>
    <p:cSldViewPr snapToGrid="0">
      <p:cViewPr varScale="1">
        <p:scale>
          <a:sx n="149" d="100"/>
          <a:sy n="149" d="100"/>
        </p:scale>
        <p:origin x="784" y="1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F9FD53-03E8-4445-B368-0A97DA4533DD}" type="datetimeFigureOut">
              <a:rPr lang="zh-CN" altLang="en-US" smtClean="0"/>
              <a:t>2026/1/20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F695C0-1C39-426F-8C63-41AC7BBFAA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40818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Getallavatar</a:t>
            </a:r>
            <a:r>
              <a:rPr lang="en-US" altLang="zh-CN" dirty="0"/>
              <a:t> </a:t>
            </a:r>
          </a:p>
          <a:p>
            <a:r>
              <a:rPr lang="en-US" altLang="zh-CN" dirty="0" err="1"/>
              <a:t>Getallaliveavatar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F695C0-1C39-426F-8C63-41AC7BBFAA7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95058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391210-A0D6-F0CB-2644-E07CFE05E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F50256-A18C-4692-8EA4-EE459F6EA2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15E35A3-4A0F-6DA6-2A60-59721C4017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Getallavatar</a:t>
            </a:r>
            <a:r>
              <a:rPr lang="en-US" altLang="zh-CN" dirty="0"/>
              <a:t> </a:t>
            </a:r>
          </a:p>
          <a:p>
            <a:r>
              <a:rPr lang="en-US" altLang="zh-CN" dirty="0" err="1"/>
              <a:t>Getallaliveavatar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FD5DE57-49A2-BC6E-28CA-C21970A2AC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F695C0-1C39-426F-8C63-41AC7BBFAA7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75509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18" Type="http://schemas.openxmlformats.org/officeDocument/2006/relationships/image" Target="../media/image27.png"/><Relationship Id="rId3" Type="http://schemas.openxmlformats.org/officeDocument/2006/relationships/image" Target="../media/image12.png"/><Relationship Id="rId21" Type="http://schemas.openxmlformats.org/officeDocument/2006/relationships/image" Target="../media/image30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17" Type="http://schemas.openxmlformats.org/officeDocument/2006/relationships/image" Target="../media/image26.png"/><Relationship Id="rId2" Type="http://schemas.openxmlformats.org/officeDocument/2006/relationships/image" Target="../media/image11.png"/><Relationship Id="rId16" Type="http://schemas.openxmlformats.org/officeDocument/2006/relationships/image" Target="../media/image25.png"/><Relationship Id="rId20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5" Type="http://schemas.openxmlformats.org/officeDocument/2006/relationships/image" Target="../media/image24.png"/><Relationship Id="rId23" Type="http://schemas.openxmlformats.org/officeDocument/2006/relationships/image" Target="../media/image32.png"/><Relationship Id="rId10" Type="http://schemas.openxmlformats.org/officeDocument/2006/relationships/image" Target="../media/image19.png"/><Relationship Id="rId19" Type="http://schemas.openxmlformats.org/officeDocument/2006/relationships/image" Target="../media/image28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Relationship Id="rId14" Type="http://schemas.openxmlformats.org/officeDocument/2006/relationships/image" Target="../media/image23.png"/><Relationship Id="rId22" Type="http://schemas.openxmlformats.org/officeDocument/2006/relationships/image" Target="../media/image3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43.png"/><Relationship Id="rId18" Type="http://schemas.openxmlformats.org/officeDocument/2006/relationships/image" Target="../media/image48.png"/><Relationship Id="rId3" Type="http://schemas.openxmlformats.org/officeDocument/2006/relationships/image" Target="../media/image33.png"/><Relationship Id="rId21" Type="http://schemas.openxmlformats.org/officeDocument/2006/relationships/image" Target="../media/image51.png"/><Relationship Id="rId7" Type="http://schemas.openxmlformats.org/officeDocument/2006/relationships/image" Target="../media/image37.png"/><Relationship Id="rId12" Type="http://schemas.openxmlformats.org/officeDocument/2006/relationships/image" Target="../media/image42.png"/><Relationship Id="rId17" Type="http://schemas.openxmlformats.org/officeDocument/2006/relationships/image" Target="../media/image47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46.png"/><Relationship Id="rId20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11" Type="http://schemas.openxmlformats.org/officeDocument/2006/relationships/image" Target="../media/image41.png"/><Relationship Id="rId5" Type="http://schemas.openxmlformats.org/officeDocument/2006/relationships/image" Target="../media/image35.png"/><Relationship Id="rId15" Type="http://schemas.openxmlformats.org/officeDocument/2006/relationships/image" Target="../media/image45.png"/><Relationship Id="rId23" Type="http://schemas.openxmlformats.org/officeDocument/2006/relationships/image" Target="../media/image53.svg"/><Relationship Id="rId10" Type="http://schemas.openxmlformats.org/officeDocument/2006/relationships/image" Target="../media/image40.png"/><Relationship Id="rId19" Type="http://schemas.openxmlformats.org/officeDocument/2006/relationships/image" Target="../media/image49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Relationship Id="rId14" Type="http://schemas.openxmlformats.org/officeDocument/2006/relationships/image" Target="../media/image44.png"/><Relationship Id="rId22" Type="http://schemas.openxmlformats.org/officeDocument/2006/relationships/image" Target="../media/image5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43.png"/><Relationship Id="rId18" Type="http://schemas.openxmlformats.org/officeDocument/2006/relationships/image" Target="../media/image48.png"/><Relationship Id="rId3" Type="http://schemas.openxmlformats.org/officeDocument/2006/relationships/image" Target="../media/image33.png"/><Relationship Id="rId21" Type="http://schemas.openxmlformats.org/officeDocument/2006/relationships/image" Target="../media/image51.png"/><Relationship Id="rId7" Type="http://schemas.openxmlformats.org/officeDocument/2006/relationships/image" Target="../media/image37.png"/><Relationship Id="rId12" Type="http://schemas.openxmlformats.org/officeDocument/2006/relationships/image" Target="../media/image42.png"/><Relationship Id="rId17" Type="http://schemas.openxmlformats.org/officeDocument/2006/relationships/image" Target="../media/image47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46.png"/><Relationship Id="rId20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11" Type="http://schemas.openxmlformats.org/officeDocument/2006/relationships/image" Target="../media/image41.png"/><Relationship Id="rId24" Type="http://schemas.openxmlformats.org/officeDocument/2006/relationships/image" Target="../media/image54.png"/><Relationship Id="rId5" Type="http://schemas.openxmlformats.org/officeDocument/2006/relationships/image" Target="../media/image35.png"/><Relationship Id="rId15" Type="http://schemas.openxmlformats.org/officeDocument/2006/relationships/image" Target="../media/image45.png"/><Relationship Id="rId23" Type="http://schemas.openxmlformats.org/officeDocument/2006/relationships/image" Target="../media/image53.svg"/><Relationship Id="rId10" Type="http://schemas.openxmlformats.org/officeDocument/2006/relationships/image" Target="../media/image40.png"/><Relationship Id="rId19" Type="http://schemas.openxmlformats.org/officeDocument/2006/relationships/image" Target="../media/image49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Relationship Id="rId14" Type="http://schemas.openxmlformats.org/officeDocument/2006/relationships/image" Target="../media/image44.png"/><Relationship Id="rId22" Type="http://schemas.openxmlformats.org/officeDocument/2006/relationships/image" Target="../media/image5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13" Type="http://schemas.openxmlformats.org/officeDocument/2006/relationships/image" Target="../media/image66.pn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12" Type="http://schemas.openxmlformats.org/officeDocument/2006/relationships/image" Target="../media/image65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11" Type="http://schemas.openxmlformats.org/officeDocument/2006/relationships/image" Target="../media/image64.png"/><Relationship Id="rId5" Type="http://schemas.openxmlformats.org/officeDocument/2006/relationships/image" Target="../media/image58.png"/><Relationship Id="rId10" Type="http://schemas.openxmlformats.org/officeDocument/2006/relationships/image" Target="../media/image63.png"/><Relationship Id="rId4" Type="http://schemas.openxmlformats.org/officeDocument/2006/relationships/image" Target="../media/image57.png"/><Relationship Id="rId9" Type="http://schemas.openxmlformats.org/officeDocument/2006/relationships/image" Target="../media/image62.png"/><Relationship Id="rId14" Type="http://schemas.openxmlformats.org/officeDocument/2006/relationships/image" Target="../media/image6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13" Type="http://schemas.openxmlformats.org/officeDocument/2006/relationships/image" Target="../media/image79.png"/><Relationship Id="rId18" Type="http://schemas.openxmlformats.org/officeDocument/2006/relationships/image" Target="../media/image84.png"/><Relationship Id="rId26" Type="http://schemas.openxmlformats.org/officeDocument/2006/relationships/image" Target="../media/image92.png"/><Relationship Id="rId3" Type="http://schemas.openxmlformats.org/officeDocument/2006/relationships/image" Target="../media/image69.png"/><Relationship Id="rId21" Type="http://schemas.openxmlformats.org/officeDocument/2006/relationships/image" Target="../media/image87.png"/><Relationship Id="rId7" Type="http://schemas.openxmlformats.org/officeDocument/2006/relationships/image" Target="../media/image73.png"/><Relationship Id="rId12" Type="http://schemas.openxmlformats.org/officeDocument/2006/relationships/image" Target="../media/image78.png"/><Relationship Id="rId17" Type="http://schemas.openxmlformats.org/officeDocument/2006/relationships/image" Target="../media/image83.png"/><Relationship Id="rId25" Type="http://schemas.openxmlformats.org/officeDocument/2006/relationships/image" Target="../media/image91.png"/><Relationship Id="rId2" Type="http://schemas.openxmlformats.org/officeDocument/2006/relationships/image" Target="../media/image68.png"/><Relationship Id="rId16" Type="http://schemas.openxmlformats.org/officeDocument/2006/relationships/image" Target="../media/image82.png"/><Relationship Id="rId20" Type="http://schemas.openxmlformats.org/officeDocument/2006/relationships/image" Target="../media/image8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2.png"/><Relationship Id="rId11" Type="http://schemas.openxmlformats.org/officeDocument/2006/relationships/image" Target="../media/image77.png"/><Relationship Id="rId24" Type="http://schemas.openxmlformats.org/officeDocument/2006/relationships/image" Target="../media/image90.png"/><Relationship Id="rId5" Type="http://schemas.openxmlformats.org/officeDocument/2006/relationships/image" Target="../media/image71.png"/><Relationship Id="rId15" Type="http://schemas.openxmlformats.org/officeDocument/2006/relationships/image" Target="../media/image81.png"/><Relationship Id="rId23" Type="http://schemas.openxmlformats.org/officeDocument/2006/relationships/image" Target="../media/image89.png"/><Relationship Id="rId10" Type="http://schemas.openxmlformats.org/officeDocument/2006/relationships/image" Target="../media/image76.png"/><Relationship Id="rId19" Type="http://schemas.openxmlformats.org/officeDocument/2006/relationships/image" Target="../media/image85.png"/><Relationship Id="rId4" Type="http://schemas.openxmlformats.org/officeDocument/2006/relationships/image" Target="../media/image70.png"/><Relationship Id="rId9" Type="http://schemas.openxmlformats.org/officeDocument/2006/relationships/image" Target="../media/image75.png"/><Relationship Id="rId14" Type="http://schemas.openxmlformats.org/officeDocument/2006/relationships/image" Target="../media/image80.png"/><Relationship Id="rId22" Type="http://schemas.openxmlformats.org/officeDocument/2006/relationships/image" Target="../media/image88.png"/><Relationship Id="rId27" Type="http://schemas.openxmlformats.org/officeDocument/2006/relationships/image" Target="../media/image9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13" Type="http://schemas.openxmlformats.org/officeDocument/2006/relationships/image" Target="../media/image105.png"/><Relationship Id="rId18" Type="http://schemas.openxmlformats.org/officeDocument/2006/relationships/image" Target="../media/image110.png"/><Relationship Id="rId3" Type="http://schemas.openxmlformats.org/officeDocument/2006/relationships/image" Target="../media/image95.png"/><Relationship Id="rId7" Type="http://schemas.openxmlformats.org/officeDocument/2006/relationships/image" Target="../media/image99.png"/><Relationship Id="rId12" Type="http://schemas.openxmlformats.org/officeDocument/2006/relationships/image" Target="../media/image104.png"/><Relationship Id="rId17" Type="http://schemas.openxmlformats.org/officeDocument/2006/relationships/image" Target="../media/image109.png"/><Relationship Id="rId2" Type="http://schemas.openxmlformats.org/officeDocument/2006/relationships/image" Target="../media/image94.png"/><Relationship Id="rId16" Type="http://schemas.openxmlformats.org/officeDocument/2006/relationships/image" Target="../media/image10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8.png"/><Relationship Id="rId11" Type="http://schemas.openxmlformats.org/officeDocument/2006/relationships/image" Target="../media/image103.png"/><Relationship Id="rId5" Type="http://schemas.openxmlformats.org/officeDocument/2006/relationships/image" Target="../media/image97.png"/><Relationship Id="rId15" Type="http://schemas.openxmlformats.org/officeDocument/2006/relationships/image" Target="../media/image107.png"/><Relationship Id="rId10" Type="http://schemas.openxmlformats.org/officeDocument/2006/relationships/image" Target="../media/image102.png"/><Relationship Id="rId19" Type="http://schemas.openxmlformats.org/officeDocument/2006/relationships/image" Target="../media/image111.png"/><Relationship Id="rId4" Type="http://schemas.openxmlformats.org/officeDocument/2006/relationships/image" Target="../media/image96.png"/><Relationship Id="rId9" Type="http://schemas.openxmlformats.org/officeDocument/2006/relationships/image" Target="../media/image101.png"/><Relationship Id="rId14" Type="http://schemas.openxmlformats.org/officeDocument/2006/relationships/image" Target="../media/image10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png"/><Relationship Id="rId13" Type="http://schemas.openxmlformats.org/officeDocument/2006/relationships/image" Target="../media/image123.png"/><Relationship Id="rId3" Type="http://schemas.openxmlformats.org/officeDocument/2006/relationships/image" Target="../media/image113.png"/><Relationship Id="rId7" Type="http://schemas.openxmlformats.org/officeDocument/2006/relationships/image" Target="../media/image117.png"/><Relationship Id="rId12" Type="http://schemas.openxmlformats.org/officeDocument/2006/relationships/image" Target="../media/image122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6.png"/><Relationship Id="rId11" Type="http://schemas.openxmlformats.org/officeDocument/2006/relationships/image" Target="../media/image121.png"/><Relationship Id="rId5" Type="http://schemas.openxmlformats.org/officeDocument/2006/relationships/image" Target="../media/image115.png"/><Relationship Id="rId10" Type="http://schemas.openxmlformats.org/officeDocument/2006/relationships/image" Target="../media/image120.png"/><Relationship Id="rId4" Type="http://schemas.openxmlformats.org/officeDocument/2006/relationships/image" Target="../media/image114.png"/><Relationship Id="rId9" Type="http://schemas.openxmlformats.org/officeDocument/2006/relationships/image" Target="../media/image11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png"/><Relationship Id="rId3" Type="http://schemas.openxmlformats.org/officeDocument/2006/relationships/image" Target="../media/image125.png"/><Relationship Id="rId7" Type="http://schemas.openxmlformats.org/officeDocument/2006/relationships/image" Target="../media/image129.png"/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8.png"/><Relationship Id="rId5" Type="http://schemas.openxmlformats.org/officeDocument/2006/relationships/image" Target="../media/image127.png"/><Relationship Id="rId4" Type="http://schemas.openxmlformats.org/officeDocument/2006/relationships/image" Target="../media/image126.png"/><Relationship Id="rId9" Type="http://schemas.openxmlformats.org/officeDocument/2006/relationships/image" Target="../media/image1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: 形状 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" name="图片 4"/>
          <p:cNvPicPr/>
          <p:nvPr/>
        </p:nvPicPr>
        <p:blipFill>
          <a:blip r:embed="rId2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" name="任意多边形: 形状 5"/>
          <p:cNvSpPr/>
          <p:nvPr/>
        </p:nvSpPr>
        <p:spPr>
          <a:xfrm>
            <a:off x="0" y="0"/>
            <a:ext cx="5124600" cy="6858000"/>
          </a:xfrm>
          <a:custGeom>
            <a:avLst/>
            <a:gdLst/>
            <a:ahLst/>
            <a:cxnLst/>
            <a:rect l="0" t="0" r="r" b="b"/>
            <a:pathLst>
              <a:path w="14235" h="19050">
                <a:moveTo>
                  <a:pt x="0" y="0"/>
                </a:moveTo>
                <a:lnTo>
                  <a:pt x="14235" y="0"/>
                </a:lnTo>
                <a:lnTo>
                  <a:pt x="14235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52D9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7" name="图片 6"/>
          <p:cNvPicPr/>
          <p:nvPr/>
        </p:nvPicPr>
        <p:blipFill>
          <a:blip r:embed="rId3"/>
          <a:stretch/>
        </p:blipFill>
        <p:spPr>
          <a:xfrm>
            <a:off x="0" y="0"/>
            <a:ext cx="512424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" name="图片 7"/>
          <p:cNvPicPr/>
          <p:nvPr/>
        </p:nvPicPr>
        <p:blipFill>
          <a:blip r:embed="rId4"/>
          <a:stretch/>
        </p:blipFill>
        <p:spPr>
          <a:xfrm>
            <a:off x="0" y="0"/>
            <a:ext cx="512424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" name="图片 8"/>
          <p:cNvPicPr/>
          <p:nvPr/>
        </p:nvPicPr>
        <p:blipFill>
          <a:blip r:embed="rId5"/>
          <a:stretch/>
        </p:blipFill>
        <p:spPr>
          <a:xfrm>
            <a:off x="-762120" y="-762120"/>
            <a:ext cx="3809520" cy="3809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" name="图片 9"/>
          <p:cNvPicPr/>
          <p:nvPr/>
        </p:nvPicPr>
        <p:blipFill>
          <a:blip r:embed="rId6"/>
          <a:stretch/>
        </p:blipFill>
        <p:spPr>
          <a:xfrm>
            <a:off x="2266920" y="4000320"/>
            <a:ext cx="2857320" cy="2856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" name="任意多边形: 形状 10"/>
          <p:cNvSpPr/>
          <p:nvPr/>
        </p:nvSpPr>
        <p:spPr>
          <a:xfrm>
            <a:off x="5124240" y="0"/>
            <a:ext cx="7067880" cy="6858000"/>
          </a:xfrm>
          <a:custGeom>
            <a:avLst/>
            <a:gdLst/>
            <a:ahLst/>
            <a:cxnLst/>
            <a:rect l="0" t="0" r="r" b="b"/>
            <a:pathLst>
              <a:path w="19633" h="19050">
                <a:moveTo>
                  <a:pt x="0" y="0"/>
                </a:moveTo>
                <a:lnTo>
                  <a:pt x="19633" y="0"/>
                </a:lnTo>
                <a:lnTo>
                  <a:pt x="19633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0F2F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2" name="图片 11"/>
          <p:cNvPicPr/>
          <p:nvPr/>
        </p:nvPicPr>
        <p:blipFill>
          <a:blip r:embed="rId7"/>
          <a:stretch/>
        </p:blipFill>
        <p:spPr>
          <a:xfrm>
            <a:off x="5124600" y="0"/>
            <a:ext cx="70671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" name="图片 12"/>
          <p:cNvPicPr/>
          <p:nvPr/>
        </p:nvPicPr>
        <p:blipFill>
          <a:blip r:embed="rId8"/>
          <a:stretch/>
        </p:blipFill>
        <p:spPr>
          <a:xfrm>
            <a:off x="10972800" y="0"/>
            <a:ext cx="1218960" cy="1218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" name="文本框 13"/>
          <p:cNvSpPr txBox="1"/>
          <p:nvPr/>
        </p:nvSpPr>
        <p:spPr>
          <a:xfrm>
            <a:off x="457200" y="2532240"/>
            <a:ext cx="1800000" cy="828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4500" b="0" u="none" strike="noStrike">
                <a:solidFill>
                  <a:srgbClr val="FFFFFF"/>
                </a:solidFill>
                <a:effectLst/>
                <a:uFillTx/>
                <a:latin typeface="NotoSansSC"/>
                <a:ea typeface="NotoSansSC"/>
              </a:rPr>
              <a:t>实习生</a:t>
            </a:r>
            <a:endParaRPr lang="en-US" sz="4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任意多边形: 形状 14"/>
          <p:cNvSpPr/>
          <p:nvPr/>
        </p:nvSpPr>
        <p:spPr>
          <a:xfrm>
            <a:off x="456840" y="4190760"/>
            <a:ext cx="762480" cy="57600"/>
          </a:xfrm>
          <a:custGeom>
            <a:avLst/>
            <a:gdLst/>
            <a:ahLst/>
            <a:cxnLst/>
            <a:rect l="0" t="0" r="r" b="b"/>
            <a:pathLst>
              <a:path w="2118" h="160">
                <a:moveTo>
                  <a:pt x="0" y="0"/>
                </a:moveTo>
                <a:lnTo>
                  <a:pt x="2118" y="0"/>
                </a:lnTo>
                <a:lnTo>
                  <a:pt x="2118" y="160"/>
                </a:lnTo>
                <a:lnTo>
                  <a:pt x="0" y="160"/>
                </a:lnTo>
                <a:lnTo>
                  <a:pt x="0" y="0"/>
                </a:lnTo>
                <a:close/>
              </a:path>
            </a:pathLst>
          </a:custGeom>
          <a:solidFill>
            <a:srgbClr val="ED7B2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457200" y="3246840"/>
            <a:ext cx="2400120" cy="828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4500" b="0" u="none" strike="noStrike" dirty="0">
                <a:solidFill>
                  <a:srgbClr val="FFFFFF"/>
                </a:solidFill>
                <a:effectLst/>
                <a:uFillTx/>
                <a:latin typeface="NotoSansSC"/>
                <a:ea typeface="NotoSansSC"/>
              </a:rPr>
              <a:t>转正答辩</a:t>
            </a:r>
            <a:endParaRPr lang="en-US" sz="45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任意多边形: 形状 18"/>
          <p:cNvSpPr/>
          <p:nvPr/>
        </p:nvSpPr>
        <p:spPr>
          <a:xfrm>
            <a:off x="456840" y="481932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8"/>
                </a:cubicBezTo>
                <a:cubicBezTo>
                  <a:pt x="200" y="161"/>
                  <a:pt x="192" y="172"/>
                  <a:pt x="182" y="182"/>
                </a:cubicBezTo>
                <a:cubicBezTo>
                  <a:pt x="172" y="192"/>
                  <a:pt x="161" y="200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2" y="172"/>
                  <a:pt x="14" y="161"/>
                  <a:pt x="9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80"/>
                  <a:pt x="9" y="67"/>
                </a:cubicBezTo>
                <a:cubicBezTo>
                  <a:pt x="14" y="54"/>
                  <a:pt x="22" y="42"/>
                  <a:pt x="31" y="32"/>
                </a:cubicBezTo>
                <a:cubicBezTo>
                  <a:pt x="41" y="22"/>
                  <a:pt x="53" y="15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5"/>
                  <a:pt x="172" y="22"/>
                  <a:pt x="182" y="32"/>
                </a:cubicBezTo>
                <a:cubicBezTo>
                  <a:pt x="192" y="42"/>
                  <a:pt x="200" y="54"/>
                  <a:pt x="205" y="67"/>
                </a:cubicBezTo>
                <a:cubicBezTo>
                  <a:pt x="210" y="80"/>
                  <a:pt x="213" y="93"/>
                  <a:pt x="213" y="107"/>
                </a:cubicBezTo>
                <a:close/>
              </a:path>
            </a:pathLst>
          </a:custGeom>
          <a:solidFill>
            <a:srgbClr val="ED7B2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838080" y="1914840"/>
            <a:ext cx="2325958" cy="32316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dirty="0">
                <a:solidFill>
                  <a:srgbClr val="FFFFFF"/>
                </a:solidFill>
                <a:latin typeface="NotoSansSC"/>
              </a:rPr>
              <a:t>TENCENT </a:t>
            </a:r>
            <a:r>
              <a:rPr lang="en-US" altLang="zh-CN" sz="1050" dirty="0">
                <a:solidFill>
                  <a:srgbClr val="FFFFFF"/>
                </a:solidFill>
                <a:latin typeface="NotoSansSC"/>
              </a:rPr>
              <a:t>Interactive Entertainment Group</a:t>
            </a:r>
          </a:p>
          <a:p>
            <a:r>
              <a:rPr lang="en-US" altLang="zh-CN" sz="1000" dirty="0">
                <a:solidFill>
                  <a:srgbClr val="FFFFFF"/>
                </a:solidFill>
                <a:latin typeface="NotoSansSC"/>
              </a:rPr>
              <a:t>Internship Oral Defense</a:t>
            </a:r>
            <a:endParaRPr lang="en-US" sz="1000" dirty="0">
              <a:solidFill>
                <a:srgbClr val="FFFFFF"/>
              </a:solidFill>
              <a:latin typeface="NotoSansSC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47640" y="4708800"/>
            <a:ext cx="19202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800" b="0" u="none" strike="noStrike">
                <a:solidFill>
                  <a:srgbClr val="FFFFFF"/>
                </a:solidFill>
                <a:effectLst/>
                <a:uFillTx/>
                <a:latin typeface="NotoSansSC"/>
                <a:ea typeface="NotoSansSC"/>
              </a:rPr>
              <a:t>元梦之星开发一组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5730120" y="3207600"/>
            <a:ext cx="54000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350" b="0" u="none" strike="noStrike">
                <a:solidFill>
                  <a:srgbClr val="0052D9"/>
                </a:solidFill>
                <a:effectLst/>
                <a:uFillTx/>
                <a:latin typeface="NotoSansSC"/>
                <a:ea typeface="NotoSansSC"/>
              </a:rPr>
              <a:t>汇报人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5730120" y="3426120"/>
            <a:ext cx="960120" cy="661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3600" b="0" u="none" strike="noStrike">
                <a:solidFill>
                  <a:srgbClr val="1F2937"/>
                </a:solidFill>
                <a:effectLst/>
                <a:uFillTx/>
                <a:latin typeface="NotoSansSC"/>
                <a:ea typeface="NotoSansSC"/>
              </a:rPr>
              <a:t>姚圳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6263640" y="4326120"/>
            <a:ext cx="479880" cy="16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00" b="0" u="none" strike="noStrike">
                <a:solidFill>
                  <a:srgbClr val="6B7280"/>
                </a:solidFill>
                <a:effectLst/>
                <a:uFillTx/>
                <a:latin typeface="NotoSansSC"/>
                <a:ea typeface="NotoSansSC"/>
              </a:rPr>
              <a:t>毕业院校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6263640" y="4501800"/>
            <a:ext cx="2900520" cy="27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500" b="0" u="none" strike="noStrike">
                <a:solidFill>
                  <a:srgbClr val="1F2937"/>
                </a:solidFill>
                <a:effectLst/>
                <a:uFillTx/>
                <a:latin typeface="NotoSansSC"/>
                <a:ea typeface="NotoSansSC"/>
              </a:rPr>
              <a:t>华东师范大学 </a:t>
            </a:r>
            <a:r>
              <a:rPr lang="en-US" sz="1500" b="0" u="none" strike="noStrike">
                <a:solidFill>
                  <a:srgbClr val="ED7B2F"/>
                </a:solidFill>
                <a:effectLst/>
                <a:uFillTx/>
                <a:latin typeface="NotoSansSC"/>
                <a:ea typeface="NotoSansSC"/>
              </a:rPr>
              <a:t> ×</a:t>
            </a:r>
            <a:r>
              <a:rPr lang="en-US" sz="1500" b="0" u="none" strike="noStrike">
                <a:solidFill>
                  <a:srgbClr val="1F2937"/>
                </a:solidFill>
                <a:effectLst/>
                <a:uFillTx/>
                <a:latin typeface="NotoSansSC"/>
                <a:ea typeface="NotoSansSC"/>
              </a:rPr>
              <a:t>  </a:t>
            </a:r>
            <a:r>
              <a:rPr lang="zh-CN" sz="1500" b="0" u="none" strike="noStrike">
                <a:solidFill>
                  <a:srgbClr val="1F2937"/>
                </a:solidFill>
                <a:effectLst/>
                <a:uFillTx/>
                <a:latin typeface="NotoSansSC"/>
                <a:ea typeface="NotoSansSC"/>
              </a:rPr>
              <a:t>蔚蓝海岸大学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6263640" y="4992840"/>
            <a:ext cx="479880" cy="16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00" b="0" u="none" strike="noStrike">
                <a:solidFill>
                  <a:srgbClr val="6B7280"/>
                </a:solidFill>
                <a:effectLst/>
                <a:uFillTx/>
                <a:latin typeface="NotoSansSC"/>
                <a:ea typeface="NotoSansSC"/>
              </a:rPr>
              <a:t>专业学科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6263640" y="5168520"/>
            <a:ext cx="220032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500" b="0" u="none" strike="noStrike">
                <a:solidFill>
                  <a:srgbClr val="1F2937"/>
                </a:solidFill>
                <a:effectLst/>
                <a:uFillTx/>
                <a:latin typeface="NotoSansSC"/>
                <a:ea typeface="NotoSansSC"/>
              </a:rPr>
              <a:t>软件工程与计算机信息学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263640" y="5659560"/>
            <a:ext cx="479880" cy="16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00" b="0" u="none" strike="noStrike">
                <a:solidFill>
                  <a:srgbClr val="6B7280"/>
                </a:solidFill>
                <a:effectLst/>
                <a:uFillTx/>
                <a:latin typeface="NotoSansSC"/>
                <a:ea typeface="NotoSansSC"/>
              </a:rPr>
              <a:t>指导老师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6263640" y="5835240"/>
            <a:ext cx="59976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500" b="0" u="none" strike="noStrike">
                <a:solidFill>
                  <a:srgbClr val="1F2937"/>
                </a:solidFill>
                <a:effectLst/>
                <a:uFillTx/>
                <a:latin typeface="NotoSansSC"/>
                <a:ea typeface="NotoSansSC"/>
              </a:rPr>
              <a:t>蒋甫政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7825680" y="5659560"/>
            <a:ext cx="479880" cy="16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00" b="0" u="none" strike="noStrike">
                <a:solidFill>
                  <a:srgbClr val="6B7280"/>
                </a:solidFill>
                <a:effectLst/>
                <a:uFillTx/>
                <a:latin typeface="NotoSansSC"/>
                <a:ea typeface="NotoSansSC"/>
              </a:rPr>
              <a:t>入职时间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6" name="图片 35"/>
          <p:cNvPicPr/>
          <p:nvPr/>
        </p:nvPicPr>
        <p:blipFill>
          <a:blip r:embed="rId9"/>
          <a:stretch/>
        </p:blipFill>
        <p:spPr>
          <a:xfrm>
            <a:off x="5734080" y="4324320"/>
            <a:ext cx="380520" cy="38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" name="任意多边形: 形状 36"/>
          <p:cNvSpPr/>
          <p:nvPr/>
        </p:nvSpPr>
        <p:spPr>
          <a:xfrm>
            <a:off x="5852880" y="4443120"/>
            <a:ext cx="143280" cy="143280"/>
          </a:xfrm>
          <a:custGeom>
            <a:avLst/>
            <a:gdLst/>
            <a:ahLst/>
            <a:cxnLst/>
            <a:rect l="0" t="0" r="r" b="b"/>
            <a:pathLst>
              <a:path w="398" h="398" fill="none">
                <a:moveTo>
                  <a:pt x="354" y="398"/>
                </a:moveTo>
                <a:lnTo>
                  <a:pt x="354" y="44"/>
                </a:lnTo>
                <a:cubicBezTo>
                  <a:pt x="354" y="39"/>
                  <a:pt x="353" y="33"/>
                  <a:pt x="351" y="28"/>
                </a:cubicBezTo>
                <a:cubicBezTo>
                  <a:pt x="348" y="22"/>
                  <a:pt x="345" y="17"/>
                  <a:pt x="341" y="13"/>
                </a:cubicBezTo>
                <a:cubicBezTo>
                  <a:pt x="337" y="9"/>
                  <a:pt x="332" y="6"/>
                  <a:pt x="327" y="4"/>
                </a:cubicBezTo>
                <a:cubicBezTo>
                  <a:pt x="321" y="1"/>
                  <a:pt x="316" y="0"/>
                  <a:pt x="310" y="0"/>
                </a:cubicBezTo>
                <a:lnTo>
                  <a:pt x="88" y="0"/>
                </a:lnTo>
                <a:cubicBezTo>
                  <a:pt x="82" y="0"/>
                  <a:pt x="77" y="1"/>
                  <a:pt x="71" y="4"/>
                </a:cubicBezTo>
                <a:cubicBezTo>
                  <a:pt x="66" y="6"/>
                  <a:pt x="61" y="9"/>
                  <a:pt x="57" y="13"/>
                </a:cubicBezTo>
                <a:cubicBezTo>
                  <a:pt x="53" y="17"/>
                  <a:pt x="50" y="22"/>
                  <a:pt x="48" y="28"/>
                </a:cubicBezTo>
                <a:cubicBezTo>
                  <a:pt x="45" y="33"/>
                  <a:pt x="44" y="39"/>
                  <a:pt x="44" y="44"/>
                </a:cubicBezTo>
                <a:lnTo>
                  <a:pt x="44" y="398"/>
                </a:lnTo>
                <a:moveTo>
                  <a:pt x="354" y="398"/>
                </a:moveTo>
                <a:lnTo>
                  <a:pt x="398" y="398"/>
                </a:lnTo>
                <a:moveTo>
                  <a:pt x="354" y="398"/>
                </a:moveTo>
                <a:lnTo>
                  <a:pt x="244" y="398"/>
                </a:lnTo>
                <a:moveTo>
                  <a:pt x="44" y="398"/>
                </a:moveTo>
                <a:lnTo>
                  <a:pt x="0" y="398"/>
                </a:lnTo>
                <a:moveTo>
                  <a:pt x="44" y="398"/>
                </a:moveTo>
                <a:lnTo>
                  <a:pt x="154" y="398"/>
                </a:lnTo>
                <a:moveTo>
                  <a:pt x="132" y="89"/>
                </a:moveTo>
                <a:lnTo>
                  <a:pt x="154" y="89"/>
                </a:lnTo>
                <a:moveTo>
                  <a:pt x="132" y="178"/>
                </a:moveTo>
                <a:lnTo>
                  <a:pt x="154" y="178"/>
                </a:lnTo>
                <a:moveTo>
                  <a:pt x="244" y="89"/>
                </a:moveTo>
                <a:lnTo>
                  <a:pt x="266" y="89"/>
                </a:lnTo>
                <a:moveTo>
                  <a:pt x="244" y="178"/>
                </a:moveTo>
                <a:lnTo>
                  <a:pt x="266" y="178"/>
                </a:lnTo>
                <a:moveTo>
                  <a:pt x="154" y="398"/>
                </a:moveTo>
                <a:lnTo>
                  <a:pt x="154" y="288"/>
                </a:lnTo>
                <a:cubicBezTo>
                  <a:pt x="154" y="282"/>
                  <a:pt x="157" y="277"/>
                  <a:pt x="161" y="272"/>
                </a:cubicBezTo>
                <a:cubicBezTo>
                  <a:pt x="165" y="268"/>
                  <a:pt x="170" y="266"/>
                  <a:pt x="178" y="266"/>
                </a:cubicBezTo>
                <a:lnTo>
                  <a:pt x="222" y="266"/>
                </a:lnTo>
                <a:cubicBezTo>
                  <a:pt x="228" y="266"/>
                  <a:pt x="233" y="268"/>
                  <a:pt x="237" y="272"/>
                </a:cubicBezTo>
                <a:cubicBezTo>
                  <a:pt x="242" y="277"/>
                  <a:pt x="244" y="282"/>
                  <a:pt x="244" y="288"/>
                </a:cubicBezTo>
                <a:lnTo>
                  <a:pt x="244" y="398"/>
                </a:lnTo>
                <a:moveTo>
                  <a:pt x="154" y="398"/>
                </a:moveTo>
                <a:lnTo>
                  <a:pt x="244" y="398"/>
                </a:lnTo>
              </a:path>
            </a:pathLst>
          </a:custGeom>
          <a:ln w="15840" cap="rnd">
            <a:solidFill>
              <a:srgbClr val="0052D9"/>
            </a:solidFill>
            <a:round/>
          </a:ln>
        </p:spPr>
        <p:txBody>
          <a:bodyPr lIns="7920" tIns="7920" rIns="7920" bIns="792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8" name="图片 37"/>
          <p:cNvPicPr/>
          <p:nvPr/>
        </p:nvPicPr>
        <p:blipFill>
          <a:blip r:embed="rId9"/>
          <a:stretch/>
        </p:blipFill>
        <p:spPr>
          <a:xfrm>
            <a:off x="5734080" y="4991040"/>
            <a:ext cx="380520" cy="38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" name="任意多边形: 形状 38"/>
          <p:cNvSpPr/>
          <p:nvPr/>
        </p:nvSpPr>
        <p:spPr>
          <a:xfrm>
            <a:off x="5852880" y="5125680"/>
            <a:ext cx="143280" cy="113760"/>
          </a:xfrm>
          <a:custGeom>
            <a:avLst/>
            <a:gdLst/>
            <a:ahLst/>
            <a:cxnLst/>
            <a:rect l="0" t="0" r="r" b="b"/>
            <a:pathLst>
              <a:path w="398" h="316" fill="none">
                <a:moveTo>
                  <a:pt x="200" y="28"/>
                </a:moveTo>
                <a:lnTo>
                  <a:pt x="200" y="316"/>
                </a:lnTo>
                <a:moveTo>
                  <a:pt x="200" y="28"/>
                </a:moveTo>
                <a:cubicBezTo>
                  <a:pt x="173" y="11"/>
                  <a:pt x="138" y="0"/>
                  <a:pt x="99" y="0"/>
                </a:cubicBezTo>
                <a:cubicBezTo>
                  <a:pt x="61" y="0"/>
                  <a:pt x="26" y="11"/>
                  <a:pt x="0" y="28"/>
                </a:cubicBezTo>
                <a:lnTo>
                  <a:pt x="0" y="316"/>
                </a:lnTo>
                <a:cubicBezTo>
                  <a:pt x="26" y="299"/>
                  <a:pt x="61" y="288"/>
                  <a:pt x="99" y="288"/>
                </a:cubicBezTo>
                <a:cubicBezTo>
                  <a:pt x="138" y="288"/>
                  <a:pt x="173" y="299"/>
                  <a:pt x="200" y="316"/>
                </a:cubicBezTo>
                <a:moveTo>
                  <a:pt x="200" y="28"/>
                </a:moveTo>
                <a:cubicBezTo>
                  <a:pt x="225" y="11"/>
                  <a:pt x="260" y="0"/>
                  <a:pt x="299" y="0"/>
                </a:cubicBezTo>
                <a:cubicBezTo>
                  <a:pt x="337" y="0"/>
                  <a:pt x="372" y="11"/>
                  <a:pt x="398" y="28"/>
                </a:cubicBezTo>
                <a:lnTo>
                  <a:pt x="398" y="316"/>
                </a:lnTo>
                <a:cubicBezTo>
                  <a:pt x="372" y="299"/>
                  <a:pt x="337" y="288"/>
                  <a:pt x="299" y="288"/>
                </a:cubicBezTo>
                <a:cubicBezTo>
                  <a:pt x="260" y="288"/>
                  <a:pt x="225" y="299"/>
                  <a:pt x="200" y="316"/>
                </a:cubicBezTo>
              </a:path>
            </a:pathLst>
          </a:custGeom>
          <a:ln w="15840" cap="rnd">
            <a:solidFill>
              <a:srgbClr val="0052D9"/>
            </a:solidFill>
            <a:round/>
          </a:ln>
        </p:spPr>
        <p:txBody>
          <a:bodyPr lIns="7920" tIns="7920" rIns="7920" bIns="792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0" name="图片 39"/>
          <p:cNvPicPr/>
          <p:nvPr/>
        </p:nvPicPr>
        <p:blipFill>
          <a:blip r:embed="rId9"/>
          <a:stretch/>
        </p:blipFill>
        <p:spPr>
          <a:xfrm>
            <a:off x="5734080" y="5657760"/>
            <a:ext cx="380520" cy="38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" name="任意多边形: 形状 40"/>
          <p:cNvSpPr/>
          <p:nvPr/>
        </p:nvSpPr>
        <p:spPr>
          <a:xfrm>
            <a:off x="5852880" y="5768640"/>
            <a:ext cx="143280" cy="143280"/>
          </a:xfrm>
          <a:custGeom>
            <a:avLst/>
            <a:gdLst/>
            <a:ahLst/>
            <a:cxnLst/>
            <a:rect l="0" t="0" r="r" b="b"/>
            <a:pathLst>
              <a:path w="398" h="398" fill="none">
                <a:moveTo>
                  <a:pt x="398" y="250"/>
                </a:moveTo>
                <a:cubicBezTo>
                  <a:pt x="334" y="275"/>
                  <a:pt x="268" y="288"/>
                  <a:pt x="200" y="288"/>
                </a:cubicBezTo>
                <a:cubicBezTo>
                  <a:pt x="128" y="288"/>
                  <a:pt x="61" y="274"/>
                  <a:pt x="0" y="250"/>
                </a:cubicBezTo>
                <a:moveTo>
                  <a:pt x="288" y="90"/>
                </a:moveTo>
                <a:lnTo>
                  <a:pt x="288" y="46"/>
                </a:lnTo>
                <a:cubicBezTo>
                  <a:pt x="288" y="40"/>
                  <a:pt x="287" y="34"/>
                  <a:pt x="284" y="29"/>
                </a:cubicBezTo>
                <a:cubicBezTo>
                  <a:pt x="282" y="23"/>
                  <a:pt x="279" y="18"/>
                  <a:pt x="275" y="13"/>
                </a:cubicBezTo>
                <a:cubicBezTo>
                  <a:pt x="271" y="9"/>
                  <a:pt x="266" y="6"/>
                  <a:pt x="261" y="4"/>
                </a:cubicBezTo>
                <a:cubicBezTo>
                  <a:pt x="255" y="2"/>
                  <a:pt x="250" y="0"/>
                  <a:pt x="244" y="0"/>
                </a:cubicBezTo>
                <a:lnTo>
                  <a:pt x="154" y="0"/>
                </a:lnTo>
                <a:cubicBezTo>
                  <a:pt x="149" y="0"/>
                  <a:pt x="143" y="2"/>
                  <a:pt x="138" y="4"/>
                </a:cubicBezTo>
                <a:cubicBezTo>
                  <a:pt x="132" y="6"/>
                  <a:pt x="127" y="9"/>
                  <a:pt x="123" y="13"/>
                </a:cubicBezTo>
                <a:cubicBezTo>
                  <a:pt x="119" y="18"/>
                  <a:pt x="116" y="23"/>
                  <a:pt x="114" y="29"/>
                </a:cubicBezTo>
                <a:cubicBezTo>
                  <a:pt x="112" y="34"/>
                  <a:pt x="110" y="40"/>
                  <a:pt x="110" y="46"/>
                </a:cubicBezTo>
                <a:lnTo>
                  <a:pt x="110" y="90"/>
                </a:lnTo>
                <a:moveTo>
                  <a:pt x="200" y="222"/>
                </a:moveTo>
                <a:moveTo>
                  <a:pt x="44" y="398"/>
                </a:moveTo>
                <a:lnTo>
                  <a:pt x="354" y="398"/>
                </a:lnTo>
                <a:cubicBezTo>
                  <a:pt x="360" y="398"/>
                  <a:pt x="365" y="397"/>
                  <a:pt x="371" y="395"/>
                </a:cubicBezTo>
                <a:cubicBezTo>
                  <a:pt x="376" y="393"/>
                  <a:pt x="381" y="390"/>
                  <a:pt x="385" y="385"/>
                </a:cubicBezTo>
                <a:cubicBezTo>
                  <a:pt x="389" y="381"/>
                  <a:pt x="392" y="376"/>
                  <a:pt x="395" y="371"/>
                </a:cubicBezTo>
                <a:cubicBezTo>
                  <a:pt x="397" y="366"/>
                  <a:pt x="398" y="360"/>
                  <a:pt x="398" y="354"/>
                </a:cubicBezTo>
                <a:lnTo>
                  <a:pt x="398" y="134"/>
                </a:lnTo>
                <a:cubicBezTo>
                  <a:pt x="398" y="128"/>
                  <a:pt x="397" y="122"/>
                  <a:pt x="395" y="117"/>
                </a:cubicBezTo>
                <a:cubicBezTo>
                  <a:pt x="392" y="111"/>
                  <a:pt x="389" y="107"/>
                  <a:pt x="385" y="103"/>
                </a:cubicBezTo>
                <a:cubicBezTo>
                  <a:pt x="381" y="98"/>
                  <a:pt x="376" y="95"/>
                  <a:pt x="371" y="93"/>
                </a:cubicBezTo>
                <a:cubicBezTo>
                  <a:pt x="365" y="91"/>
                  <a:pt x="360" y="90"/>
                  <a:pt x="354" y="90"/>
                </a:cubicBezTo>
                <a:lnTo>
                  <a:pt x="44" y="90"/>
                </a:lnTo>
                <a:cubicBezTo>
                  <a:pt x="38" y="90"/>
                  <a:pt x="33" y="91"/>
                  <a:pt x="27" y="93"/>
                </a:cubicBezTo>
                <a:cubicBezTo>
                  <a:pt x="22" y="95"/>
                  <a:pt x="17" y="98"/>
                  <a:pt x="13" y="103"/>
                </a:cubicBezTo>
                <a:cubicBezTo>
                  <a:pt x="9" y="107"/>
                  <a:pt x="6" y="111"/>
                  <a:pt x="4" y="117"/>
                </a:cubicBezTo>
                <a:cubicBezTo>
                  <a:pt x="1" y="122"/>
                  <a:pt x="0" y="128"/>
                  <a:pt x="0" y="134"/>
                </a:cubicBezTo>
                <a:lnTo>
                  <a:pt x="0" y="354"/>
                </a:lnTo>
                <a:cubicBezTo>
                  <a:pt x="0" y="360"/>
                  <a:pt x="1" y="366"/>
                  <a:pt x="4" y="371"/>
                </a:cubicBezTo>
                <a:cubicBezTo>
                  <a:pt x="6" y="376"/>
                  <a:pt x="9" y="381"/>
                  <a:pt x="13" y="385"/>
                </a:cubicBezTo>
                <a:cubicBezTo>
                  <a:pt x="17" y="390"/>
                  <a:pt x="22" y="393"/>
                  <a:pt x="27" y="395"/>
                </a:cubicBezTo>
                <a:cubicBezTo>
                  <a:pt x="33" y="397"/>
                  <a:pt x="38" y="398"/>
                  <a:pt x="44" y="398"/>
                </a:cubicBezTo>
              </a:path>
            </a:pathLst>
          </a:custGeom>
          <a:ln w="15840" cap="rnd">
            <a:solidFill>
              <a:srgbClr val="0052D9"/>
            </a:solidFill>
            <a:round/>
          </a:ln>
        </p:spPr>
        <p:txBody>
          <a:bodyPr lIns="7920" tIns="7920" rIns="7920" bIns="792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2" name="图片 41"/>
          <p:cNvPicPr/>
          <p:nvPr/>
        </p:nvPicPr>
        <p:blipFill>
          <a:blip r:embed="rId10"/>
          <a:stretch/>
        </p:blipFill>
        <p:spPr>
          <a:xfrm>
            <a:off x="7296120" y="5657760"/>
            <a:ext cx="380520" cy="38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" name="任意多边形: 形状 42"/>
          <p:cNvSpPr/>
          <p:nvPr/>
        </p:nvSpPr>
        <p:spPr>
          <a:xfrm>
            <a:off x="7414920" y="5776560"/>
            <a:ext cx="143280" cy="143280"/>
          </a:xfrm>
          <a:custGeom>
            <a:avLst/>
            <a:gdLst/>
            <a:ahLst/>
            <a:cxnLst/>
            <a:rect l="0" t="0" r="r" b="b"/>
            <a:pathLst>
              <a:path w="398" h="398" fill="none">
                <a:moveTo>
                  <a:pt x="111" y="89"/>
                </a:moveTo>
                <a:lnTo>
                  <a:pt x="111" y="0"/>
                </a:lnTo>
                <a:moveTo>
                  <a:pt x="288" y="89"/>
                </a:moveTo>
                <a:lnTo>
                  <a:pt x="288" y="0"/>
                </a:lnTo>
                <a:moveTo>
                  <a:pt x="89" y="177"/>
                </a:moveTo>
                <a:lnTo>
                  <a:pt x="310" y="177"/>
                </a:lnTo>
                <a:moveTo>
                  <a:pt x="44" y="398"/>
                </a:moveTo>
                <a:lnTo>
                  <a:pt x="354" y="398"/>
                </a:lnTo>
                <a:cubicBezTo>
                  <a:pt x="360" y="398"/>
                  <a:pt x="366" y="397"/>
                  <a:pt x="371" y="395"/>
                </a:cubicBezTo>
                <a:cubicBezTo>
                  <a:pt x="376" y="393"/>
                  <a:pt x="381" y="390"/>
                  <a:pt x="385" y="384"/>
                </a:cubicBezTo>
                <a:cubicBezTo>
                  <a:pt x="389" y="380"/>
                  <a:pt x="393" y="376"/>
                  <a:pt x="395" y="370"/>
                </a:cubicBezTo>
                <a:cubicBezTo>
                  <a:pt x="397" y="365"/>
                  <a:pt x="398" y="359"/>
                  <a:pt x="398" y="353"/>
                </a:cubicBezTo>
                <a:lnTo>
                  <a:pt x="398" y="89"/>
                </a:lnTo>
                <a:cubicBezTo>
                  <a:pt x="398" y="83"/>
                  <a:pt x="397" y="77"/>
                  <a:pt x="395" y="72"/>
                </a:cubicBezTo>
                <a:cubicBezTo>
                  <a:pt x="393" y="66"/>
                  <a:pt x="389" y="62"/>
                  <a:pt x="385" y="57"/>
                </a:cubicBezTo>
                <a:cubicBezTo>
                  <a:pt x="381" y="53"/>
                  <a:pt x="376" y="50"/>
                  <a:pt x="371" y="48"/>
                </a:cubicBezTo>
                <a:cubicBezTo>
                  <a:pt x="366" y="46"/>
                  <a:pt x="360" y="45"/>
                  <a:pt x="354" y="45"/>
                </a:cubicBezTo>
                <a:lnTo>
                  <a:pt x="44" y="45"/>
                </a:lnTo>
                <a:cubicBezTo>
                  <a:pt x="39" y="45"/>
                  <a:pt x="33" y="46"/>
                  <a:pt x="28" y="48"/>
                </a:cubicBezTo>
                <a:cubicBezTo>
                  <a:pt x="22" y="50"/>
                  <a:pt x="17" y="53"/>
                  <a:pt x="13" y="57"/>
                </a:cubicBezTo>
                <a:cubicBezTo>
                  <a:pt x="9" y="62"/>
                  <a:pt x="6" y="66"/>
                  <a:pt x="4" y="72"/>
                </a:cubicBezTo>
                <a:cubicBezTo>
                  <a:pt x="1" y="77"/>
                  <a:pt x="0" y="83"/>
                  <a:pt x="0" y="89"/>
                </a:cubicBezTo>
                <a:lnTo>
                  <a:pt x="0" y="353"/>
                </a:lnTo>
                <a:cubicBezTo>
                  <a:pt x="0" y="359"/>
                  <a:pt x="1" y="365"/>
                  <a:pt x="4" y="370"/>
                </a:cubicBezTo>
                <a:cubicBezTo>
                  <a:pt x="6" y="376"/>
                  <a:pt x="9" y="380"/>
                  <a:pt x="13" y="384"/>
                </a:cubicBezTo>
                <a:cubicBezTo>
                  <a:pt x="17" y="390"/>
                  <a:pt x="22" y="393"/>
                  <a:pt x="28" y="395"/>
                </a:cubicBezTo>
                <a:cubicBezTo>
                  <a:pt x="33" y="397"/>
                  <a:pt x="39" y="398"/>
                  <a:pt x="44" y="398"/>
                </a:cubicBezTo>
              </a:path>
            </a:pathLst>
          </a:custGeom>
          <a:ln w="15840" cap="rnd">
            <a:solidFill>
              <a:srgbClr val="0052D9"/>
            </a:solidFill>
            <a:round/>
          </a:ln>
        </p:spPr>
        <p:txBody>
          <a:bodyPr lIns="7920" tIns="7920" rIns="7920" bIns="792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7825680" y="5835240"/>
            <a:ext cx="625171" cy="23083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2025.09</a:t>
            </a:r>
          </a:p>
        </p:txBody>
      </p:sp>
      <p:pic>
        <p:nvPicPr>
          <p:cNvPr id="30" name="图片 29">
            <a:extLst>
              <a:ext uri="{FF2B5EF4-FFF2-40B4-BE49-F238E27FC236}">
                <a16:creationId xmlns:a16="http://schemas.microsoft.com/office/drawing/2014/main" id="{758B29BA-B43E-A5B2-B4C5-FB5E02E75940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5405" y="0"/>
            <a:ext cx="2766595" cy="128433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: 形状 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" name="图片 4"/>
          <p:cNvPicPr/>
          <p:nvPr/>
        </p:nvPicPr>
        <p:blipFill>
          <a:blip r:embed="rId2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" name="图片 5"/>
          <p:cNvPicPr/>
          <p:nvPr/>
        </p:nvPicPr>
        <p:blipFill>
          <a:blip r:embed="rId3"/>
          <a:stretch/>
        </p:blipFill>
        <p:spPr>
          <a:xfrm>
            <a:off x="9753480" y="0"/>
            <a:ext cx="2437920" cy="2437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" name="图片 6"/>
          <p:cNvPicPr/>
          <p:nvPr/>
        </p:nvPicPr>
        <p:blipFill>
          <a:blip r:embed="rId4"/>
          <a:stretch/>
        </p:blipFill>
        <p:spPr>
          <a:xfrm>
            <a:off x="0" y="3200400"/>
            <a:ext cx="3657240" cy="3657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" name="图片 7"/>
          <p:cNvPicPr/>
          <p:nvPr/>
        </p:nvPicPr>
        <p:blipFill>
          <a:blip r:embed="rId5"/>
          <a:stretch/>
        </p:blipFill>
        <p:spPr>
          <a:xfrm>
            <a:off x="380880" y="762120"/>
            <a:ext cx="761760" cy="761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" name="图片 8"/>
          <p:cNvPicPr/>
          <p:nvPr/>
        </p:nvPicPr>
        <p:blipFill>
          <a:blip r:embed="rId6"/>
          <a:stretch/>
        </p:blipFill>
        <p:spPr>
          <a:xfrm>
            <a:off x="4562640" y="6229440"/>
            <a:ext cx="3066840" cy="39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" name="文本框 9"/>
          <p:cNvSpPr txBox="1"/>
          <p:nvPr/>
        </p:nvSpPr>
        <p:spPr>
          <a:xfrm>
            <a:off x="4804200" y="6322320"/>
            <a:ext cx="673261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0052D9"/>
                </a:solidFill>
                <a:effectLst/>
                <a:uFillTx/>
                <a:latin typeface="NotoSansSC"/>
                <a:ea typeface="NotoSansCJKsc"/>
              </a:rPr>
              <a:t>模块化设计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SansSC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623560" y="6339240"/>
            <a:ext cx="76944" cy="18466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NotoSansSC"/>
                <a:ea typeface="Arial"/>
              </a:rPr>
              <a:t>•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SansSC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829120" y="6322320"/>
            <a:ext cx="538609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0052D9"/>
                </a:solidFill>
                <a:effectLst/>
                <a:uFillTx/>
                <a:latin typeface="NotoSansSC"/>
                <a:ea typeface="NotoSansCJKsc"/>
              </a:rPr>
              <a:t>职责分离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SansSC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514920" y="6339240"/>
            <a:ext cx="76944" cy="18466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NotoSansSC"/>
                <a:ea typeface="Arial"/>
              </a:rPr>
              <a:t>•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SansSC"/>
            </a:endParaRPr>
          </a:p>
        </p:txBody>
      </p:sp>
      <p:sp>
        <p:nvSpPr>
          <p:cNvPr id="14" name="任意多边形: 形状 13"/>
          <p:cNvSpPr/>
          <p:nvPr/>
        </p:nvSpPr>
        <p:spPr>
          <a:xfrm>
            <a:off x="456840" y="399960"/>
            <a:ext cx="76680" cy="304920"/>
          </a:xfrm>
          <a:custGeom>
            <a:avLst/>
            <a:gdLst/>
            <a:ahLst/>
            <a:cxnLst/>
            <a:rect l="0" t="0" r="r" b="b"/>
            <a:pathLst>
              <a:path w="213" h="847">
                <a:moveTo>
                  <a:pt x="0" y="742"/>
                </a:moveTo>
                <a:lnTo>
                  <a:pt x="0" y="106"/>
                </a:lnTo>
                <a:cubicBezTo>
                  <a:pt x="0" y="92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7" y="0"/>
                </a:cubicBezTo>
                <a:cubicBezTo>
                  <a:pt x="121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lnTo>
                  <a:pt x="213" y="742"/>
                </a:lnTo>
                <a:cubicBezTo>
                  <a:pt x="213" y="756"/>
                  <a:pt x="210" y="769"/>
                  <a:pt x="205" y="782"/>
                </a:cubicBezTo>
                <a:cubicBezTo>
                  <a:pt x="200" y="795"/>
                  <a:pt x="192" y="806"/>
                  <a:pt x="182" y="816"/>
                </a:cubicBezTo>
                <a:cubicBezTo>
                  <a:pt x="172" y="826"/>
                  <a:pt x="161" y="834"/>
                  <a:pt x="148" y="839"/>
                </a:cubicBezTo>
                <a:cubicBezTo>
                  <a:pt x="135" y="845"/>
                  <a:pt x="121" y="847"/>
                  <a:pt x="107" y="847"/>
                </a:cubicBezTo>
                <a:cubicBezTo>
                  <a:pt x="92" y="847"/>
                  <a:pt x="79" y="845"/>
                  <a:pt x="66" y="839"/>
                </a:cubicBezTo>
                <a:cubicBezTo>
                  <a:pt x="53" y="834"/>
                  <a:pt x="41" y="826"/>
                  <a:pt x="31" y="816"/>
                </a:cubicBezTo>
                <a:cubicBezTo>
                  <a:pt x="22" y="806"/>
                  <a:pt x="14" y="795"/>
                  <a:pt x="9" y="782"/>
                </a:cubicBezTo>
                <a:cubicBezTo>
                  <a:pt x="3" y="769"/>
                  <a:pt x="0" y="756"/>
                  <a:pt x="0" y="742"/>
                </a:cubicBezTo>
                <a:close/>
              </a:path>
            </a:pathLst>
          </a:custGeom>
          <a:solidFill>
            <a:srgbClr val="0052D9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SansSC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720840" y="6322320"/>
            <a:ext cx="673261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0052D9"/>
                </a:solidFill>
                <a:effectLst/>
                <a:uFillTx/>
                <a:latin typeface="NotoSansSC"/>
                <a:ea typeface="NotoSansCJKsc"/>
              </a:rPr>
              <a:t>可扩展架构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SansSC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2664360" y="389160"/>
            <a:ext cx="65724" cy="34624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250" b="1" u="none" strike="noStrike" dirty="0">
                <a:solidFill>
                  <a:srgbClr val="0F172A"/>
                </a:solidFill>
                <a:effectLst/>
                <a:uFillTx/>
                <a:latin typeface="NotoSansSC"/>
                <a:ea typeface="Arial"/>
              </a:rPr>
              <a:t> </a:t>
            </a:r>
            <a:endParaRPr lang="en-US" sz="2250" b="0" u="none" strike="noStrike" dirty="0">
              <a:solidFill>
                <a:srgbClr val="000000"/>
              </a:solidFill>
              <a:effectLst/>
              <a:uFillTx/>
              <a:latin typeface="NotoSansSC"/>
            </a:endParaRPr>
          </a:p>
        </p:txBody>
      </p:sp>
      <p:pic>
        <p:nvPicPr>
          <p:cNvPr id="20" name="图片 19"/>
          <p:cNvPicPr/>
          <p:nvPr/>
        </p:nvPicPr>
        <p:blipFill>
          <a:blip r:embed="rId7"/>
          <a:stretch/>
        </p:blipFill>
        <p:spPr>
          <a:xfrm>
            <a:off x="4400640" y="876240"/>
            <a:ext cx="3390480" cy="818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" name="任意多边形: 形状 20"/>
          <p:cNvSpPr/>
          <p:nvPr/>
        </p:nvSpPr>
        <p:spPr>
          <a:xfrm>
            <a:off x="4714560" y="1000080"/>
            <a:ext cx="381600" cy="381240"/>
          </a:xfrm>
          <a:custGeom>
            <a:avLst/>
            <a:gdLst/>
            <a:ahLst/>
            <a:cxnLst/>
            <a:rect l="0" t="0" r="r" b="b"/>
            <a:pathLst>
              <a:path w="1060" h="1059">
                <a:moveTo>
                  <a:pt x="1060" y="529"/>
                </a:moveTo>
                <a:cubicBezTo>
                  <a:pt x="1060" y="564"/>
                  <a:pt x="1056" y="598"/>
                  <a:pt x="1050" y="632"/>
                </a:cubicBezTo>
                <a:cubicBezTo>
                  <a:pt x="1043" y="666"/>
                  <a:pt x="1033" y="699"/>
                  <a:pt x="1019" y="731"/>
                </a:cubicBezTo>
                <a:cubicBezTo>
                  <a:pt x="1006" y="763"/>
                  <a:pt x="990" y="794"/>
                  <a:pt x="971" y="823"/>
                </a:cubicBezTo>
                <a:cubicBezTo>
                  <a:pt x="951" y="852"/>
                  <a:pt x="929" y="878"/>
                  <a:pt x="905" y="903"/>
                </a:cubicBezTo>
                <a:cubicBezTo>
                  <a:pt x="880" y="929"/>
                  <a:pt x="853" y="950"/>
                  <a:pt x="825" y="970"/>
                </a:cubicBezTo>
                <a:cubicBezTo>
                  <a:pt x="796" y="989"/>
                  <a:pt x="765" y="1005"/>
                  <a:pt x="733" y="1019"/>
                </a:cubicBezTo>
                <a:cubicBezTo>
                  <a:pt x="701" y="1032"/>
                  <a:pt x="668" y="1042"/>
                  <a:pt x="634" y="1049"/>
                </a:cubicBezTo>
                <a:cubicBezTo>
                  <a:pt x="600" y="1056"/>
                  <a:pt x="565" y="1059"/>
                  <a:pt x="531" y="1059"/>
                </a:cubicBezTo>
                <a:cubicBezTo>
                  <a:pt x="496" y="1059"/>
                  <a:pt x="461" y="1056"/>
                  <a:pt x="427" y="1049"/>
                </a:cubicBezTo>
                <a:cubicBezTo>
                  <a:pt x="393" y="1042"/>
                  <a:pt x="360" y="1032"/>
                  <a:pt x="328" y="1019"/>
                </a:cubicBezTo>
                <a:cubicBezTo>
                  <a:pt x="296" y="1005"/>
                  <a:pt x="265" y="989"/>
                  <a:pt x="237" y="970"/>
                </a:cubicBezTo>
                <a:cubicBezTo>
                  <a:pt x="208" y="950"/>
                  <a:pt x="181" y="929"/>
                  <a:pt x="156" y="903"/>
                </a:cubicBezTo>
                <a:cubicBezTo>
                  <a:pt x="132" y="878"/>
                  <a:pt x="109" y="852"/>
                  <a:pt x="90" y="823"/>
                </a:cubicBezTo>
                <a:cubicBezTo>
                  <a:pt x="70" y="794"/>
                  <a:pt x="54" y="763"/>
                  <a:pt x="41" y="731"/>
                </a:cubicBezTo>
                <a:cubicBezTo>
                  <a:pt x="27" y="699"/>
                  <a:pt x="17" y="666"/>
                  <a:pt x="11" y="632"/>
                </a:cubicBezTo>
                <a:cubicBezTo>
                  <a:pt x="4" y="598"/>
                  <a:pt x="0" y="564"/>
                  <a:pt x="0" y="529"/>
                </a:cubicBezTo>
                <a:cubicBezTo>
                  <a:pt x="0" y="494"/>
                  <a:pt x="4" y="460"/>
                  <a:pt x="11" y="426"/>
                </a:cubicBezTo>
                <a:cubicBezTo>
                  <a:pt x="17" y="391"/>
                  <a:pt x="27" y="358"/>
                  <a:pt x="41" y="326"/>
                </a:cubicBezTo>
                <a:cubicBezTo>
                  <a:pt x="54" y="294"/>
                  <a:pt x="70" y="264"/>
                  <a:pt x="90" y="235"/>
                </a:cubicBezTo>
                <a:cubicBezTo>
                  <a:pt x="109" y="206"/>
                  <a:pt x="132" y="179"/>
                  <a:pt x="156" y="155"/>
                </a:cubicBezTo>
                <a:cubicBezTo>
                  <a:pt x="181" y="130"/>
                  <a:pt x="208" y="108"/>
                  <a:pt x="237" y="89"/>
                </a:cubicBezTo>
                <a:cubicBezTo>
                  <a:pt x="265" y="70"/>
                  <a:pt x="296" y="53"/>
                  <a:pt x="328" y="40"/>
                </a:cubicBezTo>
                <a:cubicBezTo>
                  <a:pt x="360" y="27"/>
                  <a:pt x="393" y="17"/>
                  <a:pt x="427" y="10"/>
                </a:cubicBezTo>
                <a:cubicBezTo>
                  <a:pt x="461" y="3"/>
                  <a:pt x="496" y="0"/>
                  <a:pt x="531" y="0"/>
                </a:cubicBezTo>
                <a:cubicBezTo>
                  <a:pt x="565" y="0"/>
                  <a:pt x="600" y="3"/>
                  <a:pt x="634" y="10"/>
                </a:cubicBezTo>
                <a:cubicBezTo>
                  <a:pt x="668" y="17"/>
                  <a:pt x="701" y="27"/>
                  <a:pt x="733" y="40"/>
                </a:cubicBezTo>
                <a:cubicBezTo>
                  <a:pt x="765" y="53"/>
                  <a:pt x="796" y="70"/>
                  <a:pt x="825" y="89"/>
                </a:cubicBezTo>
                <a:cubicBezTo>
                  <a:pt x="853" y="108"/>
                  <a:pt x="880" y="130"/>
                  <a:pt x="905" y="155"/>
                </a:cubicBezTo>
                <a:cubicBezTo>
                  <a:pt x="929" y="179"/>
                  <a:pt x="951" y="206"/>
                  <a:pt x="971" y="235"/>
                </a:cubicBezTo>
                <a:cubicBezTo>
                  <a:pt x="990" y="264"/>
                  <a:pt x="1006" y="294"/>
                  <a:pt x="1019" y="326"/>
                </a:cubicBezTo>
                <a:cubicBezTo>
                  <a:pt x="1033" y="358"/>
                  <a:pt x="1043" y="391"/>
                  <a:pt x="1050" y="426"/>
                </a:cubicBezTo>
                <a:cubicBezTo>
                  <a:pt x="1056" y="460"/>
                  <a:pt x="1060" y="494"/>
                  <a:pt x="1060" y="529"/>
                </a:cubicBezTo>
                <a:close/>
              </a:path>
            </a:pathLst>
          </a:custGeom>
          <a:solidFill>
            <a:srgbClr val="EFF6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SansSC"/>
            </a:endParaRPr>
          </a:p>
        </p:txBody>
      </p:sp>
      <p:sp>
        <p:nvSpPr>
          <p:cNvPr id="22" name="任意多边形: 形状 21"/>
          <p:cNvSpPr/>
          <p:nvPr/>
        </p:nvSpPr>
        <p:spPr>
          <a:xfrm>
            <a:off x="4849560" y="1118880"/>
            <a:ext cx="111600" cy="143280"/>
          </a:xfrm>
          <a:custGeom>
            <a:avLst/>
            <a:gdLst/>
            <a:ahLst/>
            <a:cxnLst/>
            <a:rect l="0" t="0" r="r" b="b"/>
            <a:pathLst>
              <a:path w="310" h="398" fill="none">
                <a:moveTo>
                  <a:pt x="244" y="89"/>
                </a:moveTo>
                <a:cubicBezTo>
                  <a:pt x="244" y="100"/>
                  <a:pt x="241" y="111"/>
                  <a:pt x="237" y="122"/>
                </a:cubicBezTo>
                <a:cubicBezTo>
                  <a:pt x="232" y="133"/>
                  <a:pt x="225" y="143"/>
                  <a:pt x="217" y="151"/>
                </a:cubicBezTo>
                <a:cubicBezTo>
                  <a:pt x="209" y="159"/>
                  <a:pt x="199" y="166"/>
                  <a:pt x="188" y="170"/>
                </a:cubicBezTo>
                <a:cubicBezTo>
                  <a:pt x="177" y="175"/>
                  <a:pt x="166" y="177"/>
                  <a:pt x="155" y="177"/>
                </a:cubicBezTo>
                <a:cubicBezTo>
                  <a:pt x="143" y="177"/>
                  <a:pt x="132" y="175"/>
                  <a:pt x="121" y="170"/>
                </a:cubicBezTo>
                <a:cubicBezTo>
                  <a:pt x="110" y="166"/>
                  <a:pt x="100" y="159"/>
                  <a:pt x="92" y="151"/>
                </a:cubicBezTo>
                <a:cubicBezTo>
                  <a:pt x="84" y="143"/>
                  <a:pt x="78" y="133"/>
                  <a:pt x="73" y="122"/>
                </a:cubicBezTo>
                <a:cubicBezTo>
                  <a:pt x="69" y="111"/>
                  <a:pt x="66" y="100"/>
                  <a:pt x="66" y="89"/>
                </a:cubicBezTo>
                <a:cubicBezTo>
                  <a:pt x="66" y="77"/>
                  <a:pt x="69" y="66"/>
                  <a:pt x="73" y="55"/>
                </a:cubicBezTo>
                <a:cubicBezTo>
                  <a:pt x="78" y="44"/>
                  <a:pt x="84" y="34"/>
                  <a:pt x="92" y="26"/>
                </a:cubicBezTo>
                <a:cubicBezTo>
                  <a:pt x="100" y="18"/>
                  <a:pt x="110" y="12"/>
                  <a:pt x="121" y="7"/>
                </a:cubicBezTo>
                <a:cubicBezTo>
                  <a:pt x="132" y="3"/>
                  <a:pt x="143" y="0"/>
                  <a:pt x="155" y="0"/>
                </a:cubicBezTo>
                <a:cubicBezTo>
                  <a:pt x="166" y="0"/>
                  <a:pt x="177" y="3"/>
                  <a:pt x="188" y="7"/>
                </a:cubicBezTo>
                <a:cubicBezTo>
                  <a:pt x="199" y="12"/>
                  <a:pt x="209" y="18"/>
                  <a:pt x="217" y="26"/>
                </a:cubicBezTo>
                <a:cubicBezTo>
                  <a:pt x="225" y="34"/>
                  <a:pt x="232" y="44"/>
                  <a:pt x="237" y="55"/>
                </a:cubicBezTo>
                <a:cubicBezTo>
                  <a:pt x="241" y="66"/>
                  <a:pt x="244" y="77"/>
                  <a:pt x="244" y="89"/>
                </a:cubicBezTo>
                <a:moveTo>
                  <a:pt x="155" y="243"/>
                </a:moveTo>
                <a:cubicBezTo>
                  <a:pt x="144" y="243"/>
                  <a:pt x="134" y="244"/>
                  <a:pt x="124" y="246"/>
                </a:cubicBezTo>
                <a:cubicBezTo>
                  <a:pt x="114" y="248"/>
                  <a:pt x="105" y="251"/>
                  <a:pt x="95" y="255"/>
                </a:cubicBezTo>
                <a:cubicBezTo>
                  <a:pt x="86" y="260"/>
                  <a:pt x="77" y="264"/>
                  <a:pt x="69" y="270"/>
                </a:cubicBezTo>
                <a:cubicBezTo>
                  <a:pt x="60" y="276"/>
                  <a:pt x="53" y="282"/>
                  <a:pt x="45" y="289"/>
                </a:cubicBezTo>
                <a:cubicBezTo>
                  <a:pt x="38" y="296"/>
                  <a:pt x="32" y="304"/>
                  <a:pt x="26" y="312"/>
                </a:cubicBezTo>
                <a:cubicBezTo>
                  <a:pt x="21" y="321"/>
                  <a:pt x="16" y="330"/>
                  <a:pt x="12" y="339"/>
                </a:cubicBezTo>
                <a:cubicBezTo>
                  <a:pt x="8" y="349"/>
                  <a:pt x="5" y="358"/>
                  <a:pt x="3" y="368"/>
                </a:cubicBezTo>
                <a:cubicBezTo>
                  <a:pt x="1" y="378"/>
                  <a:pt x="0" y="388"/>
                  <a:pt x="0" y="398"/>
                </a:cubicBezTo>
                <a:lnTo>
                  <a:pt x="310" y="398"/>
                </a:lnTo>
                <a:cubicBezTo>
                  <a:pt x="310" y="388"/>
                  <a:pt x="309" y="378"/>
                  <a:pt x="307" y="368"/>
                </a:cubicBezTo>
                <a:cubicBezTo>
                  <a:pt x="305" y="358"/>
                  <a:pt x="302" y="349"/>
                  <a:pt x="298" y="339"/>
                </a:cubicBezTo>
                <a:cubicBezTo>
                  <a:pt x="294" y="330"/>
                  <a:pt x="290" y="321"/>
                  <a:pt x="284" y="312"/>
                </a:cubicBezTo>
                <a:cubicBezTo>
                  <a:pt x="278" y="304"/>
                  <a:pt x="272" y="296"/>
                  <a:pt x="265" y="289"/>
                </a:cubicBezTo>
                <a:cubicBezTo>
                  <a:pt x="258" y="282"/>
                  <a:pt x="250" y="276"/>
                  <a:pt x="241" y="270"/>
                </a:cubicBezTo>
                <a:cubicBezTo>
                  <a:pt x="232" y="264"/>
                  <a:pt x="223" y="260"/>
                  <a:pt x="214" y="255"/>
                </a:cubicBezTo>
                <a:cubicBezTo>
                  <a:pt x="204" y="251"/>
                  <a:pt x="195" y="248"/>
                  <a:pt x="185" y="246"/>
                </a:cubicBezTo>
                <a:cubicBezTo>
                  <a:pt x="175" y="244"/>
                  <a:pt x="165" y="243"/>
                  <a:pt x="155" y="243"/>
                </a:cubicBezTo>
              </a:path>
            </a:pathLst>
          </a:custGeom>
          <a:ln w="15840" cap="rnd">
            <a:solidFill>
              <a:srgbClr val="0052D9"/>
            </a:solidFill>
            <a:round/>
          </a:ln>
        </p:spPr>
        <p:txBody>
          <a:bodyPr lIns="7920" tIns="7920" rIns="7920" bIns="792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SansSC"/>
            </a:endParaRPr>
          </a:p>
        </p:txBody>
      </p:sp>
      <p:sp>
        <p:nvSpPr>
          <p:cNvPr id="24" name="任意多边形: 形状 23"/>
          <p:cNvSpPr/>
          <p:nvPr/>
        </p:nvSpPr>
        <p:spPr>
          <a:xfrm>
            <a:off x="5352840" y="1247760"/>
            <a:ext cx="171720" cy="76320"/>
          </a:xfrm>
          <a:custGeom>
            <a:avLst/>
            <a:gdLst/>
            <a:ahLst/>
            <a:cxnLst/>
            <a:rect l="0" t="0" r="r" b="b"/>
            <a:pathLst>
              <a:path w="477" h="212" fill="none">
                <a:moveTo>
                  <a:pt x="371" y="0"/>
                </a:moveTo>
                <a:lnTo>
                  <a:pt x="477" y="106"/>
                </a:lnTo>
                <a:moveTo>
                  <a:pt x="477" y="106"/>
                </a:moveTo>
                <a:lnTo>
                  <a:pt x="371" y="212"/>
                </a:lnTo>
                <a:moveTo>
                  <a:pt x="477" y="106"/>
                </a:moveTo>
                <a:lnTo>
                  <a:pt x="0" y="106"/>
                </a:lnTo>
              </a:path>
            </a:pathLst>
          </a:custGeom>
          <a:ln w="18720" cap="rnd">
            <a:solidFill>
              <a:srgbClr val="93C5FD"/>
            </a:solidFill>
            <a:round/>
          </a:ln>
        </p:spPr>
        <p:txBody>
          <a:bodyPr lIns="9360" tIns="9360" rIns="9360" bIns="936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SansSC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4791240" y="1400760"/>
            <a:ext cx="230832" cy="1384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00" b="0" u="none" strike="noStrike">
                <a:solidFill>
                  <a:srgbClr val="475569"/>
                </a:solidFill>
                <a:effectLst/>
                <a:uFillTx/>
                <a:latin typeface="NotoSansSC"/>
                <a:ea typeface="NotoSansCJKsc"/>
              </a:rPr>
              <a:t>⽤⼾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NotoSansSC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5781600" y="1400760"/>
            <a:ext cx="115416" cy="1384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00" b="0" u="none" strike="noStrike">
                <a:solidFill>
                  <a:srgbClr val="0052D9"/>
                </a:solidFill>
                <a:effectLst/>
                <a:uFillTx/>
                <a:latin typeface="NotoSansSC"/>
                <a:ea typeface="NotoSansCJKsc"/>
              </a:rPr>
              <a:t>主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NotoSansSC"/>
            </a:endParaRPr>
          </a:p>
        </p:txBody>
      </p:sp>
      <p:sp>
        <p:nvSpPr>
          <p:cNvPr id="27" name="任意多边形: 形状 26"/>
          <p:cNvSpPr/>
          <p:nvPr/>
        </p:nvSpPr>
        <p:spPr>
          <a:xfrm>
            <a:off x="6476760" y="1247760"/>
            <a:ext cx="171720" cy="76320"/>
          </a:xfrm>
          <a:custGeom>
            <a:avLst/>
            <a:gdLst/>
            <a:ahLst/>
            <a:cxnLst/>
            <a:rect l="0" t="0" r="r" b="b"/>
            <a:pathLst>
              <a:path w="477" h="212" fill="none">
                <a:moveTo>
                  <a:pt x="372" y="0"/>
                </a:moveTo>
                <a:lnTo>
                  <a:pt x="477" y="106"/>
                </a:lnTo>
                <a:moveTo>
                  <a:pt x="477" y="106"/>
                </a:moveTo>
                <a:lnTo>
                  <a:pt x="372" y="212"/>
                </a:lnTo>
                <a:moveTo>
                  <a:pt x="477" y="106"/>
                </a:moveTo>
                <a:lnTo>
                  <a:pt x="0" y="106"/>
                </a:lnTo>
              </a:path>
            </a:pathLst>
          </a:custGeom>
          <a:ln w="18720" cap="rnd">
            <a:solidFill>
              <a:srgbClr val="93C5FD"/>
            </a:solidFill>
            <a:round/>
          </a:ln>
        </p:spPr>
        <p:txBody>
          <a:bodyPr lIns="9360" tIns="9360" rIns="9360" bIns="936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SansSC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5924520" y="1404720"/>
            <a:ext cx="285335" cy="1384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00" b="1" u="none" strike="noStrike" dirty="0">
                <a:solidFill>
                  <a:srgbClr val="0052D9"/>
                </a:solidFill>
                <a:effectLst/>
                <a:uFillTx/>
                <a:latin typeface="NotoSansSC"/>
                <a:ea typeface="Arial"/>
              </a:rPr>
              <a:t>Agent</a:t>
            </a:r>
            <a:endParaRPr lang="en-US" sz="900" b="0" u="none" strike="noStrike" dirty="0">
              <a:solidFill>
                <a:srgbClr val="000000"/>
              </a:solidFill>
              <a:effectLst/>
              <a:uFillTx/>
              <a:latin typeface="NotoSansSC"/>
            </a:endParaRPr>
          </a:p>
        </p:txBody>
      </p:sp>
      <p:sp>
        <p:nvSpPr>
          <p:cNvPr id="29" name="任意多边形: 形状 28"/>
          <p:cNvSpPr/>
          <p:nvPr/>
        </p:nvSpPr>
        <p:spPr>
          <a:xfrm>
            <a:off x="4248000" y="1133280"/>
            <a:ext cx="38520" cy="305280"/>
          </a:xfrm>
          <a:custGeom>
            <a:avLst/>
            <a:gdLst/>
            <a:ahLst/>
            <a:cxnLst/>
            <a:rect l="0" t="0" r="r" b="b"/>
            <a:pathLst>
              <a:path w="107" h="848">
                <a:moveTo>
                  <a:pt x="0" y="742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2" y="41"/>
                  <a:pt x="32" y="31"/>
                </a:cubicBezTo>
                <a:cubicBezTo>
                  <a:pt x="42" y="21"/>
                  <a:pt x="53" y="13"/>
                  <a:pt x="66" y="8"/>
                </a:cubicBezTo>
                <a:cubicBezTo>
                  <a:pt x="79" y="3"/>
                  <a:pt x="93" y="0"/>
                  <a:pt x="107" y="0"/>
                </a:cubicBezTo>
                <a:lnTo>
                  <a:pt x="107" y="848"/>
                </a:lnTo>
                <a:cubicBezTo>
                  <a:pt x="93" y="848"/>
                  <a:pt x="79" y="845"/>
                  <a:pt x="66" y="840"/>
                </a:cubicBezTo>
                <a:cubicBezTo>
                  <a:pt x="53" y="834"/>
                  <a:pt x="42" y="827"/>
                  <a:pt x="32" y="817"/>
                </a:cubicBezTo>
                <a:cubicBezTo>
                  <a:pt x="22" y="807"/>
                  <a:pt x="14" y="795"/>
                  <a:pt x="8" y="782"/>
                </a:cubicBezTo>
                <a:cubicBezTo>
                  <a:pt x="3" y="769"/>
                  <a:pt x="0" y="756"/>
                  <a:pt x="0" y="742"/>
                </a:cubicBezTo>
                <a:close/>
              </a:path>
            </a:pathLst>
          </a:custGeom>
          <a:solidFill>
            <a:srgbClr val="0052D9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SansSC"/>
            </a:endParaRPr>
          </a:p>
        </p:txBody>
      </p:sp>
      <p:sp>
        <p:nvSpPr>
          <p:cNvPr id="30" name="任意多边形: 形状 29"/>
          <p:cNvSpPr/>
          <p:nvPr/>
        </p:nvSpPr>
        <p:spPr>
          <a:xfrm>
            <a:off x="4552920" y="761760"/>
            <a:ext cx="876600" cy="152640"/>
          </a:xfrm>
          <a:custGeom>
            <a:avLst/>
            <a:gdLst/>
            <a:ahLst/>
            <a:cxnLst/>
            <a:rect l="0" t="0" r="r" b="b"/>
            <a:pathLst>
              <a:path w="2435" h="424">
                <a:moveTo>
                  <a:pt x="0" y="0"/>
                </a:moveTo>
                <a:lnTo>
                  <a:pt x="2435" y="0"/>
                </a:lnTo>
                <a:lnTo>
                  <a:pt x="2435" y="424"/>
                </a:lnTo>
                <a:lnTo>
                  <a:pt x="0" y="42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SansSC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6905520" y="1400760"/>
            <a:ext cx="577081" cy="1384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00" b="0" u="none" strike="noStrike">
                <a:solidFill>
                  <a:srgbClr val="475569"/>
                </a:solidFill>
                <a:effectLst/>
                <a:uFillTx/>
                <a:latin typeface="NotoSansSC"/>
                <a:ea typeface="NotoSansCJKsc"/>
              </a:rPr>
              <a:t>任务路由器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NotoSansSC"/>
            </a:endParaRPr>
          </a:p>
        </p:txBody>
      </p:sp>
      <p:pic>
        <p:nvPicPr>
          <p:cNvPr id="32" name="图片 31"/>
          <p:cNvPicPr/>
          <p:nvPr/>
        </p:nvPicPr>
        <p:blipFill>
          <a:blip r:embed="rId8"/>
          <a:stretch/>
        </p:blipFill>
        <p:spPr>
          <a:xfrm>
            <a:off x="5810400" y="1000080"/>
            <a:ext cx="380520" cy="38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" name="任意多边形: 形状 32"/>
          <p:cNvSpPr/>
          <p:nvPr/>
        </p:nvSpPr>
        <p:spPr>
          <a:xfrm>
            <a:off x="5929200" y="1118880"/>
            <a:ext cx="143280" cy="143280"/>
          </a:xfrm>
          <a:custGeom>
            <a:avLst/>
            <a:gdLst/>
            <a:ahLst/>
            <a:cxnLst/>
            <a:rect l="0" t="0" r="r" b="b"/>
            <a:pathLst>
              <a:path w="398" h="398" fill="none">
                <a:moveTo>
                  <a:pt x="149" y="310"/>
                </a:moveTo>
                <a:lnTo>
                  <a:pt x="132" y="376"/>
                </a:lnTo>
                <a:lnTo>
                  <a:pt x="110" y="398"/>
                </a:lnTo>
                <a:lnTo>
                  <a:pt x="286" y="398"/>
                </a:lnTo>
                <a:lnTo>
                  <a:pt x="264" y="376"/>
                </a:lnTo>
                <a:lnTo>
                  <a:pt x="248" y="310"/>
                </a:lnTo>
                <a:moveTo>
                  <a:pt x="0" y="221"/>
                </a:moveTo>
                <a:lnTo>
                  <a:pt x="398" y="221"/>
                </a:lnTo>
                <a:moveTo>
                  <a:pt x="44" y="310"/>
                </a:moveTo>
                <a:lnTo>
                  <a:pt x="353" y="310"/>
                </a:lnTo>
                <a:cubicBezTo>
                  <a:pt x="358" y="310"/>
                  <a:pt x="365" y="309"/>
                  <a:pt x="370" y="307"/>
                </a:cubicBezTo>
                <a:cubicBezTo>
                  <a:pt x="376" y="304"/>
                  <a:pt x="381" y="301"/>
                  <a:pt x="385" y="297"/>
                </a:cubicBezTo>
                <a:cubicBezTo>
                  <a:pt x="389" y="293"/>
                  <a:pt x="392" y="288"/>
                  <a:pt x="394" y="283"/>
                </a:cubicBezTo>
                <a:cubicBezTo>
                  <a:pt x="397" y="277"/>
                  <a:pt x="398" y="272"/>
                  <a:pt x="398" y="266"/>
                </a:cubicBezTo>
                <a:lnTo>
                  <a:pt x="398" y="44"/>
                </a:lnTo>
                <a:cubicBezTo>
                  <a:pt x="398" y="39"/>
                  <a:pt x="397" y="33"/>
                  <a:pt x="394" y="28"/>
                </a:cubicBezTo>
                <a:cubicBezTo>
                  <a:pt x="392" y="22"/>
                  <a:pt x="389" y="17"/>
                  <a:pt x="385" y="13"/>
                </a:cubicBezTo>
                <a:cubicBezTo>
                  <a:pt x="381" y="9"/>
                  <a:pt x="376" y="6"/>
                  <a:pt x="370" y="4"/>
                </a:cubicBezTo>
                <a:cubicBezTo>
                  <a:pt x="365" y="1"/>
                  <a:pt x="358" y="0"/>
                  <a:pt x="353" y="0"/>
                </a:cubicBezTo>
                <a:lnTo>
                  <a:pt x="44" y="0"/>
                </a:lnTo>
                <a:cubicBezTo>
                  <a:pt x="38" y="0"/>
                  <a:pt x="32" y="1"/>
                  <a:pt x="27" y="4"/>
                </a:cubicBezTo>
                <a:cubicBezTo>
                  <a:pt x="22" y="6"/>
                  <a:pt x="17" y="9"/>
                  <a:pt x="13" y="13"/>
                </a:cubicBezTo>
                <a:cubicBezTo>
                  <a:pt x="9" y="17"/>
                  <a:pt x="5" y="22"/>
                  <a:pt x="3" y="28"/>
                </a:cubicBezTo>
                <a:cubicBezTo>
                  <a:pt x="1" y="33"/>
                  <a:pt x="0" y="39"/>
                  <a:pt x="0" y="44"/>
                </a:cubicBezTo>
                <a:lnTo>
                  <a:pt x="0" y="266"/>
                </a:lnTo>
                <a:cubicBezTo>
                  <a:pt x="0" y="272"/>
                  <a:pt x="1" y="277"/>
                  <a:pt x="3" y="283"/>
                </a:cubicBezTo>
                <a:cubicBezTo>
                  <a:pt x="5" y="288"/>
                  <a:pt x="9" y="293"/>
                  <a:pt x="13" y="297"/>
                </a:cubicBezTo>
                <a:cubicBezTo>
                  <a:pt x="17" y="301"/>
                  <a:pt x="22" y="304"/>
                  <a:pt x="27" y="307"/>
                </a:cubicBezTo>
                <a:cubicBezTo>
                  <a:pt x="32" y="309"/>
                  <a:pt x="38" y="310"/>
                  <a:pt x="44" y="310"/>
                </a:cubicBezTo>
              </a:path>
            </a:pathLst>
          </a:custGeom>
          <a:ln w="15840" cap="rnd">
            <a:solidFill>
              <a:srgbClr val="FFFFFF"/>
            </a:solidFill>
            <a:round/>
          </a:ln>
        </p:spPr>
        <p:txBody>
          <a:bodyPr lIns="7920" tIns="7920" rIns="7920" bIns="792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SansSC"/>
            </a:endParaRPr>
          </a:p>
        </p:txBody>
      </p:sp>
      <p:pic>
        <p:nvPicPr>
          <p:cNvPr id="34" name="图片 33"/>
          <p:cNvPicPr/>
          <p:nvPr/>
        </p:nvPicPr>
        <p:blipFill>
          <a:blip r:embed="rId9"/>
          <a:stretch/>
        </p:blipFill>
        <p:spPr>
          <a:xfrm>
            <a:off x="7000920" y="1000080"/>
            <a:ext cx="380520" cy="38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" name="任意多边形: 形状 34"/>
          <p:cNvSpPr/>
          <p:nvPr/>
        </p:nvSpPr>
        <p:spPr>
          <a:xfrm>
            <a:off x="7127640" y="1118880"/>
            <a:ext cx="127440" cy="143280"/>
          </a:xfrm>
          <a:custGeom>
            <a:avLst/>
            <a:gdLst/>
            <a:ahLst/>
            <a:cxnLst/>
            <a:rect l="0" t="0" r="r" b="b"/>
            <a:pathLst>
              <a:path w="354" h="398" fill="none">
                <a:moveTo>
                  <a:pt x="88" y="89"/>
                </a:moveTo>
                <a:lnTo>
                  <a:pt x="354" y="89"/>
                </a:lnTo>
                <a:moveTo>
                  <a:pt x="354" y="89"/>
                </a:moveTo>
                <a:lnTo>
                  <a:pt x="266" y="0"/>
                </a:lnTo>
                <a:moveTo>
                  <a:pt x="354" y="89"/>
                </a:moveTo>
                <a:lnTo>
                  <a:pt x="266" y="177"/>
                </a:lnTo>
                <a:moveTo>
                  <a:pt x="266" y="310"/>
                </a:moveTo>
                <a:lnTo>
                  <a:pt x="0" y="310"/>
                </a:lnTo>
                <a:moveTo>
                  <a:pt x="0" y="310"/>
                </a:moveTo>
                <a:lnTo>
                  <a:pt x="88" y="398"/>
                </a:lnTo>
                <a:moveTo>
                  <a:pt x="0" y="310"/>
                </a:moveTo>
                <a:lnTo>
                  <a:pt x="88" y="221"/>
                </a:lnTo>
              </a:path>
            </a:pathLst>
          </a:custGeom>
          <a:ln w="15840" cap="rnd">
            <a:solidFill>
              <a:srgbClr val="0052D9"/>
            </a:solidFill>
            <a:round/>
          </a:ln>
        </p:spPr>
        <p:txBody>
          <a:bodyPr lIns="7920" tIns="7920" rIns="7920" bIns="792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SansSC"/>
            </a:endParaRPr>
          </a:p>
        </p:txBody>
      </p:sp>
      <p:pic>
        <p:nvPicPr>
          <p:cNvPr id="36" name="图片 35"/>
          <p:cNvPicPr/>
          <p:nvPr/>
        </p:nvPicPr>
        <p:blipFill>
          <a:blip r:embed="rId10"/>
          <a:stretch/>
        </p:blipFill>
        <p:spPr>
          <a:xfrm>
            <a:off x="5981760" y="1695600"/>
            <a:ext cx="228240" cy="228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7" name="图片 36"/>
          <p:cNvPicPr/>
          <p:nvPr/>
        </p:nvPicPr>
        <p:blipFill>
          <a:blip r:embed="rId11"/>
          <a:stretch/>
        </p:blipFill>
        <p:spPr>
          <a:xfrm>
            <a:off x="609480" y="2000160"/>
            <a:ext cx="10972440" cy="1999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8" name="图片 37"/>
          <p:cNvPicPr/>
          <p:nvPr/>
        </p:nvPicPr>
        <p:blipFill>
          <a:blip r:embed="rId12"/>
          <a:stretch/>
        </p:blipFill>
        <p:spPr>
          <a:xfrm>
            <a:off x="4848120" y="1847880"/>
            <a:ext cx="2495160" cy="26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" name="任意多边形: 形状 38"/>
          <p:cNvSpPr/>
          <p:nvPr/>
        </p:nvSpPr>
        <p:spPr>
          <a:xfrm>
            <a:off x="5017320" y="1919160"/>
            <a:ext cx="118800" cy="113400"/>
          </a:xfrm>
          <a:custGeom>
            <a:avLst/>
            <a:gdLst/>
            <a:ahLst/>
            <a:cxnLst/>
            <a:rect l="0" t="0" r="r" b="b"/>
            <a:pathLst>
              <a:path w="330" h="315" fill="none">
                <a:moveTo>
                  <a:pt x="149" y="12"/>
                </a:moveTo>
                <a:cubicBezTo>
                  <a:pt x="154" y="-4"/>
                  <a:pt x="177" y="-4"/>
                  <a:pt x="183" y="12"/>
                </a:cubicBezTo>
                <a:lnTo>
                  <a:pt x="209" y="94"/>
                </a:lnTo>
                <a:cubicBezTo>
                  <a:pt x="212" y="102"/>
                  <a:pt x="218" y="106"/>
                  <a:pt x="226" y="106"/>
                </a:cubicBezTo>
                <a:lnTo>
                  <a:pt x="313" y="106"/>
                </a:lnTo>
                <a:cubicBezTo>
                  <a:pt x="330" y="106"/>
                  <a:pt x="337" y="128"/>
                  <a:pt x="323" y="138"/>
                </a:cubicBezTo>
                <a:lnTo>
                  <a:pt x="253" y="190"/>
                </a:lnTo>
                <a:cubicBezTo>
                  <a:pt x="246" y="195"/>
                  <a:pt x="244" y="202"/>
                  <a:pt x="247" y="210"/>
                </a:cubicBezTo>
                <a:lnTo>
                  <a:pt x="273" y="292"/>
                </a:lnTo>
                <a:cubicBezTo>
                  <a:pt x="279" y="309"/>
                  <a:pt x="260" y="322"/>
                  <a:pt x="246" y="312"/>
                </a:cubicBezTo>
                <a:lnTo>
                  <a:pt x="176" y="261"/>
                </a:lnTo>
                <a:cubicBezTo>
                  <a:pt x="169" y="256"/>
                  <a:pt x="162" y="256"/>
                  <a:pt x="155" y="261"/>
                </a:cubicBezTo>
                <a:lnTo>
                  <a:pt x="85" y="312"/>
                </a:lnTo>
                <a:cubicBezTo>
                  <a:pt x="71" y="322"/>
                  <a:pt x="53" y="309"/>
                  <a:pt x="58" y="292"/>
                </a:cubicBezTo>
                <a:lnTo>
                  <a:pt x="85" y="210"/>
                </a:lnTo>
                <a:cubicBezTo>
                  <a:pt x="88" y="202"/>
                  <a:pt x="85" y="195"/>
                  <a:pt x="79" y="190"/>
                </a:cubicBezTo>
                <a:lnTo>
                  <a:pt x="7" y="138"/>
                </a:lnTo>
                <a:cubicBezTo>
                  <a:pt x="-6" y="128"/>
                  <a:pt x="1" y="106"/>
                  <a:pt x="18" y="106"/>
                </a:cubicBezTo>
                <a:lnTo>
                  <a:pt x="105" y="106"/>
                </a:lnTo>
                <a:cubicBezTo>
                  <a:pt x="114" y="106"/>
                  <a:pt x="120" y="102"/>
                  <a:pt x="122" y="94"/>
                </a:cubicBezTo>
                <a:lnTo>
                  <a:pt x="149" y="12"/>
                </a:lnTo>
              </a:path>
            </a:pathLst>
          </a:custGeom>
          <a:ln w="12600" cap="rnd">
            <a:solidFill>
              <a:srgbClr val="FFFFFF"/>
            </a:solidFill>
            <a:round/>
          </a:ln>
        </p:spPr>
        <p:txBody>
          <a:bodyPr lIns="6120" tIns="6120" rIns="6120" bIns="612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SansSC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4629240" y="743760"/>
            <a:ext cx="692497" cy="1384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00" b="0" u="none" strike="noStrike">
                <a:solidFill>
                  <a:srgbClr val="0052D9"/>
                </a:solidFill>
                <a:effectLst/>
                <a:uFillTx/>
                <a:latin typeface="NotoSansSC"/>
                <a:ea typeface="NotoSansCJKsc"/>
              </a:rPr>
              <a:t>交互与路由层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NotoSansSC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5228640" y="1874160"/>
            <a:ext cx="1211870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NotoSansSC"/>
                <a:ea typeface="NotoSansCJKsc"/>
              </a:rPr>
              <a:t>主要贡献：核⼼战⽃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SansSC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6428880" y="1908000"/>
            <a:ext cx="540212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NotoSansSC"/>
                <a:ea typeface="Arial"/>
              </a:rPr>
              <a:t>SubAgent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SansSC"/>
            </a:endParaRPr>
          </a:p>
        </p:txBody>
      </p:sp>
      <p:pic>
        <p:nvPicPr>
          <p:cNvPr id="43" name="图片 42"/>
          <p:cNvPicPr/>
          <p:nvPr/>
        </p:nvPicPr>
        <p:blipFill>
          <a:blip r:embed="rId13"/>
          <a:stretch/>
        </p:blipFill>
        <p:spPr>
          <a:xfrm>
            <a:off x="1009800" y="2324160"/>
            <a:ext cx="3238200" cy="1428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" name="任意多边形: 形状 43"/>
          <p:cNvSpPr/>
          <p:nvPr/>
        </p:nvSpPr>
        <p:spPr>
          <a:xfrm>
            <a:off x="2400120" y="2485800"/>
            <a:ext cx="457560" cy="457560"/>
          </a:xfrm>
          <a:custGeom>
            <a:avLst/>
            <a:gdLst/>
            <a:ahLst/>
            <a:cxnLst/>
            <a:rect l="0" t="0" r="r" b="b"/>
            <a:pathLst>
              <a:path w="1271" h="1271">
                <a:moveTo>
                  <a:pt x="0" y="1059"/>
                </a:moveTo>
                <a:lnTo>
                  <a:pt x="0" y="213"/>
                </a:lnTo>
                <a:cubicBezTo>
                  <a:pt x="0" y="199"/>
                  <a:pt x="1" y="185"/>
                  <a:pt x="4" y="171"/>
                </a:cubicBezTo>
                <a:cubicBezTo>
                  <a:pt x="7" y="158"/>
                  <a:pt x="11" y="145"/>
                  <a:pt x="16" y="132"/>
                </a:cubicBezTo>
                <a:cubicBezTo>
                  <a:pt x="21" y="119"/>
                  <a:pt x="28" y="107"/>
                  <a:pt x="36" y="95"/>
                </a:cubicBezTo>
                <a:cubicBezTo>
                  <a:pt x="43" y="84"/>
                  <a:pt x="52" y="72"/>
                  <a:pt x="62" y="62"/>
                </a:cubicBezTo>
                <a:cubicBezTo>
                  <a:pt x="72" y="52"/>
                  <a:pt x="83" y="44"/>
                  <a:pt x="94" y="36"/>
                </a:cubicBezTo>
                <a:cubicBezTo>
                  <a:pt x="106" y="28"/>
                  <a:pt x="118" y="22"/>
                  <a:pt x="131" y="16"/>
                </a:cubicBezTo>
                <a:cubicBezTo>
                  <a:pt x="144" y="11"/>
                  <a:pt x="157" y="7"/>
                  <a:pt x="170" y="4"/>
                </a:cubicBezTo>
                <a:cubicBezTo>
                  <a:pt x="184" y="1"/>
                  <a:pt x="198" y="0"/>
                  <a:pt x="212" y="0"/>
                </a:cubicBezTo>
                <a:lnTo>
                  <a:pt x="1059" y="0"/>
                </a:lnTo>
                <a:cubicBezTo>
                  <a:pt x="1073" y="0"/>
                  <a:pt x="1087" y="1"/>
                  <a:pt x="1101" y="4"/>
                </a:cubicBezTo>
                <a:cubicBezTo>
                  <a:pt x="1114" y="7"/>
                  <a:pt x="1127" y="11"/>
                  <a:pt x="1140" y="16"/>
                </a:cubicBezTo>
                <a:cubicBezTo>
                  <a:pt x="1153" y="22"/>
                  <a:pt x="1165" y="28"/>
                  <a:pt x="1177" y="36"/>
                </a:cubicBezTo>
                <a:cubicBezTo>
                  <a:pt x="1188" y="44"/>
                  <a:pt x="1199" y="52"/>
                  <a:pt x="1209" y="62"/>
                </a:cubicBezTo>
                <a:cubicBezTo>
                  <a:pt x="1219" y="72"/>
                  <a:pt x="1228" y="84"/>
                  <a:pt x="1235" y="95"/>
                </a:cubicBezTo>
                <a:cubicBezTo>
                  <a:pt x="1243" y="107"/>
                  <a:pt x="1250" y="119"/>
                  <a:pt x="1255" y="132"/>
                </a:cubicBezTo>
                <a:cubicBezTo>
                  <a:pt x="1260" y="145"/>
                  <a:pt x="1264" y="158"/>
                  <a:pt x="1267" y="171"/>
                </a:cubicBezTo>
                <a:cubicBezTo>
                  <a:pt x="1270" y="185"/>
                  <a:pt x="1271" y="199"/>
                  <a:pt x="1271" y="213"/>
                </a:cubicBezTo>
                <a:lnTo>
                  <a:pt x="1271" y="1059"/>
                </a:lnTo>
                <a:cubicBezTo>
                  <a:pt x="1271" y="1073"/>
                  <a:pt x="1270" y="1087"/>
                  <a:pt x="1267" y="1101"/>
                </a:cubicBezTo>
                <a:cubicBezTo>
                  <a:pt x="1264" y="1114"/>
                  <a:pt x="1260" y="1128"/>
                  <a:pt x="1255" y="1140"/>
                </a:cubicBezTo>
                <a:cubicBezTo>
                  <a:pt x="1250" y="1153"/>
                  <a:pt x="1243" y="1165"/>
                  <a:pt x="1235" y="1177"/>
                </a:cubicBezTo>
                <a:cubicBezTo>
                  <a:pt x="1228" y="1189"/>
                  <a:pt x="1219" y="1199"/>
                  <a:pt x="1209" y="1209"/>
                </a:cubicBezTo>
                <a:cubicBezTo>
                  <a:pt x="1199" y="1219"/>
                  <a:pt x="1188" y="1228"/>
                  <a:pt x="1177" y="1235"/>
                </a:cubicBezTo>
                <a:cubicBezTo>
                  <a:pt x="1165" y="1243"/>
                  <a:pt x="1153" y="1250"/>
                  <a:pt x="1140" y="1255"/>
                </a:cubicBezTo>
                <a:cubicBezTo>
                  <a:pt x="1127" y="1260"/>
                  <a:pt x="1114" y="1264"/>
                  <a:pt x="1101" y="1267"/>
                </a:cubicBezTo>
                <a:cubicBezTo>
                  <a:pt x="1087" y="1270"/>
                  <a:pt x="1073" y="1271"/>
                  <a:pt x="1059" y="1271"/>
                </a:cubicBezTo>
                <a:lnTo>
                  <a:pt x="212" y="1271"/>
                </a:lnTo>
                <a:cubicBezTo>
                  <a:pt x="198" y="1271"/>
                  <a:pt x="184" y="1270"/>
                  <a:pt x="170" y="1267"/>
                </a:cubicBezTo>
                <a:cubicBezTo>
                  <a:pt x="157" y="1264"/>
                  <a:pt x="144" y="1260"/>
                  <a:pt x="131" y="1255"/>
                </a:cubicBezTo>
                <a:cubicBezTo>
                  <a:pt x="118" y="1250"/>
                  <a:pt x="106" y="1243"/>
                  <a:pt x="94" y="1235"/>
                </a:cubicBezTo>
                <a:cubicBezTo>
                  <a:pt x="83" y="1228"/>
                  <a:pt x="72" y="1219"/>
                  <a:pt x="62" y="1209"/>
                </a:cubicBezTo>
                <a:cubicBezTo>
                  <a:pt x="52" y="1199"/>
                  <a:pt x="43" y="1189"/>
                  <a:pt x="36" y="1177"/>
                </a:cubicBezTo>
                <a:cubicBezTo>
                  <a:pt x="28" y="1165"/>
                  <a:pt x="21" y="1153"/>
                  <a:pt x="16" y="1140"/>
                </a:cubicBezTo>
                <a:cubicBezTo>
                  <a:pt x="11" y="1128"/>
                  <a:pt x="7" y="1114"/>
                  <a:pt x="4" y="1101"/>
                </a:cubicBezTo>
                <a:cubicBezTo>
                  <a:pt x="1" y="1087"/>
                  <a:pt x="0" y="1073"/>
                  <a:pt x="0" y="1059"/>
                </a:cubicBezTo>
                <a:close/>
              </a:path>
            </a:pathLst>
          </a:custGeom>
          <a:solidFill>
            <a:srgbClr val="DBEAFE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SansSC"/>
            </a:endParaRPr>
          </a:p>
        </p:txBody>
      </p:sp>
      <p:sp>
        <p:nvSpPr>
          <p:cNvPr id="45" name="任意多边形: 形状 44"/>
          <p:cNvSpPr/>
          <p:nvPr/>
        </p:nvSpPr>
        <p:spPr>
          <a:xfrm>
            <a:off x="2533320" y="2638080"/>
            <a:ext cx="191160" cy="153000"/>
          </a:xfrm>
          <a:custGeom>
            <a:avLst/>
            <a:gdLst/>
            <a:ahLst/>
            <a:cxnLst/>
            <a:rect l="0" t="0" r="r" b="b"/>
            <a:pathLst>
              <a:path w="531" h="425" fill="none">
                <a:moveTo>
                  <a:pt x="213" y="425"/>
                </a:moveTo>
                <a:lnTo>
                  <a:pt x="319" y="0"/>
                </a:lnTo>
                <a:moveTo>
                  <a:pt x="425" y="107"/>
                </a:moveTo>
                <a:lnTo>
                  <a:pt x="531" y="213"/>
                </a:lnTo>
                <a:lnTo>
                  <a:pt x="425" y="319"/>
                </a:lnTo>
                <a:moveTo>
                  <a:pt x="107" y="319"/>
                </a:moveTo>
                <a:lnTo>
                  <a:pt x="0" y="213"/>
                </a:lnTo>
                <a:lnTo>
                  <a:pt x="107" y="107"/>
                </a:lnTo>
              </a:path>
            </a:pathLst>
          </a:custGeom>
          <a:ln w="18720" cap="rnd">
            <a:solidFill>
              <a:srgbClr val="0052D9"/>
            </a:solidFill>
            <a:round/>
          </a:ln>
        </p:spPr>
        <p:txBody>
          <a:bodyPr lIns="9360" tIns="9360" rIns="9360" bIns="936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SansSC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7058520" y="1874160"/>
            <a:ext cx="134652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NotoSansSC"/>
                <a:ea typeface="NotoSansCJKsc"/>
              </a:rPr>
              <a:t>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SansSC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1978016" y="3119054"/>
            <a:ext cx="1275349" cy="18466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00" b="1" u="none" strike="noStrike" dirty="0">
                <a:solidFill>
                  <a:srgbClr val="1E293B"/>
                </a:solidFill>
                <a:effectLst/>
                <a:uFillTx/>
                <a:latin typeface="NotoSansSC"/>
                <a:ea typeface="Arial"/>
              </a:rPr>
              <a:t> </a:t>
            </a:r>
            <a:r>
              <a:rPr lang="zh-CN" altLang="en-US" sz="1200" b="1" u="none" strike="noStrike" dirty="0">
                <a:solidFill>
                  <a:srgbClr val="1E293B"/>
                </a:solidFill>
                <a:effectLst/>
                <a:uFillTx/>
                <a:latin typeface="NotoSansSC"/>
                <a:ea typeface="Arial"/>
              </a:rPr>
              <a:t>战斗 </a:t>
            </a:r>
            <a:r>
              <a:rPr lang="en-US" altLang="zh-CN" sz="1200" b="1" u="none" strike="noStrike" dirty="0">
                <a:solidFill>
                  <a:srgbClr val="1E293B"/>
                </a:solidFill>
                <a:effectLst/>
                <a:uFillTx/>
                <a:latin typeface="NotoSansSC"/>
                <a:ea typeface="Arial"/>
              </a:rPr>
              <a:t>Dev</a:t>
            </a:r>
            <a:r>
              <a:rPr lang="zh-CN" altLang="en-US" sz="1200" b="1" u="none" strike="noStrike" dirty="0">
                <a:solidFill>
                  <a:srgbClr val="1E293B"/>
                </a:solidFill>
                <a:effectLst/>
                <a:uFillTx/>
                <a:latin typeface="NotoSansSC"/>
                <a:ea typeface="Arial"/>
              </a:rPr>
              <a:t> </a:t>
            </a:r>
            <a:r>
              <a:rPr lang="en-US" sz="1200" b="1" u="none" strike="noStrike" dirty="0" err="1">
                <a:solidFill>
                  <a:srgbClr val="1E293B"/>
                </a:solidFill>
                <a:effectLst/>
                <a:uFillTx/>
                <a:latin typeface="NotoSansSC"/>
                <a:ea typeface="Arial"/>
              </a:rPr>
              <a:t>SubAgent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NotoSansSC"/>
            </a:endParaRPr>
          </a:p>
        </p:txBody>
      </p:sp>
      <p:pic>
        <p:nvPicPr>
          <p:cNvPr id="49" name="图片 48"/>
          <p:cNvPicPr/>
          <p:nvPr/>
        </p:nvPicPr>
        <p:blipFill>
          <a:blip r:embed="rId14"/>
          <a:stretch/>
        </p:blipFill>
        <p:spPr>
          <a:xfrm>
            <a:off x="7943760" y="2324160"/>
            <a:ext cx="3238200" cy="1428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" name="任意多边形: 形状 49"/>
          <p:cNvSpPr/>
          <p:nvPr/>
        </p:nvSpPr>
        <p:spPr>
          <a:xfrm>
            <a:off x="9334440" y="2485800"/>
            <a:ext cx="457560" cy="457560"/>
          </a:xfrm>
          <a:custGeom>
            <a:avLst/>
            <a:gdLst/>
            <a:ahLst/>
            <a:cxnLst/>
            <a:rect l="0" t="0" r="r" b="b"/>
            <a:pathLst>
              <a:path w="1271" h="1271">
                <a:moveTo>
                  <a:pt x="0" y="1059"/>
                </a:moveTo>
                <a:lnTo>
                  <a:pt x="0" y="213"/>
                </a:lnTo>
                <a:cubicBezTo>
                  <a:pt x="0" y="199"/>
                  <a:pt x="1" y="185"/>
                  <a:pt x="4" y="171"/>
                </a:cubicBezTo>
                <a:cubicBezTo>
                  <a:pt x="6" y="158"/>
                  <a:pt x="10" y="145"/>
                  <a:pt x="16" y="132"/>
                </a:cubicBezTo>
                <a:cubicBezTo>
                  <a:pt x="21" y="119"/>
                  <a:pt x="28" y="107"/>
                  <a:pt x="35" y="95"/>
                </a:cubicBezTo>
                <a:cubicBezTo>
                  <a:pt x="43" y="84"/>
                  <a:pt x="52" y="72"/>
                  <a:pt x="62" y="62"/>
                </a:cubicBezTo>
                <a:cubicBezTo>
                  <a:pt x="71" y="52"/>
                  <a:pt x="82" y="44"/>
                  <a:pt x="95" y="36"/>
                </a:cubicBezTo>
                <a:cubicBezTo>
                  <a:pt x="106" y="28"/>
                  <a:pt x="118" y="22"/>
                  <a:pt x="131" y="16"/>
                </a:cubicBezTo>
                <a:cubicBezTo>
                  <a:pt x="144" y="11"/>
                  <a:pt x="157" y="7"/>
                  <a:pt x="171" y="4"/>
                </a:cubicBezTo>
                <a:cubicBezTo>
                  <a:pt x="185" y="1"/>
                  <a:pt x="198" y="0"/>
                  <a:pt x="212" y="0"/>
                </a:cubicBezTo>
                <a:lnTo>
                  <a:pt x="1059" y="0"/>
                </a:lnTo>
                <a:cubicBezTo>
                  <a:pt x="1073" y="0"/>
                  <a:pt x="1087" y="1"/>
                  <a:pt x="1100" y="4"/>
                </a:cubicBezTo>
                <a:cubicBezTo>
                  <a:pt x="1114" y="7"/>
                  <a:pt x="1127" y="11"/>
                  <a:pt x="1140" y="16"/>
                </a:cubicBezTo>
                <a:cubicBezTo>
                  <a:pt x="1153" y="22"/>
                  <a:pt x="1165" y="28"/>
                  <a:pt x="1177" y="36"/>
                </a:cubicBezTo>
                <a:cubicBezTo>
                  <a:pt x="1188" y="44"/>
                  <a:pt x="1199" y="52"/>
                  <a:pt x="1209" y="62"/>
                </a:cubicBezTo>
                <a:cubicBezTo>
                  <a:pt x="1218" y="72"/>
                  <a:pt x="1227" y="84"/>
                  <a:pt x="1235" y="95"/>
                </a:cubicBezTo>
                <a:cubicBezTo>
                  <a:pt x="1243" y="107"/>
                  <a:pt x="1249" y="119"/>
                  <a:pt x="1255" y="132"/>
                </a:cubicBezTo>
                <a:cubicBezTo>
                  <a:pt x="1260" y="145"/>
                  <a:pt x="1264" y="158"/>
                  <a:pt x="1267" y="171"/>
                </a:cubicBezTo>
                <a:cubicBezTo>
                  <a:pt x="1269" y="185"/>
                  <a:pt x="1271" y="199"/>
                  <a:pt x="1271" y="213"/>
                </a:cubicBezTo>
                <a:lnTo>
                  <a:pt x="1271" y="1059"/>
                </a:lnTo>
                <a:cubicBezTo>
                  <a:pt x="1271" y="1073"/>
                  <a:pt x="1269" y="1087"/>
                  <a:pt x="1267" y="1101"/>
                </a:cubicBezTo>
                <a:cubicBezTo>
                  <a:pt x="1264" y="1114"/>
                  <a:pt x="1260" y="1128"/>
                  <a:pt x="1255" y="1140"/>
                </a:cubicBezTo>
                <a:cubicBezTo>
                  <a:pt x="1249" y="1153"/>
                  <a:pt x="1243" y="1165"/>
                  <a:pt x="1235" y="1177"/>
                </a:cubicBezTo>
                <a:cubicBezTo>
                  <a:pt x="1227" y="1189"/>
                  <a:pt x="1218" y="1199"/>
                  <a:pt x="1209" y="1209"/>
                </a:cubicBezTo>
                <a:cubicBezTo>
                  <a:pt x="1199" y="1219"/>
                  <a:pt x="1188" y="1228"/>
                  <a:pt x="1177" y="1235"/>
                </a:cubicBezTo>
                <a:cubicBezTo>
                  <a:pt x="1165" y="1243"/>
                  <a:pt x="1153" y="1250"/>
                  <a:pt x="1140" y="1255"/>
                </a:cubicBezTo>
                <a:cubicBezTo>
                  <a:pt x="1127" y="1260"/>
                  <a:pt x="1114" y="1264"/>
                  <a:pt x="1100" y="1267"/>
                </a:cubicBezTo>
                <a:cubicBezTo>
                  <a:pt x="1087" y="1270"/>
                  <a:pt x="1073" y="1271"/>
                  <a:pt x="1059" y="1271"/>
                </a:cubicBezTo>
                <a:lnTo>
                  <a:pt x="212" y="1271"/>
                </a:lnTo>
                <a:cubicBezTo>
                  <a:pt x="198" y="1271"/>
                  <a:pt x="185" y="1270"/>
                  <a:pt x="171" y="1267"/>
                </a:cubicBezTo>
                <a:cubicBezTo>
                  <a:pt x="157" y="1264"/>
                  <a:pt x="144" y="1260"/>
                  <a:pt x="131" y="1255"/>
                </a:cubicBezTo>
                <a:cubicBezTo>
                  <a:pt x="118" y="1250"/>
                  <a:pt x="106" y="1243"/>
                  <a:pt x="95" y="1235"/>
                </a:cubicBezTo>
                <a:cubicBezTo>
                  <a:pt x="82" y="1228"/>
                  <a:pt x="71" y="1219"/>
                  <a:pt x="62" y="1209"/>
                </a:cubicBezTo>
                <a:cubicBezTo>
                  <a:pt x="52" y="1199"/>
                  <a:pt x="43" y="1189"/>
                  <a:pt x="35" y="1177"/>
                </a:cubicBezTo>
                <a:cubicBezTo>
                  <a:pt x="28" y="1165"/>
                  <a:pt x="21" y="1153"/>
                  <a:pt x="16" y="1140"/>
                </a:cubicBezTo>
                <a:cubicBezTo>
                  <a:pt x="10" y="1128"/>
                  <a:pt x="6" y="1114"/>
                  <a:pt x="4" y="1101"/>
                </a:cubicBezTo>
                <a:cubicBezTo>
                  <a:pt x="1" y="1087"/>
                  <a:pt x="0" y="1073"/>
                  <a:pt x="0" y="1059"/>
                </a:cubicBezTo>
                <a:close/>
              </a:path>
            </a:pathLst>
          </a:custGeom>
          <a:solidFill>
            <a:srgbClr val="FFEDD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SansSC"/>
            </a:endParaRPr>
          </a:p>
        </p:txBody>
      </p:sp>
      <p:sp>
        <p:nvSpPr>
          <p:cNvPr id="51" name="任意多边形: 形状 50"/>
          <p:cNvSpPr/>
          <p:nvPr/>
        </p:nvSpPr>
        <p:spPr>
          <a:xfrm>
            <a:off x="9477360" y="2628720"/>
            <a:ext cx="171720" cy="171720"/>
          </a:xfrm>
          <a:custGeom>
            <a:avLst/>
            <a:gdLst/>
            <a:ahLst/>
            <a:cxnLst/>
            <a:rect l="0" t="0" r="r" b="b"/>
            <a:pathLst>
              <a:path w="477" h="477" fill="none">
                <a:moveTo>
                  <a:pt x="239" y="133"/>
                </a:moveTo>
                <a:lnTo>
                  <a:pt x="239" y="239"/>
                </a:lnTo>
                <a:moveTo>
                  <a:pt x="239" y="345"/>
                </a:moveTo>
                <a:moveTo>
                  <a:pt x="477" y="239"/>
                </a:moveTo>
                <a:cubicBezTo>
                  <a:pt x="477" y="255"/>
                  <a:pt x="475" y="270"/>
                  <a:pt x="472" y="286"/>
                </a:cubicBezTo>
                <a:cubicBezTo>
                  <a:pt x="469" y="301"/>
                  <a:pt x="465" y="316"/>
                  <a:pt x="459" y="330"/>
                </a:cubicBezTo>
                <a:cubicBezTo>
                  <a:pt x="453" y="345"/>
                  <a:pt x="445" y="358"/>
                  <a:pt x="437" y="371"/>
                </a:cubicBezTo>
                <a:cubicBezTo>
                  <a:pt x="428" y="384"/>
                  <a:pt x="418" y="396"/>
                  <a:pt x="407" y="408"/>
                </a:cubicBezTo>
                <a:cubicBezTo>
                  <a:pt x="396" y="419"/>
                  <a:pt x="384" y="428"/>
                  <a:pt x="371" y="437"/>
                </a:cubicBezTo>
                <a:cubicBezTo>
                  <a:pt x="358" y="446"/>
                  <a:pt x="344" y="453"/>
                  <a:pt x="330" y="459"/>
                </a:cubicBezTo>
                <a:cubicBezTo>
                  <a:pt x="315" y="465"/>
                  <a:pt x="300" y="470"/>
                  <a:pt x="285" y="473"/>
                </a:cubicBezTo>
                <a:cubicBezTo>
                  <a:pt x="270" y="476"/>
                  <a:pt x="254" y="477"/>
                  <a:pt x="239" y="477"/>
                </a:cubicBezTo>
                <a:cubicBezTo>
                  <a:pt x="223" y="477"/>
                  <a:pt x="208" y="476"/>
                  <a:pt x="192" y="473"/>
                </a:cubicBezTo>
                <a:cubicBezTo>
                  <a:pt x="177" y="470"/>
                  <a:pt x="162" y="465"/>
                  <a:pt x="148" y="459"/>
                </a:cubicBezTo>
                <a:cubicBezTo>
                  <a:pt x="133" y="453"/>
                  <a:pt x="119" y="446"/>
                  <a:pt x="106" y="437"/>
                </a:cubicBezTo>
                <a:cubicBezTo>
                  <a:pt x="93" y="428"/>
                  <a:pt x="80" y="419"/>
                  <a:pt x="69" y="408"/>
                </a:cubicBezTo>
                <a:cubicBezTo>
                  <a:pt x="58" y="396"/>
                  <a:pt x="48" y="384"/>
                  <a:pt x="40" y="371"/>
                </a:cubicBezTo>
                <a:cubicBezTo>
                  <a:pt x="31" y="358"/>
                  <a:pt x="24" y="345"/>
                  <a:pt x="18" y="330"/>
                </a:cubicBezTo>
                <a:cubicBezTo>
                  <a:pt x="12" y="316"/>
                  <a:pt x="7" y="301"/>
                  <a:pt x="4" y="286"/>
                </a:cubicBezTo>
                <a:cubicBezTo>
                  <a:pt x="1" y="270"/>
                  <a:pt x="0" y="255"/>
                  <a:pt x="0" y="239"/>
                </a:cubicBezTo>
                <a:cubicBezTo>
                  <a:pt x="0" y="223"/>
                  <a:pt x="1" y="208"/>
                  <a:pt x="4" y="193"/>
                </a:cubicBezTo>
                <a:cubicBezTo>
                  <a:pt x="7" y="177"/>
                  <a:pt x="12" y="162"/>
                  <a:pt x="18" y="148"/>
                </a:cubicBezTo>
                <a:cubicBezTo>
                  <a:pt x="24" y="134"/>
                  <a:pt x="31" y="120"/>
                  <a:pt x="40" y="107"/>
                </a:cubicBezTo>
                <a:cubicBezTo>
                  <a:pt x="48" y="94"/>
                  <a:pt x="58" y="82"/>
                  <a:pt x="69" y="70"/>
                </a:cubicBezTo>
                <a:cubicBezTo>
                  <a:pt x="80" y="59"/>
                  <a:pt x="93" y="49"/>
                  <a:pt x="106" y="40"/>
                </a:cubicBezTo>
                <a:cubicBezTo>
                  <a:pt x="119" y="32"/>
                  <a:pt x="133" y="24"/>
                  <a:pt x="148" y="18"/>
                </a:cubicBezTo>
                <a:cubicBezTo>
                  <a:pt x="162" y="12"/>
                  <a:pt x="177" y="8"/>
                  <a:pt x="192" y="5"/>
                </a:cubicBezTo>
                <a:cubicBezTo>
                  <a:pt x="208" y="2"/>
                  <a:pt x="223" y="0"/>
                  <a:pt x="239" y="0"/>
                </a:cubicBezTo>
                <a:cubicBezTo>
                  <a:pt x="254" y="0"/>
                  <a:pt x="270" y="2"/>
                  <a:pt x="285" y="5"/>
                </a:cubicBezTo>
                <a:cubicBezTo>
                  <a:pt x="300" y="8"/>
                  <a:pt x="315" y="12"/>
                  <a:pt x="330" y="18"/>
                </a:cubicBezTo>
                <a:cubicBezTo>
                  <a:pt x="344" y="24"/>
                  <a:pt x="358" y="32"/>
                  <a:pt x="371" y="40"/>
                </a:cubicBezTo>
                <a:cubicBezTo>
                  <a:pt x="384" y="49"/>
                  <a:pt x="396" y="59"/>
                  <a:pt x="407" y="70"/>
                </a:cubicBezTo>
                <a:cubicBezTo>
                  <a:pt x="418" y="82"/>
                  <a:pt x="428" y="94"/>
                  <a:pt x="437" y="107"/>
                </a:cubicBezTo>
                <a:cubicBezTo>
                  <a:pt x="445" y="120"/>
                  <a:pt x="453" y="134"/>
                  <a:pt x="459" y="148"/>
                </a:cubicBezTo>
                <a:cubicBezTo>
                  <a:pt x="465" y="162"/>
                  <a:pt x="469" y="177"/>
                  <a:pt x="472" y="193"/>
                </a:cubicBezTo>
                <a:cubicBezTo>
                  <a:pt x="475" y="208"/>
                  <a:pt x="477" y="223"/>
                  <a:pt x="477" y="239"/>
                </a:cubicBezTo>
              </a:path>
            </a:pathLst>
          </a:custGeom>
          <a:ln w="18720" cap="rnd">
            <a:solidFill>
              <a:srgbClr val="FF9C00"/>
            </a:solidFill>
            <a:round/>
          </a:ln>
        </p:spPr>
        <p:txBody>
          <a:bodyPr lIns="9360" tIns="9360" rIns="9360" bIns="936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SansSC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9097560" y="3081600"/>
            <a:ext cx="1373902" cy="18466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sz="1200" b="1" u="none" strike="noStrike" dirty="0">
                <a:solidFill>
                  <a:srgbClr val="1E293B"/>
                </a:solidFill>
                <a:effectLst/>
                <a:uFillTx/>
                <a:latin typeface="NotoSansSC"/>
                <a:ea typeface="Arial"/>
              </a:rPr>
              <a:t>战斗</a:t>
            </a:r>
            <a:r>
              <a:rPr lang="en-US" sz="1200" b="1" u="none" strike="noStrike" dirty="0">
                <a:solidFill>
                  <a:srgbClr val="1E293B"/>
                </a:solidFill>
                <a:effectLst/>
                <a:uFillTx/>
                <a:latin typeface="NotoSansSC"/>
                <a:ea typeface="Arial"/>
              </a:rPr>
              <a:t>Debug </a:t>
            </a:r>
            <a:r>
              <a:rPr lang="en-US" sz="1200" b="1" u="none" strike="noStrike" dirty="0" err="1">
                <a:solidFill>
                  <a:srgbClr val="1E293B"/>
                </a:solidFill>
                <a:effectLst/>
                <a:uFillTx/>
                <a:latin typeface="NotoSansSC"/>
                <a:ea typeface="Arial"/>
              </a:rPr>
              <a:t>SubAgent</a:t>
            </a:r>
            <a:endParaRPr lang="en-US" sz="1200" b="1" u="none" strike="noStrike" dirty="0">
              <a:solidFill>
                <a:srgbClr val="000000"/>
              </a:solidFill>
              <a:effectLst/>
              <a:uFillTx/>
              <a:latin typeface="NotoSansSC"/>
            </a:endParaRPr>
          </a:p>
        </p:txBody>
      </p:sp>
      <p:pic>
        <p:nvPicPr>
          <p:cNvPr id="55" name="图片 54"/>
          <p:cNvPicPr/>
          <p:nvPr/>
        </p:nvPicPr>
        <p:blipFill>
          <a:blip r:embed="rId15"/>
          <a:stretch/>
        </p:blipFill>
        <p:spPr>
          <a:xfrm>
            <a:off x="4395960" y="2288520"/>
            <a:ext cx="3400200" cy="1499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" name="文本框 56"/>
          <p:cNvSpPr txBox="1"/>
          <p:nvPr/>
        </p:nvSpPr>
        <p:spPr>
          <a:xfrm>
            <a:off x="5705999" y="3175560"/>
            <a:ext cx="770629" cy="21698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lstStyle/>
          <a:p>
            <a:r>
              <a:rPr lang="en-US" sz="1410" b="1" u="none" strike="noStrike" dirty="0">
                <a:solidFill>
                  <a:srgbClr val="0052D9"/>
                </a:solidFill>
                <a:effectLst/>
                <a:uFillTx/>
                <a:latin typeface="NotoSansSC"/>
                <a:ea typeface="Arial"/>
              </a:rPr>
              <a:t>LLM </a:t>
            </a:r>
            <a:r>
              <a:rPr lang="zh-CN" altLang="en-US" sz="1410" b="1" u="none" strike="noStrike" dirty="0">
                <a:solidFill>
                  <a:srgbClr val="0052D9"/>
                </a:solidFill>
                <a:effectLst/>
                <a:uFillTx/>
                <a:latin typeface="NotoSansSC"/>
                <a:ea typeface="Arial"/>
              </a:rPr>
              <a:t>大脑</a:t>
            </a:r>
            <a:endParaRPr lang="en-US" sz="1410" b="0" u="none" strike="noStrike" dirty="0">
              <a:solidFill>
                <a:srgbClr val="000000"/>
              </a:solidFill>
              <a:effectLst/>
              <a:uFillTx/>
              <a:latin typeface="NotoSansSC"/>
            </a:endParaRPr>
          </a:p>
        </p:txBody>
      </p:sp>
      <p:pic>
        <p:nvPicPr>
          <p:cNvPr id="59" name="图片 58"/>
          <p:cNvPicPr/>
          <p:nvPr/>
        </p:nvPicPr>
        <p:blipFill>
          <a:blip r:embed="rId16"/>
          <a:stretch/>
        </p:blipFill>
        <p:spPr>
          <a:xfrm>
            <a:off x="5815800" y="2458440"/>
            <a:ext cx="559800" cy="559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" name="任意多边形: 形状 59"/>
          <p:cNvSpPr/>
          <p:nvPr/>
        </p:nvSpPr>
        <p:spPr>
          <a:xfrm>
            <a:off x="5988960" y="2618280"/>
            <a:ext cx="213840" cy="240480"/>
          </a:xfrm>
          <a:custGeom>
            <a:avLst/>
            <a:gdLst/>
            <a:ahLst/>
            <a:cxnLst/>
            <a:rect l="0" t="0" r="r" b="b"/>
            <a:pathLst>
              <a:path w="594" h="668" fill="none">
                <a:moveTo>
                  <a:pt x="335" y="259"/>
                </a:moveTo>
                <a:lnTo>
                  <a:pt x="335" y="0"/>
                </a:lnTo>
                <a:lnTo>
                  <a:pt x="0" y="408"/>
                </a:lnTo>
                <a:lnTo>
                  <a:pt x="261" y="408"/>
                </a:lnTo>
                <a:lnTo>
                  <a:pt x="261" y="668"/>
                </a:lnTo>
                <a:lnTo>
                  <a:pt x="594" y="259"/>
                </a:lnTo>
                <a:lnTo>
                  <a:pt x="335" y="259"/>
                </a:lnTo>
              </a:path>
            </a:pathLst>
          </a:custGeom>
          <a:ln w="26640" cap="rnd">
            <a:solidFill>
              <a:srgbClr val="FFFFFF"/>
            </a:solidFill>
            <a:round/>
          </a:ln>
        </p:spPr>
        <p:txBody>
          <a:bodyPr lIns="13320" tIns="13320" rIns="13320" bIns="1332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SansSC"/>
            </a:endParaRPr>
          </a:p>
        </p:txBody>
      </p:sp>
      <p:sp>
        <p:nvSpPr>
          <p:cNvPr id="61" name="任意多边形: 形状 60"/>
          <p:cNvSpPr/>
          <p:nvPr/>
        </p:nvSpPr>
        <p:spPr>
          <a:xfrm>
            <a:off x="6091200" y="4000320"/>
            <a:ext cx="9720" cy="152640"/>
          </a:xfrm>
          <a:custGeom>
            <a:avLst/>
            <a:gdLst/>
            <a:ahLst/>
            <a:cxnLst/>
            <a:rect l="0" t="0" r="r" b="b"/>
            <a:pathLst>
              <a:path w="27" h="424">
                <a:moveTo>
                  <a:pt x="0" y="0"/>
                </a:moveTo>
                <a:lnTo>
                  <a:pt x="27" y="0"/>
                </a:lnTo>
                <a:lnTo>
                  <a:pt x="27" y="424"/>
                </a:lnTo>
                <a:lnTo>
                  <a:pt x="0" y="424"/>
                </a:lnTo>
                <a:lnTo>
                  <a:pt x="0" y="0"/>
                </a:lnTo>
                <a:close/>
              </a:path>
            </a:pathLst>
          </a:custGeom>
          <a:solidFill>
            <a:srgbClr val="93C5F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SansSC"/>
            </a:endParaRPr>
          </a:p>
        </p:txBody>
      </p:sp>
      <p:sp>
        <p:nvSpPr>
          <p:cNvPr id="62" name="任意多边形: 形状 61"/>
          <p:cNvSpPr/>
          <p:nvPr/>
        </p:nvSpPr>
        <p:spPr>
          <a:xfrm>
            <a:off x="3352680" y="4152600"/>
            <a:ext cx="5486760" cy="10080"/>
          </a:xfrm>
          <a:custGeom>
            <a:avLst/>
            <a:gdLst/>
            <a:ahLst/>
            <a:cxnLst/>
            <a:rect l="0" t="0" r="r" b="b"/>
            <a:pathLst>
              <a:path w="15241" h="28">
                <a:moveTo>
                  <a:pt x="0" y="0"/>
                </a:moveTo>
                <a:lnTo>
                  <a:pt x="15241" y="0"/>
                </a:lnTo>
                <a:lnTo>
                  <a:pt x="1524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93C5F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SansSC"/>
            </a:endParaRPr>
          </a:p>
        </p:txBody>
      </p:sp>
      <p:sp>
        <p:nvSpPr>
          <p:cNvPr id="63" name="任意多边形: 形状 62"/>
          <p:cNvSpPr/>
          <p:nvPr/>
        </p:nvSpPr>
        <p:spPr>
          <a:xfrm>
            <a:off x="3352680" y="4152600"/>
            <a:ext cx="9720" cy="153000"/>
          </a:xfrm>
          <a:custGeom>
            <a:avLst/>
            <a:gdLst/>
            <a:ahLst/>
            <a:cxnLst/>
            <a:rect l="0" t="0" r="r" b="b"/>
            <a:pathLst>
              <a:path w="27" h="425">
                <a:moveTo>
                  <a:pt x="0" y="0"/>
                </a:moveTo>
                <a:lnTo>
                  <a:pt x="27" y="0"/>
                </a:lnTo>
                <a:lnTo>
                  <a:pt x="27" y="425"/>
                </a:lnTo>
                <a:lnTo>
                  <a:pt x="0" y="425"/>
                </a:lnTo>
                <a:lnTo>
                  <a:pt x="0" y="0"/>
                </a:lnTo>
                <a:close/>
              </a:path>
            </a:pathLst>
          </a:custGeom>
          <a:solidFill>
            <a:srgbClr val="93C5F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SansSC"/>
            </a:endParaRPr>
          </a:p>
        </p:txBody>
      </p:sp>
      <p:sp>
        <p:nvSpPr>
          <p:cNvPr id="64" name="任意多边形: 形状 63"/>
          <p:cNvSpPr/>
          <p:nvPr/>
        </p:nvSpPr>
        <p:spPr>
          <a:xfrm>
            <a:off x="8829360" y="4152600"/>
            <a:ext cx="10080" cy="153000"/>
          </a:xfrm>
          <a:custGeom>
            <a:avLst/>
            <a:gdLst/>
            <a:ahLst/>
            <a:cxnLst/>
            <a:rect l="0" t="0" r="r" b="b"/>
            <a:pathLst>
              <a:path w="28" h="425">
                <a:moveTo>
                  <a:pt x="0" y="0"/>
                </a:moveTo>
                <a:lnTo>
                  <a:pt x="28" y="0"/>
                </a:lnTo>
                <a:lnTo>
                  <a:pt x="28" y="425"/>
                </a:lnTo>
                <a:lnTo>
                  <a:pt x="0" y="425"/>
                </a:lnTo>
                <a:lnTo>
                  <a:pt x="0" y="0"/>
                </a:lnTo>
                <a:close/>
              </a:path>
            </a:pathLst>
          </a:custGeom>
          <a:solidFill>
            <a:srgbClr val="93C5F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SansSC"/>
            </a:endParaRPr>
          </a:p>
        </p:txBody>
      </p:sp>
      <p:sp>
        <p:nvSpPr>
          <p:cNvPr id="65" name="任意多边形: 形状 64"/>
          <p:cNvSpPr/>
          <p:nvPr/>
        </p:nvSpPr>
        <p:spPr>
          <a:xfrm>
            <a:off x="3308040" y="4286160"/>
            <a:ext cx="89280" cy="44640"/>
          </a:xfrm>
          <a:custGeom>
            <a:avLst/>
            <a:gdLst/>
            <a:ahLst/>
            <a:cxnLst/>
            <a:rect l="0" t="0" r="r" b="b"/>
            <a:pathLst>
              <a:path w="248" h="124" fill="none">
                <a:moveTo>
                  <a:pt x="248" y="0"/>
                </a:moveTo>
                <a:lnTo>
                  <a:pt x="125" y="124"/>
                </a:lnTo>
                <a:lnTo>
                  <a:pt x="0" y="0"/>
                </a:lnTo>
              </a:path>
            </a:pathLst>
          </a:custGeom>
          <a:ln w="12600" cap="rnd">
            <a:solidFill>
              <a:srgbClr val="93C5FD"/>
            </a:solidFill>
            <a:round/>
          </a:ln>
        </p:spPr>
        <p:txBody>
          <a:bodyPr lIns="6120" tIns="6120" rIns="6120" bIns="612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SansSC"/>
            </a:endParaRPr>
          </a:p>
        </p:txBody>
      </p:sp>
      <p:sp>
        <p:nvSpPr>
          <p:cNvPr id="66" name="任意多边形: 形状 65"/>
          <p:cNvSpPr/>
          <p:nvPr/>
        </p:nvSpPr>
        <p:spPr>
          <a:xfrm>
            <a:off x="8642160" y="4286160"/>
            <a:ext cx="89280" cy="44640"/>
          </a:xfrm>
          <a:custGeom>
            <a:avLst/>
            <a:gdLst/>
            <a:ahLst/>
            <a:cxnLst/>
            <a:rect l="0" t="0" r="r" b="b"/>
            <a:pathLst>
              <a:path w="248" h="124" fill="none">
                <a:moveTo>
                  <a:pt x="248" y="0"/>
                </a:moveTo>
                <a:lnTo>
                  <a:pt x="123" y="124"/>
                </a:lnTo>
                <a:lnTo>
                  <a:pt x="0" y="0"/>
                </a:lnTo>
              </a:path>
            </a:pathLst>
          </a:custGeom>
          <a:ln w="12600" cap="rnd">
            <a:solidFill>
              <a:srgbClr val="93C5FD"/>
            </a:solidFill>
            <a:round/>
          </a:ln>
        </p:spPr>
        <p:txBody>
          <a:bodyPr lIns="6120" tIns="6120" rIns="6120" bIns="612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SansSC"/>
            </a:endParaRPr>
          </a:p>
        </p:txBody>
      </p:sp>
      <p:pic>
        <p:nvPicPr>
          <p:cNvPr id="67" name="图片 66"/>
          <p:cNvPicPr/>
          <p:nvPr/>
        </p:nvPicPr>
        <p:blipFill>
          <a:blip r:embed="rId17"/>
          <a:stretch/>
        </p:blipFill>
        <p:spPr>
          <a:xfrm>
            <a:off x="609480" y="4457520"/>
            <a:ext cx="5371560" cy="1828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8" name="图片 67"/>
          <p:cNvPicPr/>
          <p:nvPr/>
        </p:nvPicPr>
        <p:blipFill>
          <a:blip r:embed="rId18"/>
          <a:stretch/>
        </p:blipFill>
        <p:spPr>
          <a:xfrm>
            <a:off x="809640" y="4657680"/>
            <a:ext cx="4971600" cy="352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" name="任意多边形: 形状 68"/>
          <p:cNvSpPr/>
          <p:nvPr/>
        </p:nvSpPr>
        <p:spPr>
          <a:xfrm>
            <a:off x="809280" y="4657680"/>
            <a:ext cx="267120" cy="266760"/>
          </a:xfrm>
          <a:custGeom>
            <a:avLst/>
            <a:gdLst/>
            <a:ahLst/>
            <a:cxnLst/>
            <a:rect l="0" t="0" r="r" b="b"/>
            <a:pathLst>
              <a:path w="742" h="741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3" y="79"/>
                  <a:pt x="9" y="66"/>
                </a:cubicBezTo>
                <a:cubicBezTo>
                  <a:pt x="14" y="53"/>
                  <a:pt x="22" y="42"/>
                  <a:pt x="31" y="32"/>
                </a:cubicBezTo>
                <a:cubicBezTo>
                  <a:pt x="41" y="22"/>
                  <a:pt x="53" y="14"/>
                  <a:pt x="66" y="8"/>
                </a:cubicBezTo>
                <a:cubicBezTo>
                  <a:pt x="79" y="2"/>
                  <a:pt x="92" y="0"/>
                  <a:pt x="106" y="0"/>
                </a:cubicBezTo>
                <a:lnTo>
                  <a:pt x="636" y="0"/>
                </a:lnTo>
                <a:cubicBezTo>
                  <a:pt x="650" y="0"/>
                  <a:pt x="664" y="2"/>
                  <a:pt x="677" y="8"/>
                </a:cubicBezTo>
                <a:cubicBezTo>
                  <a:pt x="690" y="14"/>
                  <a:pt x="701" y="22"/>
                  <a:pt x="711" y="32"/>
                </a:cubicBezTo>
                <a:cubicBezTo>
                  <a:pt x="721" y="42"/>
                  <a:pt x="729" y="53"/>
                  <a:pt x="734" y="66"/>
                </a:cubicBezTo>
                <a:cubicBezTo>
                  <a:pt x="740" y="79"/>
                  <a:pt x="742" y="92"/>
                  <a:pt x="742" y="106"/>
                </a:cubicBezTo>
                <a:lnTo>
                  <a:pt x="742" y="636"/>
                </a:lnTo>
                <a:cubicBezTo>
                  <a:pt x="742" y="650"/>
                  <a:pt x="740" y="663"/>
                  <a:pt x="734" y="676"/>
                </a:cubicBezTo>
                <a:cubicBezTo>
                  <a:pt x="729" y="689"/>
                  <a:pt x="721" y="701"/>
                  <a:pt x="711" y="710"/>
                </a:cubicBezTo>
                <a:cubicBezTo>
                  <a:pt x="701" y="720"/>
                  <a:pt x="690" y="728"/>
                  <a:pt x="677" y="733"/>
                </a:cubicBezTo>
                <a:cubicBezTo>
                  <a:pt x="664" y="739"/>
                  <a:pt x="650" y="741"/>
                  <a:pt x="636" y="741"/>
                </a:cubicBezTo>
                <a:lnTo>
                  <a:pt x="106" y="741"/>
                </a:lnTo>
                <a:cubicBezTo>
                  <a:pt x="92" y="741"/>
                  <a:pt x="79" y="739"/>
                  <a:pt x="66" y="733"/>
                </a:cubicBezTo>
                <a:cubicBezTo>
                  <a:pt x="53" y="728"/>
                  <a:pt x="41" y="720"/>
                  <a:pt x="31" y="710"/>
                </a:cubicBezTo>
                <a:cubicBezTo>
                  <a:pt x="22" y="701"/>
                  <a:pt x="14" y="689"/>
                  <a:pt x="9" y="676"/>
                </a:cubicBezTo>
                <a:cubicBezTo>
                  <a:pt x="3" y="663"/>
                  <a:pt x="0" y="650"/>
                  <a:pt x="0" y="636"/>
                </a:cubicBezTo>
                <a:close/>
              </a:path>
            </a:pathLst>
          </a:custGeom>
          <a:solidFill>
            <a:srgbClr val="DBEAFE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SansSC"/>
            </a:endParaRPr>
          </a:p>
        </p:txBody>
      </p:sp>
      <p:sp>
        <p:nvSpPr>
          <p:cNvPr id="70" name="任意多边形: 形状 69"/>
          <p:cNvSpPr/>
          <p:nvPr/>
        </p:nvSpPr>
        <p:spPr>
          <a:xfrm>
            <a:off x="885600" y="4733640"/>
            <a:ext cx="114840" cy="114840"/>
          </a:xfrm>
          <a:custGeom>
            <a:avLst/>
            <a:gdLst/>
            <a:ahLst/>
            <a:cxnLst/>
            <a:rect l="0" t="0" r="r" b="b"/>
            <a:pathLst>
              <a:path w="319" h="319" fill="none">
                <a:moveTo>
                  <a:pt x="283" y="142"/>
                </a:moveTo>
                <a:lnTo>
                  <a:pt x="35" y="142"/>
                </a:lnTo>
                <a:moveTo>
                  <a:pt x="283" y="142"/>
                </a:moveTo>
                <a:cubicBezTo>
                  <a:pt x="288" y="142"/>
                  <a:pt x="293" y="143"/>
                  <a:pt x="297" y="145"/>
                </a:cubicBezTo>
                <a:cubicBezTo>
                  <a:pt x="301" y="147"/>
                  <a:pt x="305" y="149"/>
                  <a:pt x="308" y="153"/>
                </a:cubicBezTo>
                <a:cubicBezTo>
                  <a:pt x="312" y="156"/>
                  <a:pt x="314" y="160"/>
                  <a:pt x="316" y="164"/>
                </a:cubicBezTo>
                <a:cubicBezTo>
                  <a:pt x="318" y="169"/>
                  <a:pt x="319" y="173"/>
                  <a:pt x="319" y="178"/>
                </a:cubicBezTo>
                <a:lnTo>
                  <a:pt x="319" y="284"/>
                </a:lnTo>
                <a:cubicBezTo>
                  <a:pt x="319" y="288"/>
                  <a:pt x="318" y="293"/>
                  <a:pt x="316" y="297"/>
                </a:cubicBezTo>
                <a:cubicBezTo>
                  <a:pt x="314" y="301"/>
                  <a:pt x="312" y="305"/>
                  <a:pt x="308" y="308"/>
                </a:cubicBezTo>
                <a:cubicBezTo>
                  <a:pt x="305" y="312"/>
                  <a:pt x="301" y="314"/>
                  <a:pt x="297" y="316"/>
                </a:cubicBezTo>
                <a:cubicBezTo>
                  <a:pt x="293" y="318"/>
                  <a:pt x="288" y="319"/>
                  <a:pt x="283" y="319"/>
                </a:cubicBezTo>
                <a:lnTo>
                  <a:pt x="35" y="319"/>
                </a:lnTo>
                <a:cubicBezTo>
                  <a:pt x="31" y="319"/>
                  <a:pt x="26" y="318"/>
                  <a:pt x="22" y="316"/>
                </a:cubicBezTo>
                <a:cubicBezTo>
                  <a:pt x="18" y="314"/>
                  <a:pt x="14" y="312"/>
                  <a:pt x="10" y="308"/>
                </a:cubicBezTo>
                <a:cubicBezTo>
                  <a:pt x="7" y="305"/>
                  <a:pt x="5" y="301"/>
                  <a:pt x="3" y="297"/>
                </a:cubicBezTo>
                <a:cubicBezTo>
                  <a:pt x="1" y="293"/>
                  <a:pt x="0" y="288"/>
                  <a:pt x="0" y="284"/>
                </a:cubicBezTo>
                <a:lnTo>
                  <a:pt x="0" y="178"/>
                </a:lnTo>
                <a:cubicBezTo>
                  <a:pt x="0" y="173"/>
                  <a:pt x="1" y="169"/>
                  <a:pt x="3" y="164"/>
                </a:cubicBezTo>
                <a:cubicBezTo>
                  <a:pt x="5" y="160"/>
                  <a:pt x="7" y="156"/>
                  <a:pt x="10" y="153"/>
                </a:cubicBezTo>
                <a:cubicBezTo>
                  <a:pt x="14" y="149"/>
                  <a:pt x="18" y="147"/>
                  <a:pt x="22" y="145"/>
                </a:cubicBezTo>
                <a:cubicBezTo>
                  <a:pt x="26" y="143"/>
                  <a:pt x="31" y="142"/>
                  <a:pt x="35" y="142"/>
                </a:cubicBezTo>
                <a:moveTo>
                  <a:pt x="283" y="142"/>
                </a:moveTo>
                <a:lnTo>
                  <a:pt x="283" y="107"/>
                </a:lnTo>
                <a:cubicBezTo>
                  <a:pt x="283" y="102"/>
                  <a:pt x="282" y="98"/>
                  <a:pt x="281" y="94"/>
                </a:cubicBezTo>
                <a:cubicBezTo>
                  <a:pt x="279" y="89"/>
                  <a:pt x="276" y="85"/>
                  <a:pt x="273" y="82"/>
                </a:cubicBezTo>
                <a:cubicBezTo>
                  <a:pt x="270" y="79"/>
                  <a:pt x="266" y="76"/>
                  <a:pt x="262" y="75"/>
                </a:cubicBezTo>
                <a:cubicBezTo>
                  <a:pt x="257" y="73"/>
                  <a:pt x="253" y="72"/>
                  <a:pt x="248" y="72"/>
                </a:cubicBezTo>
                <a:moveTo>
                  <a:pt x="35" y="142"/>
                </a:moveTo>
                <a:lnTo>
                  <a:pt x="35" y="107"/>
                </a:lnTo>
                <a:cubicBezTo>
                  <a:pt x="35" y="102"/>
                  <a:pt x="36" y="98"/>
                  <a:pt x="38" y="94"/>
                </a:cubicBezTo>
                <a:cubicBezTo>
                  <a:pt x="40" y="89"/>
                  <a:pt x="42" y="85"/>
                  <a:pt x="46" y="82"/>
                </a:cubicBezTo>
                <a:cubicBezTo>
                  <a:pt x="49" y="79"/>
                  <a:pt x="53" y="76"/>
                  <a:pt x="57" y="75"/>
                </a:cubicBezTo>
                <a:cubicBezTo>
                  <a:pt x="62" y="73"/>
                  <a:pt x="66" y="72"/>
                  <a:pt x="71" y="72"/>
                </a:cubicBezTo>
                <a:moveTo>
                  <a:pt x="71" y="72"/>
                </a:moveTo>
                <a:lnTo>
                  <a:pt x="71" y="37"/>
                </a:lnTo>
                <a:cubicBezTo>
                  <a:pt x="71" y="32"/>
                  <a:pt x="72" y="27"/>
                  <a:pt x="73" y="23"/>
                </a:cubicBezTo>
                <a:cubicBezTo>
                  <a:pt x="75" y="19"/>
                  <a:pt x="78" y="15"/>
                  <a:pt x="81" y="12"/>
                </a:cubicBezTo>
                <a:cubicBezTo>
                  <a:pt x="84" y="8"/>
                  <a:pt x="88" y="5"/>
                  <a:pt x="92" y="3"/>
                </a:cubicBezTo>
                <a:cubicBezTo>
                  <a:pt x="97" y="1"/>
                  <a:pt x="101" y="0"/>
                  <a:pt x="106" y="0"/>
                </a:cubicBezTo>
                <a:lnTo>
                  <a:pt x="212" y="0"/>
                </a:lnTo>
                <a:cubicBezTo>
                  <a:pt x="216" y="0"/>
                  <a:pt x="221" y="1"/>
                  <a:pt x="225" y="3"/>
                </a:cubicBezTo>
                <a:cubicBezTo>
                  <a:pt x="230" y="5"/>
                  <a:pt x="233" y="8"/>
                  <a:pt x="238" y="12"/>
                </a:cubicBezTo>
                <a:cubicBezTo>
                  <a:pt x="241" y="15"/>
                  <a:pt x="244" y="19"/>
                  <a:pt x="245" y="23"/>
                </a:cubicBezTo>
                <a:cubicBezTo>
                  <a:pt x="247" y="27"/>
                  <a:pt x="248" y="32"/>
                  <a:pt x="248" y="37"/>
                </a:cubicBezTo>
                <a:lnTo>
                  <a:pt x="248" y="72"/>
                </a:lnTo>
                <a:moveTo>
                  <a:pt x="71" y="72"/>
                </a:moveTo>
                <a:lnTo>
                  <a:pt x="248" y="72"/>
                </a:lnTo>
              </a:path>
            </a:pathLst>
          </a:custGeom>
          <a:ln w="12600" cap="rnd">
            <a:solidFill>
              <a:srgbClr val="0052D9"/>
            </a:solidFill>
            <a:round/>
          </a:ln>
        </p:spPr>
        <p:txBody>
          <a:bodyPr lIns="6120" tIns="6120" rIns="6120" bIns="612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SansSC"/>
            </a:endParaRPr>
          </a:p>
        </p:txBody>
      </p:sp>
      <p:pic>
        <p:nvPicPr>
          <p:cNvPr id="72" name="图片 71"/>
          <p:cNvPicPr/>
          <p:nvPr/>
        </p:nvPicPr>
        <p:blipFill>
          <a:blip r:embed="rId19"/>
          <a:stretch/>
        </p:blipFill>
        <p:spPr>
          <a:xfrm>
            <a:off x="809640" y="5124600"/>
            <a:ext cx="2409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" name="任意多边形: 形状 72"/>
          <p:cNvSpPr/>
          <p:nvPr/>
        </p:nvSpPr>
        <p:spPr>
          <a:xfrm>
            <a:off x="895320" y="5314680"/>
            <a:ext cx="57240" cy="57600"/>
          </a:xfrm>
          <a:custGeom>
            <a:avLst/>
            <a:gdLst/>
            <a:ahLst/>
            <a:cxnLst/>
            <a:rect l="0" t="0" r="r" b="b"/>
            <a:pathLst>
              <a:path w="159" h="160">
                <a:moveTo>
                  <a:pt x="159" y="81"/>
                </a:moveTo>
                <a:cubicBezTo>
                  <a:pt x="159" y="91"/>
                  <a:pt x="157" y="101"/>
                  <a:pt x="153" y="111"/>
                </a:cubicBezTo>
                <a:cubicBezTo>
                  <a:pt x="149" y="121"/>
                  <a:pt x="144" y="129"/>
                  <a:pt x="136" y="137"/>
                </a:cubicBezTo>
                <a:cubicBezTo>
                  <a:pt x="129" y="144"/>
                  <a:pt x="119" y="150"/>
                  <a:pt x="109" y="154"/>
                </a:cubicBezTo>
                <a:cubicBezTo>
                  <a:pt x="100" y="158"/>
                  <a:pt x="89" y="160"/>
                  <a:pt x="79" y="160"/>
                </a:cubicBezTo>
                <a:cubicBezTo>
                  <a:pt x="68" y="160"/>
                  <a:pt x="58" y="158"/>
                  <a:pt x="49" y="154"/>
                </a:cubicBezTo>
                <a:cubicBezTo>
                  <a:pt x="39" y="150"/>
                  <a:pt x="30" y="144"/>
                  <a:pt x="23" y="137"/>
                </a:cubicBezTo>
                <a:cubicBezTo>
                  <a:pt x="15" y="129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1"/>
                  <a:pt x="15" y="32"/>
                  <a:pt x="23" y="24"/>
                </a:cubicBezTo>
                <a:cubicBezTo>
                  <a:pt x="30" y="17"/>
                  <a:pt x="39" y="11"/>
                  <a:pt x="49" y="6"/>
                </a:cubicBezTo>
                <a:cubicBezTo>
                  <a:pt x="58" y="2"/>
                  <a:pt x="68" y="0"/>
                  <a:pt x="79" y="0"/>
                </a:cubicBezTo>
                <a:cubicBezTo>
                  <a:pt x="89" y="0"/>
                  <a:pt x="100" y="2"/>
                  <a:pt x="109" y="6"/>
                </a:cubicBezTo>
                <a:cubicBezTo>
                  <a:pt x="119" y="11"/>
                  <a:pt x="129" y="17"/>
                  <a:pt x="136" y="24"/>
                </a:cubicBezTo>
                <a:cubicBezTo>
                  <a:pt x="144" y="32"/>
                  <a:pt x="149" y="41"/>
                  <a:pt x="153" y="50"/>
                </a:cubicBezTo>
                <a:cubicBezTo>
                  <a:pt x="157" y="60"/>
                  <a:pt x="159" y="70"/>
                  <a:pt x="159" y="81"/>
                </a:cubicBezTo>
                <a:close/>
              </a:path>
            </a:pathLst>
          </a:custGeom>
          <a:solidFill>
            <a:srgbClr val="0052D9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SansSC"/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1152360" y="4662000"/>
            <a:ext cx="1692771" cy="18466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00" b="0" u="none" strike="noStrike" dirty="0">
                <a:solidFill>
                  <a:srgbClr val="334155"/>
                </a:solidFill>
                <a:effectLst/>
                <a:uFillTx/>
                <a:latin typeface="NotoSansSC"/>
                <a:ea typeface="NotoSansCJKsc"/>
              </a:rPr>
              <a:t>底层资源⽀撑：记忆系统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NotoSansSC"/>
            </a:endParaRPr>
          </a:p>
        </p:txBody>
      </p:sp>
      <p:sp>
        <p:nvSpPr>
          <p:cNvPr id="75" name="文本框 74"/>
          <p:cNvSpPr txBox="1"/>
          <p:nvPr/>
        </p:nvSpPr>
        <p:spPr>
          <a:xfrm>
            <a:off x="1028520" y="5270400"/>
            <a:ext cx="605935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 dirty="0">
                <a:solidFill>
                  <a:srgbClr val="475569"/>
                </a:solidFill>
                <a:effectLst/>
                <a:uFillTx/>
                <a:latin typeface="NotoSansSC"/>
                <a:ea typeface="Arial"/>
              </a:rPr>
              <a:t>_index.md 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NotoSansSC"/>
            </a:endParaRPr>
          </a:p>
        </p:txBody>
      </p:sp>
      <p:pic>
        <p:nvPicPr>
          <p:cNvPr id="76" name="图片 75"/>
          <p:cNvPicPr/>
          <p:nvPr/>
        </p:nvPicPr>
        <p:blipFill>
          <a:blip r:embed="rId19"/>
          <a:stretch/>
        </p:blipFill>
        <p:spPr>
          <a:xfrm>
            <a:off x="3371760" y="5124600"/>
            <a:ext cx="2409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任意多边形: 形状 76"/>
          <p:cNvSpPr/>
          <p:nvPr/>
        </p:nvSpPr>
        <p:spPr>
          <a:xfrm>
            <a:off x="3457440" y="5314680"/>
            <a:ext cx="57600" cy="57600"/>
          </a:xfrm>
          <a:custGeom>
            <a:avLst/>
            <a:gdLst/>
            <a:ahLst/>
            <a:cxnLst/>
            <a:rect l="0" t="0" r="r" b="b"/>
            <a:pathLst>
              <a:path w="160" h="160">
                <a:moveTo>
                  <a:pt x="160" y="81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1"/>
                  <a:pt x="144" y="129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0" y="158"/>
                  <a:pt x="90" y="160"/>
                  <a:pt x="79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39" y="150"/>
                  <a:pt x="31" y="144"/>
                  <a:pt x="23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1"/>
                  <a:pt x="16" y="32"/>
                  <a:pt x="23" y="24"/>
                </a:cubicBezTo>
                <a:cubicBezTo>
                  <a:pt x="31" y="17"/>
                  <a:pt x="39" y="11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0" y="2"/>
                  <a:pt x="110" y="6"/>
                </a:cubicBezTo>
                <a:cubicBezTo>
                  <a:pt x="120" y="11"/>
                  <a:pt x="129" y="17"/>
                  <a:pt x="136" y="24"/>
                </a:cubicBezTo>
                <a:cubicBezTo>
                  <a:pt x="144" y="32"/>
                  <a:pt x="150" y="41"/>
                  <a:pt x="154" y="50"/>
                </a:cubicBezTo>
                <a:cubicBezTo>
                  <a:pt x="158" y="60"/>
                  <a:pt x="160" y="70"/>
                  <a:pt x="160" y="81"/>
                </a:cubicBezTo>
                <a:close/>
              </a:path>
            </a:pathLst>
          </a:custGeom>
          <a:solidFill>
            <a:srgbClr val="0052D9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SansSC"/>
            </a:endParaRPr>
          </a:p>
        </p:txBody>
      </p:sp>
      <p:sp>
        <p:nvSpPr>
          <p:cNvPr id="78" name="文本框 77"/>
          <p:cNvSpPr txBox="1"/>
          <p:nvPr/>
        </p:nvSpPr>
        <p:spPr>
          <a:xfrm>
            <a:off x="1680840" y="5236560"/>
            <a:ext cx="269304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475569"/>
                </a:solidFill>
                <a:effectLst/>
                <a:uFillTx/>
                <a:latin typeface="NotoSansSC"/>
                <a:ea typeface="NotoSansCJKsc"/>
              </a:rPr>
              <a:t>⼊⼝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SansSC"/>
            </a:endParaRPr>
          </a:p>
        </p:txBody>
      </p:sp>
      <p:pic>
        <p:nvPicPr>
          <p:cNvPr id="79" name="图片 78"/>
          <p:cNvPicPr/>
          <p:nvPr/>
        </p:nvPicPr>
        <p:blipFill>
          <a:blip r:embed="rId20"/>
          <a:stretch/>
        </p:blipFill>
        <p:spPr>
          <a:xfrm>
            <a:off x="809640" y="5648400"/>
            <a:ext cx="2409480" cy="437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0" name="任意多边形: 形状 79"/>
          <p:cNvSpPr/>
          <p:nvPr/>
        </p:nvSpPr>
        <p:spPr>
          <a:xfrm>
            <a:off x="895320" y="5838480"/>
            <a:ext cx="57240" cy="57600"/>
          </a:xfrm>
          <a:custGeom>
            <a:avLst/>
            <a:gdLst/>
            <a:ahLst/>
            <a:cxnLst/>
            <a:rect l="0" t="0" r="r" b="b"/>
            <a:pathLst>
              <a:path w="159" h="160">
                <a:moveTo>
                  <a:pt x="159" y="80"/>
                </a:moveTo>
                <a:cubicBezTo>
                  <a:pt x="159" y="90"/>
                  <a:pt x="157" y="100"/>
                  <a:pt x="153" y="110"/>
                </a:cubicBezTo>
                <a:cubicBezTo>
                  <a:pt x="149" y="120"/>
                  <a:pt x="144" y="129"/>
                  <a:pt x="136" y="137"/>
                </a:cubicBezTo>
                <a:cubicBezTo>
                  <a:pt x="129" y="144"/>
                  <a:pt x="119" y="150"/>
                  <a:pt x="109" y="154"/>
                </a:cubicBezTo>
                <a:cubicBezTo>
                  <a:pt x="100" y="158"/>
                  <a:pt x="89" y="160"/>
                  <a:pt x="79" y="160"/>
                </a:cubicBezTo>
                <a:cubicBezTo>
                  <a:pt x="68" y="160"/>
                  <a:pt x="58" y="158"/>
                  <a:pt x="49" y="154"/>
                </a:cubicBezTo>
                <a:cubicBezTo>
                  <a:pt x="39" y="150"/>
                  <a:pt x="30" y="144"/>
                  <a:pt x="23" y="137"/>
                </a:cubicBezTo>
                <a:cubicBezTo>
                  <a:pt x="15" y="129"/>
                  <a:pt x="10" y="120"/>
                  <a:pt x="6" y="110"/>
                </a:cubicBezTo>
                <a:cubicBezTo>
                  <a:pt x="2" y="100"/>
                  <a:pt x="0" y="90"/>
                  <a:pt x="0" y="80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5" y="31"/>
                  <a:pt x="23" y="24"/>
                </a:cubicBezTo>
                <a:cubicBezTo>
                  <a:pt x="30" y="16"/>
                  <a:pt x="39" y="11"/>
                  <a:pt x="49" y="6"/>
                </a:cubicBezTo>
                <a:cubicBezTo>
                  <a:pt x="58" y="2"/>
                  <a:pt x="68" y="0"/>
                  <a:pt x="79" y="0"/>
                </a:cubicBezTo>
                <a:cubicBezTo>
                  <a:pt x="89" y="0"/>
                  <a:pt x="100" y="2"/>
                  <a:pt x="109" y="6"/>
                </a:cubicBezTo>
                <a:cubicBezTo>
                  <a:pt x="119" y="11"/>
                  <a:pt x="129" y="16"/>
                  <a:pt x="136" y="24"/>
                </a:cubicBezTo>
                <a:cubicBezTo>
                  <a:pt x="144" y="31"/>
                  <a:pt x="149" y="40"/>
                  <a:pt x="153" y="49"/>
                </a:cubicBezTo>
                <a:cubicBezTo>
                  <a:pt x="157" y="59"/>
                  <a:pt x="159" y="69"/>
                  <a:pt x="159" y="80"/>
                </a:cubicBezTo>
                <a:close/>
              </a:path>
            </a:pathLst>
          </a:custGeom>
          <a:solidFill>
            <a:srgbClr val="0052D9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SansSC"/>
            </a:endParaRPr>
          </a:p>
        </p:txBody>
      </p:sp>
      <p:sp>
        <p:nvSpPr>
          <p:cNvPr id="81" name="文本框 80"/>
          <p:cNvSpPr txBox="1"/>
          <p:nvPr/>
        </p:nvSpPr>
        <p:spPr>
          <a:xfrm>
            <a:off x="3591000" y="5236560"/>
            <a:ext cx="673261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475569"/>
                </a:solidFill>
                <a:effectLst/>
                <a:uFillTx/>
                <a:latin typeface="NotoSansSC"/>
                <a:ea typeface="NotoSansCJKsc"/>
              </a:rPr>
              <a:t>领域级记忆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SansSC"/>
            </a:endParaRPr>
          </a:p>
        </p:txBody>
      </p:sp>
      <p:pic>
        <p:nvPicPr>
          <p:cNvPr id="82" name="图片 81"/>
          <p:cNvPicPr/>
          <p:nvPr/>
        </p:nvPicPr>
        <p:blipFill>
          <a:blip r:embed="rId20"/>
          <a:stretch/>
        </p:blipFill>
        <p:spPr>
          <a:xfrm>
            <a:off x="3371760" y="5648400"/>
            <a:ext cx="2409480" cy="437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3" name="任意多边形: 形状 82"/>
          <p:cNvSpPr/>
          <p:nvPr/>
        </p:nvSpPr>
        <p:spPr>
          <a:xfrm>
            <a:off x="3457440" y="5838480"/>
            <a:ext cx="57600" cy="57600"/>
          </a:xfrm>
          <a:custGeom>
            <a:avLst/>
            <a:gdLst/>
            <a:ahLst/>
            <a:cxnLst/>
            <a:rect l="0" t="0" r="r" b="b"/>
            <a:pathLst>
              <a:path w="160" h="160">
                <a:moveTo>
                  <a:pt x="160" y="80"/>
                </a:moveTo>
                <a:cubicBezTo>
                  <a:pt x="160" y="90"/>
                  <a:pt x="158" y="100"/>
                  <a:pt x="154" y="110"/>
                </a:cubicBezTo>
                <a:cubicBezTo>
                  <a:pt x="150" y="120"/>
                  <a:pt x="144" y="129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0" y="158"/>
                  <a:pt x="90" y="160"/>
                  <a:pt x="79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39" y="150"/>
                  <a:pt x="31" y="144"/>
                  <a:pt x="23" y="137"/>
                </a:cubicBezTo>
                <a:cubicBezTo>
                  <a:pt x="16" y="129"/>
                  <a:pt x="10" y="120"/>
                  <a:pt x="6" y="110"/>
                </a:cubicBezTo>
                <a:cubicBezTo>
                  <a:pt x="2" y="100"/>
                  <a:pt x="0" y="90"/>
                  <a:pt x="0" y="80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6" y="31"/>
                  <a:pt x="23" y="24"/>
                </a:cubicBezTo>
                <a:cubicBezTo>
                  <a:pt x="31" y="16"/>
                  <a:pt x="39" y="11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0" y="2"/>
                  <a:pt x="110" y="6"/>
                </a:cubicBezTo>
                <a:cubicBezTo>
                  <a:pt x="120" y="11"/>
                  <a:pt x="129" y="16"/>
                  <a:pt x="136" y="24"/>
                </a:cubicBezTo>
                <a:cubicBezTo>
                  <a:pt x="144" y="31"/>
                  <a:pt x="150" y="40"/>
                  <a:pt x="154" y="49"/>
                </a:cubicBezTo>
                <a:cubicBezTo>
                  <a:pt x="158" y="59"/>
                  <a:pt x="160" y="69"/>
                  <a:pt x="160" y="80"/>
                </a:cubicBezTo>
                <a:close/>
              </a:path>
            </a:pathLst>
          </a:custGeom>
          <a:solidFill>
            <a:srgbClr val="0052D9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SansSC"/>
            </a:endParaRPr>
          </a:p>
        </p:txBody>
      </p:sp>
      <p:sp>
        <p:nvSpPr>
          <p:cNvPr id="84" name="文本框 83"/>
          <p:cNvSpPr txBox="1"/>
          <p:nvPr/>
        </p:nvSpPr>
        <p:spPr>
          <a:xfrm>
            <a:off x="1028520" y="5760360"/>
            <a:ext cx="673261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475569"/>
                </a:solidFill>
                <a:effectLst/>
                <a:uFillTx/>
                <a:latin typeface="NotoSansSC"/>
                <a:ea typeface="NotoSansCJKsc"/>
              </a:rPr>
              <a:t>需求级记忆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SansSC"/>
            </a:endParaRPr>
          </a:p>
        </p:txBody>
      </p:sp>
      <p:sp>
        <p:nvSpPr>
          <p:cNvPr id="85" name="文本框 84"/>
          <p:cNvSpPr txBox="1"/>
          <p:nvPr/>
        </p:nvSpPr>
        <p:spPr>
          <a:xfrm>
            <a:off x="3591000" y="5760360"/>
            <a:ext cx="403957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475569"/>
                </a:solidFill>
                <a:effectLst/>
                <a:uFillTx/>
                <a:latin typeface="NotoSansSC"/>
                <a:ea typeface="NotoSansCJKsc"/>
              </a:rPr>
              <a:t>知识库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SansSC"/>
            </a:endParaRPr>
          </a:p>
        </p:txBody>
      </p:sp>
      <p:pic>
        <p:nvPicPr>
          <p:cNvPr id="86" name="图片 85"/>
          <p:cNvPicPr/>
          <p:nvPr/>
        </p:nvPicPr>
        <p:blipFill>
          <a:blip r:embed="rId21"/>
          <a:stretch/>
        </p:blipFill>
        <p:spPr>
          <a:xfrm>
            <a:off x="6210360" y="4457520"/>
            <a:ext cx="5371560" cy="1828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7" name="图片 86"/>
          <p:cNvPicPr/>
          <p:nvPr/>
        </p:nvPicPr>
        <p:blipFill>
          <a:blip r:embed="rId18"/>
          <a:stretch/>
        </p:blipFill>
        <p:spPr>
          <a:xfrm>
            <a:off x="6410160" y="4657680"/>
            <a:ext cx="4971600" cy="352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8" name="任意多边形: 形状 87"/>
          <p:cNvSpPr/>
          <p:nvPr/>
        </p:nvSpPr>
        <p:spPr>
          <a:xfrm>
            <a:off x="6410160" y="4657680"/>
            <a:ext cx="267120" cy="266760"/>
          </a:xfrm>
          <a:custGeom>
            <a:avLst/>
            <a:gdLst/>
            <a:ahLst/>
            <a:cxnLst/>
            <a:rect l="0" t="0" r="r" b="b"/>
            <a:pathLst>
              <a:path w="742" h="741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3" y="53"/>
                  <a:pt x="21" y="42"/>
                  <a:pt x="31" y="32"/>
                </a:cubicBezTo>
                <a:cubicBezTo>
                  <a:pt x="41" y="22"/>
                  <a:pt x="52" y="14"/>
                  <a:pt x="65" y="8"/>
                </a:cubicBezTo>
                <a:cubicBezTo>
                  <a:pt x="78" y="2"/>
                  <a:pt x="92" y="0"/>
                  <a:pt x="106" y="0"/>
                </a:cubicBezTo>
                <a:lnTo>
                  <a:pt x="636" y="0"/>
                </a:lnTo>
                <a:cubicBezTo>
                  <a:pt x="650" y="0"/>
                  <a:pt x="663" y="2"/>
                  <a:pt x="676" y="8"/>
                </a:cubicBezTo>
                <a:cubicBezTo>
                  <a:pt x="689" y="14"/>
                  <a:pt x="701" y="22"/>
                  <a:pt x="711" y="32"/>
                </a:cubicBezTo>
                <a:cubicBezTo>
                  <a:pt x="721" y="42"/>
                  <a:pt x="728" y="53"/>
                  <a:pt x="734" y="66"/>
                </a:cubicBezTo>
                <a:cubicBezTo>
                  <a:pt x="739" y="79"/>
                  <a:pt x="742" y="92"/>
                  <a:pt x="742" y="106"/>
                </a:cubicBezTo>
                <a:lnTo>
                  <a:pt x="742" y="636"/>
                </a:lnTo>
                <a:cubicBezTo>
                  <a:pt x="742" y="650"/>
                  <a:pt x="739" y="663"/>
                  <a:pt x="734" y="676"/>
                </a:cubicBezTo>
                <a:cubicBezTo>
                  <a:pt x="728" y="689"/>
                  <a:pt x="721" y="701"/>
                  <a:pt x="711" y="710"/>
                </a:cubicBezTo>
                <a:cubicBezTo>
                  <a:pt x="701" y="720"/>
                  <a:pt x="689" y="728"/>
                  <a:pt x="676" y="733"/>
                </a:cubicBezTo>
                <a:cubicBezTo>
                  <a:pt x="663" y="739"/>
                  <a:pt x="650" y="741"/>
                  <a:pt x="636" y="741"/>
                </a:cubicBezTo>
                <a:lnTo>
                  <a:pt x="106" y="741"/>
                </a:lnTo>
                <a:cubicBezTo>
                  <a:pt x="92" y="741"/>
                  <a:pt x="78" y="739"/>
                  <a:pt x="65" y="733"/>
                </a:cubicBezTo>
                <a:cubicBezTo>
                  <a:pt x="52" y="728"/>
                  <a:pt x="41" y="720"/>
                  <a:pt x="31" y="710"/>
                </a:cubicBezTo>
                <a:cubicBezTo>
                  <a:pt x="21" y="701"/>
                  <a:pt x="13" y="689"/>
                  <a:pt x="8" y="676"/>
                </a:cubicBezTo>
                <a:cubicBezTo>
                  <a:pt x="3" y="663"/>
                  <a:pt x="0" y="650"/>
                  <a:pt x="0" y="636"/>
                </a:cubicBezTo>
                <a:close/>
              </a:path>
            </a:pathLst>
          </a:custGeom>
          <a:solidFill>
            <a:srgbClr val="FFEDD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SansSC"/>
            </a:endParaRPr>
          </a:p>
        </p:txBody>
      </p:sp>
      <p:sp>
        <p:nvSpPr>
          <p:cNvPr id="89" name="任意多边形: 形状 88"/>
          <p:cNvSpPr/>
          <p:nvPr/>
        </p:nvSpPr>
        <p:spPr>
          <a:xfrm>
            <a:off x="6486480" y="4733640"/>
            <a:ext cx="114840" cy="114840"/>
          </a:xfrm>
          <a:custGeom>
            <a:avLst/>
            <a:gdLst/>
            <a:ahLst/>
            <a:cxnLst/>
            <a:rect l="0" t="0" r="r" b="b"/>
            <a:pathLst>
              <a:path w="319" h="319" fill="none">
                <a:moveTo>
                  <a:pt x="129" y="24"/>
                </a:moveTo>
                <a:cubicBezTo>
                  <a:pt x="136" y="-8"/>
                  <a:pt x="180" y="-8"/>
                  <a:pt x="188" y="24"/>
                </a:cubicBezTo>
                <a:cubicBezTo>
                  <a:pt x="189" y="28"/>
                  <a:pt x="191" y="32"/>
                  <a:pt x="194" y="36"/>
                </a:cubicBezTo>
                <a:cubicBezTo>
                  <a:pt x="198" y="40"/>
                  <a:pt x="201" y="43"/>
                  <a:pt x="206" y="44"/>
                </a:cubicBezTo>
                <a:cubicBezTo>
                  <a:pt x="211" y="46"/>
                  <a:pt x="216" y="47"/>
                  <a:pt x="221" y="47"/>
                </a:cubicBezTo>
                <a:cubicBezTo>
                  <a:pt x="226" y="46"/>
                  <a:pt x="230" y="45"/>
                  <a:pt x="234" y="42"/>
                </a:cubicBezTo>
                <a:cubicBezTo>
                  <a:pt x="262" y="26"/>
                  <a:pt x="293" y="57"/>
                  <a:pt x="276" y="84"/>
                </a:cubicBezTo>
                <a:cubicBezTo>
                  <a:pt x="274" y="88"/>
                  <a:pt x="272" y="93"/>
                  <a:pt x="272" y="98"/>
                </a:cubicBezTo>
                <a:cubicBezTo>
                  <a:pt x="271" y="102"/>
                  <a:pt x="272" y="107"/>
                  <a:pt x="274" y="112"/>
                </a:cubicBezTo>
                <a:cubicBezTo>
                  <a:pt x="276" y="116"/>
                  <a:pt x="279" y="120"/>
                  <a:pt x="282" y="123"/>
                </a:cubicBezTo>
                <a:cubicBezTo>
                  <a:pt x="286" y="126"/>
                  <a:pt x="290" y="128"/>
                  <a:pt x="295" y="129"/>
                </a:cubicBezTo>
                <a:cubicBezTo>
                  <a:pt x="326" y="137"/>
                  <a:pt x="326" y="181"/>
                  <a:pt x="295" y="189"/>
                </a:cubicBezTo>
                <a:cubicBezTo>
                  <a:pt x="290" y="190"/>
                  <a:pt x="286" y="192"/>
                  <a:pt x="282" y="195"/>
                </a:cubicBezTo>
                <a:cubicBezTo>
                  <a:pt x="279" y="198"/>
                  <a:pt x="276" y="202"/>
                  <a:pt x="274" y="207"/>
                </a:cubicBezTo>
                <a:cubicBezTo>
                  <a:pt x="272" y="211"/>
                  <a:pt x="271" y="216"/>
                  <a:pt x="272" y="220"/>
                </a:cubicBezTo>
                <a:cubicBezTo>
                  <a:pt x="272" y="225"/>
                  <a:pt x="274" y="230"/>
                  <a:pt x="276" y="234"/>
                </a:cubicBezTo>
                <a:cubicBezTo>
                  <a:pt x="293" y="261"/>
                  <a:pt x="262" y="292"/>
                  <a:pt x="234" y="276"/>
                </a:cubicBezTo>
                <a:cubicBezTo>
                  <a:pt x="230" y="273"/>
                  <a:pt x="226" y="272"/>
                  <a:pt x="221" y="271"/>
                </a:cubicBezTo>
                <a:cubicBezTo>
                  <a:pt x="216" y="271"/>
                  <a:pt x="211" y="272"/>
                  <a:pt x="206" y="274"/>
                </a:cubicBezTo>
                <a:cubicBezTo>
                  <a:pt x="201" y="276"/>
                  <a:pt x="198" y="278"/>
                  <a:pt x="194" y="282"/>
                </a:cubicBezTo>
                <a:cubicBezTo>
                  <a:pt x="191" y="286"/>
                  <a:pt x="189" y="290"/>
                  <a:pt x="188" y="295"/>
                </a:cubicBezTo>
                <a:cubicBezTo>
                  <a:pt x="180" y="327"/>
                  <a:pt x="136" y="327"/>
                  <a:pt x="129" y="295"/>
                </a:cubicBezTo>
                <a:cubicBezTo>
                  <a:pt x="128" y="290"/>
                  <a:pt x="126" y="286"/>
                  <a:pt x="122" y="282"/>
                </a:cubicBezTo>
                <a:cubicBezTo>
                  <a:pt x="119" y="278"/>
                  <a:pt x="115" y="275"/>
                  <a:pt x="111" y="274"/>
                </a:cubicBezTo>
                <a:cubicBezTo>
                  <a:pt x="106" y="272"/>
                  <a:pt x="102" y="271"/>
                  <a:pt x="97" y="271"/>
                </a:cubicBezTo>
                <a:cubicBezTo>
                  <a:pt x="92" y="272"/>
                  <a:pt x="88" y="273"/>
                  <a:pt x="83" y="276"/>
                </a:cubicBezTo>
                <a:cubicBezTo>
                  <a:pt x="56" y="292"/>
                  <a:pt x="25" y="261"/>
                  <a:pt x="42" y="234"/>
                </a:cubicBezTo>
                <a:cubicBezTo>
                  <a:pt x="44" y="230"/>
                  <a:pt x="46" y="225"/>
                  <a:pt x="46" y="220"/>
                </a:cubicBezTo>
                <a:cubicBezTo>
                  <a:pt x="46" y="216"/>
                  <a:pt x="46" y="211"/>
                  <a:pt x="44" y="207"/>
                </a:cubicBezTo>
                <a:cubicBezTo>
                  <a:pt x="42" y="202"/>
                  <a:pt x="39" y="198"/>
                  <a:pt x="35" y="195"/>
                </a:cubicBezTo>
                <a:cubicBezTo>
                  <a:pt x="32" y="192"/>
                  <a:pt x="28" y="190"/>
                  <a:pt x="23" y="189"/>
                </a:cubicBezTo>
                <a:cubicBezTo>
                  <a:pt x="-8" y="181"/>
                  <a:pt x="-8" y="137"/>
                  <a:pt x="23" y="129"/>
                </a:cubicBezTo>
                <a:cubicBezTo>
                  <a:pt x="28" y="128"/>
                  <a:pt x="32" y="126"/>
                  <a:pt x="35" y="123"/>
                </a:cubicBezTo>
                <a:cubicBezTo>
                  <a:pt x="39" y="120"/>
                  <a:pt x="42" y="116"/>
                  <a:pt x="44" y="112"/>
                </a:cubicBezTo>
                <a:cubicBezTo>
                  <a:pt x="46" y="107"/>
                  <a:pt x="46" y="102"/>
                  <a:pt x="46" y="98"/>
                </a:cubicBezTo>
                <a:cubicBezTo>
                  <a:pt x="46" y="93"/>
                  <a:pt x="44" y="88"/>
                  <a:pt x="42" y="84"/>
                </a:cubicBezTo>
                <a:cubicBezTo>
                  <a:pt x="25" y="57"/>
                  <a:pt x="56" y="26"/>
                  <a:pt x="83" y="42"/>
                </a:cubicBezTo>
                <a:cubicBezTo>
                  <a:pt x="101" y="53"/>
                  <a:pt x="124" y="44"/>
                  <a:pt x="129" y="24"/>
                </a:cubicBezTo>
              </a:path>
            </a:pathLst>
          </a:custGeom>
          <a:ln w="12600" cap="rnd">
            <a:solidFill>
              <a:srgbClr val="FF9C00"/>
            </a:solidFill>
            <a:round/>
          </a:ln>
        </p:spPr>
        <p:txBody>
          <a:bodyPr lIns="6120" tIns="6120" rIns="6120" bIns="612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SansSC"/>
            </a:endParaRPr>
          </a:p>
        </p:txBody>
      </p:sp>
      <p:sp>
        <p:nvSpPr>
          <p:cNvPr id="90" name="任意多边形: 形状 89"/>
          <p:cNvSpPr/>
          <p:nvPr/>
        </p:nvSpPr>
        <p:spPr>
          <a:xfrm>
            <a:off x="6524280" y="4771800"/>
            <a:ext cx="38520" cy="38520"/>
          </a:xfrm>
          <a:custGeom>
            <a:avLst/>
            <a:gdLst/>
            <a:ahLst/>
            <a:cxnLst/>
            <a:rect l="0" t="0" r="r" b="b"/>
            <a:pathLst>
              <a:path w="107" h="107" fill="none">
                <a:moveTo>
                  <a:pt x="107" y="54"/>
                </a:moveTo>
                <a:cubicBezTo>
                  <a:pt x="107" y="61"/>
                  <a:pt x="106" y="68"/>
                  <a:pt x="103" y="74"/>
                </a:cubicBezTo>
                <a:cubicBezTo>
                  <a:pt x="101" y="81"/>
                  <a:pt x="97" y="86"/>
                  <a:pt x="91" y="91"/>
                </a:cubicBezTo>
                <a:cubicBezTo>
                  <a:pt x="86" y="96"/>
                  <a:pt x="80" y="100"/>
                  <a:pt x="74" y="103"/>
                </a:cubicBezTo>
                <a:cubicBezTo>
                  <a:pt x="67" y="106"/>
                  <a:pt x="60" y="107"/>
                  <a:pt x="53" y="107"/>
                </a:cubicBezTo>
                <a:cubicBezTo>
                  <a:pt x="46" y="107"/>
                  <a:pt x="40" y="106"/>
                  <a:pt x="33" y="103"/>
                </a:cubicBezTo>
                <a:cubicBezTo>
                  <a:pt x="27" y="100"/>
                  <a:pt x="21" y="96"/>
                  <a:pt x="16" y="91"/>
                </a:cubicBezTo>
                <a:cubicBezTo>
                  <a:pt x="11" y="86"/>
                  <a:pt x="7" y="81"/>
                  <a:pt x="4" y="74"/>
                </a:cubicBezTo>
                <a:cubicBezTo>
                  <a:pt x="2" y="68"/>
                  <a:pt x="0" y="61"/>
                  <a:pt x="0" y="54"/>
                </a:cubicBezTo>
                <a:cubicBezTo>
                  <a:pt x="0" y="47"/>
                  <a:pt x="2" y="40"/>
                  <a:pt x="4" y="34"/>
                </a:cubicBezTo>
                <a:cubicBezTo>
                  <a:pt x="7" y="26"/>
                  <a:pt x="11" y="21"/>
                  <a:pt x="16" y="16"/>
                </a:cubicBezTo>
                <a:cubicBezTo>
                  <a:pt x="21" y="11"/>
                  <a:pt x="27" y="7"/>
                  <a:pt x="33" y="4"/>
                </a:cubicBezTo>
                <a:cubicBezTo>
                  <a:pt x="40" y="1"/>
                  <a:pt x="46" y="0"/>
                  <a:pt x="53" y="0"/>
                </a:cubicBezTo>
                <a:cubicBezTo>
                  <a:pt x="60" y="0"/>
                  <a:pt x="67" y="1"/>
                  <a:pt x="74" y="4"/>
                </a:cubicBezTo>
                <a:cubicBezTo>
                  <a:pt x="80" y="7"/>
                  <a:pt x="86" y="11"/>
                  <a:pt x="91" y="16"/>
                </a:cubicBezTo>
                <a:cubicBezTo>
                  <a:pt x="97" y="21"/>
                  <a:pt x="101" y="26"/>
                  <a:pt x="103" y="34"/>
                </a:cubicBezTo>
                <a:cubicBezTo>
                  <a:pt x="106" y="40"/>
                  <a:pt x="107" y="47"/>
                  <a:pt x="107" y="54"/>
                </a:cubicBezTo>
              </a:path>
            </a:pathLst>
          </a:custGeom>
          <a:ln w="12600" cap="rnd">
            <a:solidFill>
              <a:srgbClr val="FF9C00"/>
            </a:solidFill>
            <a:round/>
          </a:ln>
        </p:spPr>
        <p:txBody>
          <a:bodyPr lIns="6120" tIns="6120" rIns="6120" bIns="612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SansSC"/>
            </a:endParaRPr>
          </a:p>
        </p:txBody>
      </p:sp>
      <p:sp>
        <p:nvSpPr>
          <p:cNvPr id="91" name="文本框 90"/>
          <p:cNvSpPr txBox="1"/>
          <p:nvPr/>
        </p:nvSpPr>
        <p:spPr>
          <a:xfrm>
            <a:off x="3990960" y="5794200"/>
            <a:ext cx="267702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NotoSansSC"/>
                <a:ea typeface="Arial"/>
              </a:rPr>
              <a:t> RAG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SansSC"/>
            </a:endParaRPr>
          </a:p>
        </p:txBody>
      </p:sp>
      <p:pic>
        <p:nvPicPr>
          <p:cNvPr id="92" name="图片 91"/>
          <p:cNvPicPr/>
          <p:nvPr/>
        </p:nvPicPr>
        <p:blipFill>
          <a:blip r:embed="rId22"/>
          <a:stretch/>
        </p:blipFill>
        <p:spPr>
          <a:xfrm>
            <a:off x="6410160" y="5124600"/>
            <a:ext cx="4971600" cy="437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3" name="任意多边形: 形状 92"/>
          <p:cNvSpPr/>
          <p:nvPr/>
        </p:nvSpPr>
        <p:spPr>
          <a:xfrm>
            <a:off x="6514920" y="5229000"/>
            <a:ext cx="228960" cy="228960"/>
          </a:xfrm>
          <a:custGeom>
            <a:avLst/>
            <a:gdLst/>
            <a:ahLst/>
            <a:cxnLst/>
            <a:rect l="0" t="0" r="r" b="b"/>
            <a:pathLst>
              <a:path w="636" h="636">
                <a:moveTo>
                  <a:pt x="0" y="530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529" y="0"/>
                </a:lnTo>
                <a:cubicBezTo>
                  <a:pt x="543" y="0"/>
                  <a:pt x="557" y="3"/>
                  <a:pt x="570" y="8"/>
                </a:cubicBezTo>
                <a:cubicBezTo>
                  <a:pt x="583" y="14"/>
                  <a:pt x="594" y="21"/>
                  <a:pt x="604" y="31"/>
                </a:cubicBezTo>
                <a:cubicBezTo>
                  <a:pt x="615" y="41"/>
                  <a:pt x="623" y="52"/>
                  <a:pt x="628" y="65"/>
                </a:cubicBezTo>
                <a:cubicBezTo>
                  <a:pt x="633" y="78"/>
                  <a:pt x="636" y="92"/>
                  <a:pt x="636" y="106"/>
                </a:cubicBezTo>
                <a:lnTo>
                  <a:pt x="636" y="530"/>
                </a:lnTo>
                <a:cubicBezTo>
                  <a:pt x="636" y="544"/>
                  <a:pt x="633" y="558"/>
                  <a:pt x="628" y="571"/>
                </a:cubicBezTo>
                <a:cubicBezTo>
                  <a:pt x="623" y="584"/>
                  <a:pt x="615" y="595"/>
                  <a:pt x="604" y="605"/>
                </a:cubicBezTo>
                <a:cubicBezTo>
                  <a:pt x="594" y="615"/>
                  <a:pt x="583" y="623"/>
                  <a:pt x="570" y="628"/>
                </a:cubicBezTo>
                <a:cubicBezTo>
                  <a:pt x="557" y="633"/>
                  <a:pt x="543" y="636"/>
                  <a:pt x="529" y="636"/>
                </a:cubicBezTo>
                <a:lnTo>
                  <a:pt x="106" y="636"/>
                </a:lnTo>
                <a:cubicBezTo>
                  <a:pt x="92" y="636"/>
                  <a:pt x="78" y="633"/>
                  <a:pt x="65" y="628"/>
                </a:cubicBezTo>
                <a:cubicBezTo>
                  <a:pt x="52" y="623"/>
                  <a:pt x="41" y="615"/>
                  <a:pt x="31" y="605"/>
                </a:cubicBezTo>
                <a:cubicBezTo>
                  <a:pt x="21" y="595"/>
                  <a:pt x="13" y="584"/>
                  <a:pt x="8" y="571"/>
                </a:cubicBezTo>
                <a:cubicBezTo>
                  <a:pt x="3" y="558"/>
                  <a:pt x="0" y="544"/>
                  <a:pt x="0" y="530"/>
                </a:cubicBezTo>
                <a:close/>
              </a:path>
            </a:pathLst>
          </a:custGeom>
          <a:solidFill>
            <a:srgbClr val="DBEAFE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SansSC"/>
            </a:endParaRPr>
          </a:p>
        </p:txBody>
      </p:sp>
      <p:sp>
        <p:nvSpPr>
          <p:cNvPr id="94" name="文本框 93"/>
          <p:cNvSpPr txBox="1"/>
          <p:nvPr/>
        </p:nvSpPr>
        <p:spPr>
          <a:xfrm>
            <a:off x="6753240" y="4662000"/>
            <a:ext cx="1538883" cy="18466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00" b="0" u="none" strike="noStrike">
                <a:solidFill>
                  <a:srgbClr val="334155"/>
                </a:solidFill>
                <a:effectLst/>
                <a:uFillTx/>
                <a:latin typeface="NotoSansSC"/>
                <a:ea typeface="NotoSansCJKsc"/>
              </a:rPr>
              <a:t>底层资源⽀撑：⼯具层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SansSC"/>
            </a:endParaRPr>
          </a:p>
        </p:txBody>
      </p:sp>
      <p:sp>
        <p:nvSpPr>
          <p:cNvPr id="95" name="文本框 94"/>
          <p:cNvSpPr txBox="1"/>
          <p:nvPr/>
        </p:nvSpPr>
        <p:spPr>
          <a:xfrm>
            <a:off x="6591240" y="5278320"/>
            <a:ext cx="54502" cy="1384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00" b="1" u="none" strike="noStrike">
                <a:solidFill>
                  <a:srgbClr val="0052D9"/>
                </a:solidFill>
                <a:effectLst/>
                <a:uFillTx/>
                <a:latin typeface="NotoSansSC"/>
                <a:ea typeface="Arial"/>
              </a:rPr>
              <a:t>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NotoSansSC"/>
            </a:endParaRPr>
          </a:p>
        </p:txBody>
      </p:sp>
      <p:sp>
        <p:nvSpPr>
          <p:cNvPr id="96" name="文本框 95"/>
          <p:cNvSpPr txBox="1"/>
          <p:nvPr/>
        </p:nvSpPr>
        <p:spPr>
          <a:xfrm>
            <a:off x="6858000" y="5270400"/>
            <a:ext cx="338234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NotoSansSC"/>
                <a:ea typeface="Arial"/>
              </a:rPr>
              <a:t>Skills (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SansSC"/>
            </a:endParaRPr>
          </a:p>
        </p:txBody>
      </p:sp>
      <p:sp>
        <p:nvSpPr>
          <p:cNvPr id="97" name="文本框 96"/>
          <p:cNvSpPr txBox="1"/>
          <p:nvPr/>
        </p:nvSpPr>
        <p:spPr>
          <a:xfrm>
            <a:off x="7250760" y="5236560"/>
            <a:ext cx="807913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475569"/>
                </a:solidFill>
                <a:effectLst/>
                <a:uFillTx/>
                <a:latin typeface="NotoSansSC"/>
                <a:ea typeface="NotoSansCJKsc"/>
              </a:rPr>
              <a:t>样板代码固化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SansSC"/>
            </a:endParaRPr>
          </a:p>
        </p:txBody>
      </p:sp>
      <p:pic>
        <p:nvPicPr>
          <p:cNvPr id="98" name="图片 97"/>
          <p:cNvPicPr/>
          <p:nvPr/>
        </p:nvPicPr>
        <p:blipFill>
          <a:blip r:embed="rId22"/>
          <a:stretch/>
        </p:blipFill>
        <p:spPr>
          <a:xfrm>
            <a:off x="6410160" y="5638680"/>
            <a:ext cx="4971600" cy="437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9" name="任意多边形: 形状 98"/>
          <p:cNvSpPr/>
          <p:nvPr/>
        </p:nvSpPr>
        <p:spPr>
          <a:xfrm>
            <a:off x="6514920" y="5743440"/>
            <a:ext cx="228960" cy="228960"/>
          </a:xfrm>
          <a:custGeom>
            <a:avLst/>
            <a:gdLst/>
            <a:ahLst/>
            <a:cxnLst/>
            <a:rect l="0" t="0" r="r" b="b"/>
            <a:pathLst>
              <a:path w="636" h="636">
                <a:moveTo>
                  <a:pt x="0" y="530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529" y="0"/>
                </a:lnTo>
                <a:cubicBezTo>
                  <a:pt x="543" y="0"/>
                  <a:pt x="557" y="3"/>
                  <a:pt x="570" y="8"/>
                </a:cubicBezTo>
                <a:cubicBezTo>
                  <a:pt x="583" y="13"/>
                  <a:pt x="594" y="21"/>
                  <a:pt x="604" y="31"/>
                </a:cubicBezTo>
                <a:cubicBezTo>
                  <a:pt x="615" y="41"/>
                  <a:pt x="623" y="52"/>
                  <a:pt x="628" y="65"/>
                </a:cubicBezTo>
                <a:cubicBezTo>
                  <a:pt x="633" y="78"/>
                  <a:pt x="636" y="92"/>
                  <a:pt x="636" y="106"/>
                </a:cubicBezTo>
                <a:lnTo>
                  <a:pt x="636" y="530"/>
                </a:lnTo>
                <a:cubicBezTo>
                  <a:pt x="636" y="544"/>
                  <a:pt x="633" y="558"/>
                  <a:pt x="628" y="571"/>
                </a:cubicBezTo>
                <a:cubicBezTo>
                  <a:pt x="623" y="584"/>
                  <a:pt x="615" y="595"/>
                  <a:pt x="604" y="605"/>
                </a:cubicBezTo>
                <a:cubicBezTo>
                  <a:pt x="594" y="615"/>
                  <a:pt x="583" y="622"/>
                  <a:pt x="570" y="628"/>
                </a:cubicBezTo>
                <a:cubicBezTo>
                  <a:pt x="557" y="633"/>
                  <a:pt x="543" y="636"/>
                  <a:pt x="529" y="636"/>
                </a:cubicBezTo>
                <a:lnTo>
                  <a:pt x="106" y="636"/>
                </a:lnTo>
                <a:cubicBezTo>
                  <a:pt x="92" y="636"/>
                  <a:pt x="78" y="633"/>
                  <a:pt x="65" y="628"/>
                </a:cubicBezTo>
                <a:cubicBezTo>
                  <a:pt x="52" y="622"/>
                  <a:pt x="41" y="615"/>
                  <a:pt x="31" y="605"/>
                </a:cubicBezTo>
                <a:cubicBezTo>
                  <a:pt x="21" y="595"/>
                  <a:pt x="13" y="584"/>
                  <a:pt x="8" y="571"/>
                </a:cubicBezTo>
                <a:cubicBezTo>
                  <a:pt x="3" y="558"/>
                  <a:pt x="0" y="544"/>
                  <a:pt x="0" y="530"/>
                </a:cubicBezTo>
                <a:close/>
              </a:path>
            </a:pathLst>
          </a:custGeom>
          <a:solidFill>
            <a:srgbClr val="FFEDD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SansSC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8050680" y="5270400"/>
            <a:ext cx="40076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NotoSansSC"/>
                <a:ea typeface="Arial"/>
              </a:rPr>
              <a:t>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SansSC"/>
            </a:endParaRPr>
          </a:p>
        </p:txBody>
      </p:sp>
      <p:sp>
        <p:nvSpPr>
          <p:cNvPr id="101" name="文本框 100"/>
          <p:cNvSpPr txBox="1"/>
          <p:nvPr/>
        </p:nvSpPr>
        <p:spPr>
          <a:xfrm>
            <a:off x="6581880" y="5792400"/>
            <a:ext cx="100990" cy="1384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00" b="1" u="none" strike="noStrike">
                <a:solidFill>
                  <a:srgbClr val="FF9C00"/>
                </a:solidFill>
                <a:effectLst/>
                <a:uFillTx/>
                <a:latin typeface="NotoSansSC"/>
                <a:ea typeface="Arial"/>
              </a:rPr>
              <a:t>M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NotoSansSC"/>
            </a:endParaRPr>
          </a:p>
        </p:txBody>
      </p:sp>
      <p:pic>
        <p:nvPicPr>
          <p:cNvPr id="102" name="图片 101"/>
          <p:cNvPicPr/>
          <p:nvPr/>
        </p:nvPicPr>
        <p:blipFill>
          <a:blip r:embed="rId22"/>
          <a:stretch/>
        </p:blipFill>
        <p:spPr>
          <a:xfrm>
            <a:off x="6410160" y="6153120"/>
            <a:ext cx="4971600" cy="437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3" name="任意多边形: 形状 102"/>
          <p:cNvSpPr/>
          <p:nvPr/>
        </p:nvSpPr>
        <p:spPr>
          <a:xfrm>
            <a:off x="6514920" y="6257880"/>
            <a:ext cx="228960" cy="228960"/>
          </a:xfrm>
          <a:custGeom>
            <a:avLst/>
            <a:gdLst/>
            <a:ahLst/>
            <a:cxnLst/>
            <a:rect l="0" t="0" r="r" b="b"/>
            <a:pathLst>
              <a:path w="636" h="636">
                <a:moveTo>
                  <a:pt x="0" y="530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2" y="0"/>
                  <a:pt x="106" y="0"/>
                </a:cubicBezTo>
                <a:lnTo>
                  <a:pt x="529" y="0"/>
                </a:lnTo>
                <a:cubicBezTo>
                  <a:pt x="543" y="0"/>
                  <a:pt x="557" y="2"/>
                  <a:pt x="570" y="8"/>
                </a:cubicBezTo>
                <a:cubicBezTo>
                  <a:pt x="583" y="13"/>
                  <a:pt x="594" y="21"/>
                  <a:pt x="604" y="31"/>
                </a:cubicBezTo>
                <a:cubicBezTo>
                  <a:pt x="615" y="41"/>
                  <a:pt x="623" y="53"/>
                  <a:pt x="628" y="66"/>
                </a:cubicBezTo>
                <a:cubicBezTo>
                  <a:pt x="633" y="79"/>
                  <a:pt x="636" y="92"/>
                  <a:pt x="636" y="106"/>
                </a:cubicBezTo>
                <a:lnTo>
                  <a:pt x="636" y="530"/>
                </a:lnTo>
                <a:cubicBezTo>
                  <a:pt x="636" y="544"/>
                  <a:pt x="633" y="557"/>
                  <a:pt x="628" y="570"/>
                </a:cubicBezTo>
                <a:cubicBezTo>
                  <a:pt x="623" y="583"/>
                  <a:pt x="615" y="595"/>
                  <a:pt x="604" y="605"/>
                </a:cubicBezTo>
                <a:cubicBezTo>
                  <a:pt x="594" y="615"/>
                  <a:pt x="583" y="622"/>
                  <a:pt x="570" y="628"/>
                </a:cubicBezTo>
                <a:cubicBezTo>
                  <a:pt x="557" y="633"/>
                  <a:pt x="543" y="636"/>
                  <a:pt x="529" y="636"/>
                </a:cubicBezTo>
                <a:lnTo>
                  <a:pt x="106" y="636"/>
                </a:lnTo>
                <a:cubicBezTo>
                  <a:pt x="92" y="636"/>
                  <a:pt x="78" y="633"/>
                  <a:pt x="65" y="628"/>
                </a:cubicBezTo>
                <a:cubicBezTo>
                  <a:pt x="52" y="622"/>
                  <a:pt x="41" y="615"/>
                  <a:pt x="31" y="605"/>
                </a:cubicBezTo>
                <a:cubicBezTo>
                  <a:pt x="21" y="595"/>
                  <a:pt x="13" y="583"/>
                  <a:pt x="8" y="570"/>
                </a:cubicBezTo>
                <a:cubicBezTo>
                  <a:pt x="3" y="557"/>
                  <a:pt x="0" y="544"/>
                  <a:pt x="0" y="530"/>
                </a:cubicBez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SansSC"/>
            </a:endParaRPr>
          </a:p>
        </p:txBody>
      </p:sp>
      <p:sp>
        <p:nvSpPr>
          <p:cNvPr id="104" name="文本框 103"/>
          <p:cNvSpPr txBox="1"/>
          <p:nvPr/>
        </p:nvSpPr>
        <p:spPr>
          <a:xfrm>
            <a:off x="6858000" y="5784840"/>
            <a:ext cx="577081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NotoSansSC"/>
                <a:ea typeface="Arial"/>
              </a:rPr>
              <a:t>MCP Tools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SansSC"/>
            </a:endParaRPr>
          </a:p>
        </p:txBody>
      </p:sp>
      <p:sp>
        <p:nvSpPr>
          <p:cNvPr id="105" name="文本框 104"/>
          <p:cNvSpPr txBox="1"/>
          <p:nvPr/>
        </p:nvSpPr>
        <p:spPr>
          <a:xfrm>
            <a:off x="6588000" y="6306840"/>
            <a:ext cx="60914" cy="1384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00" b="1" u="none" strike="noStrike">
                <a:solidFill>
                  <a:srgbClr val="475569"/>
                </a:solidFill>
                <a:effectLst/>
                <a:uFillTx/>
                <a:latin typeface="NotoSansSC"/>
                <a:ea typeface="Arial"/>
              </a:rPr>
              <a:t>C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NotoSansSC"/>
            </a:endParaRPr>
          </a:p>
        </p:txBody>
      </p:sp>
      <p:sp>
        <p:nvSpPr>
          <p:cNvPr id="106" name="文本框 105"/>
          <p:cNvSpPr txBox="1"/>
          <p:nvPr/>
        </p:nvSpPr>
        <p:spPr>
          <a:xfrm>
            <a:off x="6858000" y="6265080"/>
            <a:ext cx="403957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475569"/>
                </a:solidFill>
                <a:effectLst/>
                <a:uFillTx/>
                <a:latin typeface="NotoSansSC"/>
                <a:ea typeface="NotoSansCJKsc"/>
              </a:rPr>
              <a:t>代码库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SansSC"/>
            </a:endParaRPr>
          </a:p>
        </p:txBody>
      </p:sp>
      <p:sp>
        <p:nvSpPr>
          <p:cNvPr id="107" name="文本框 106"/>
          <p:cNvSpPr txBox="1"/>
          <p:nvPr/>
        </p:nvSpPr>
        <p:spPr>
          <a:xfrm>
            <a:off x="7257960" y="6299280"/>
            <a:ext cx="646011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NotoSansSC"/>
                <a:ea typeface="Arial"/>
              </a:rPr>
              <a:t> (Codebase)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SansSC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28D6723-B28F-8016-3892-6FB2D70DADBC}"/>
              </a:ext>
            </a:extLst>
          </p:cNvPr>
          <p:cNvSpPr txBox="1"/>
          <p:nvPr/>
        </p:nvSpPr>
        <p:spPr>
          <a:xfrm>
            <a:off x="533520" y="362908"/>
            <a:ext cx="61383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u="none" strike="noStrike" dirty="0">
                <a:solidFill>
                  <a:srgbClr val="1F2937"/>
                </a:solidFill>
                <a:effectLst/>
                <a:uFillTx/>
                <a:latin typeface="NotoSansSC"/>
                <a:ea typeface="Roboto"/>
              </a:rPr>
              <a:t>战斗 </a:t>
            </a:r>
            <a:r>
              <a:rPr lang="en-US" altLang="zh-CN" sz="1800" u="none" strike="noStrike" dirty="0">
                <a:solidFill>
                  <a:srgbClr val="1F2937"/>
                </a:solidFill>
                <a:effectLst/>
                <a:uFillTx/>
                <a:latin typeface="NotoSansSC"/>
                <a:ea typeface="Roboto"/>
              </a:rPr>
              <a:t>Agent </a:t>
            </a:r>
            <a:r>
              <a:rPr lang="zh-CN" altLang="en-US" sz="1800" u="none" strike="noStrike" dirty="0">
                <a:solidFill>
                  <a:srgbClr val="1F2937"/>
                </a:solidFill>
                <a:effectLst/>
                <a:uFillTx/>
                <a:latin typeface="NotoSansSC"/>
                <a:ea typeface="Roboto"/>
              </a:rPr>
              <a:t>系统模块化架构</a:t>
            </a:r>
            <a:endParaRPr lang="en-US" altLang="zh-CN" sz="1800" u="none" strike="noStrike" dirty="0">
              <a:solidFill>
                <a:srgbClr val="000000"/>
              </a:solidFill>
              <a:effectLst/>
              <a:uFillTx/>
              <a:latin typeface="NotoSansSC"/>
            </a:endParaRPr>
          </a:p>
        </p:txBody>
      </p:sp>
      <p:sp>
        <p:nvSpPr>
          <p:cNvPr id="108" name="文本框 107">
            <a:extLst>
              <a:ext uri="{FF2B5EF4-FFF2-40B4-BE49-F238E27FC236}">
                <a16:creationId xmlns:a16="http://schemas.microsoft.com/office/drawing/2014/main" id="{28EB1502-53D5-8AD7-AAEA-138C62400774}"/>
              </a:ext>
            </a:extLst>
          </p:cNvPr>
          <p:cNvSpPr txBox="1"/>
          <p:nvPr/>
        </p:nvSpPr>
        <p:spPr>
          <a:xfrm>
            <a:off x="2096317" y="3336350"/>
            <a:ext cx="1038746" cy="1384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sz="900" u="none" strike="noStrike" dirty="0">
                <a:solidFill>
                  <a:srgbClr val="1E293B"/>
                </a:solidFill>
                <a:effectLst/>
                <a:uFillTx/>
                <a:latin typeface="NotoSansSC"/>
                <a:ea typeface="Arial"/>
              </a:rPr>
              <a:t>逻辑实现与代码生成</a:t>
            </a:r>
            <a:endParaRPr lang="en-US" sz="900" u="none" strike="noStrike" dirty="0">
              <a:solidFill>
                <a:srgbClr val="000000"/>
              </a:solidFill>
              <a:effectLst/>
              <a:uFillTx/>
              <a:latin typeface="NotoSansSC"/>
            </a:endParaRPr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7F704C98-F162-31AA-F636-CA87A2F4F61A}"/>
              </a:ext>
            </a:extLst>
          </p:cNvPr>
          <p:cNvSpPr txBox="1"/>
          <p:nvPr/>
        </p:nvSpPr>
        <p:spPr>
          <a:xfrm>
            <a:off x="5600764" y="3591037"/>
            <a:ext cx="1037143" cy="1384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sz="900" u="none" strike="noStrike" dirty="0">
                <a:solidFill>
                  <a:srgbClr val="1E293B"/>
                </a:solidFill>
                <a:effectLst/>
                <a:uFillTx/>
                <a:latin typeface="NotoSansSC"/>
                <a:ea typeface="Arial"/>
              </a:rPr>
              <a:t>决策核心与推理引擎</a:t>
            </a:r>
            <a:endParaRPr lang="en-US" sz="900" u="none" strike="noStrike" dirty="0">
              <a:solidFill>
                <a:srgbClr val="000000"/>
              </a:solidFill>
              <a:effectLst/>
              <a:uFillTx/>
              <a:latin typeface="NotoSansSC"/>
            </a:endParaRPr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50C1D89F-3E70-DC48-E3A9-35783E8FAF1B}"/>
              </a:ext>
            </a:extLst>
          </p:cNvPr>
          <p:cNvSpPr txBox="1"/>
          <p:nvPr/>
        </p:nvSpPr>
        <p:spPr>
          <a:xfrm>
            <a:off x="9043487" y="3483187"/>
            <a:ext cx="1038746" cy="1384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sz="900" u="none" strike="noStrike" dirty="0">
                <a:solidFill>
                  <a:srgbClr val="1E293B"/>
                </a:solidFill>
                <a:effectLst/>
                <a:uFillTx/>
                <a:latin typeface="NotoSansSC"/>
                <a:ea typeface="Arial"/>
              </a:rPr>
              <a:t>问题诊断与修复建议</a:t>
            </a:r>
            <a:endParaRPr lang="en-US" sz="900" u="none" strike="noStrike" dirty="0">
              <a:solidFill>
                <a:srgbClr val="000000"/>
              </a:solidFill>
              <a:effectLst/>
              <a:uFillTx/>
              <a:latin typeface="NotoSansSC"/>
            </a:endParaRPr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5D028D29-73AD-6C1C-6BBE-6A65B788CB30}"/>
              </a:ext>
            </a:extLst>
          </p:cNvPr>
          <p:cNvSpPr txBox="1"/>
          <p:nvPr/>
        </p:nvSpPr>
        <p:spPr>
          <a:xfrm>
            <a:off x="1182408" y="4455231"/>
            <a:ext cx="1269578" cy="1384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sz="900" u="none" strike="noStrike" dirty="0">
                <a:solidFill>
                  <a:srgbClr val="1E293B"/>
                </a:solidFill>
                <a:effectLst/>
                <a:uFillTx/>
                <a:latin typeface="NotoSansSC"/>
                <a:ea typeface="Arial"/>
              </a:rPr>
              <a:t>底层资源⽀撑：记忆系统</a:t>
            </a:r>
          </a:p>
        </p:txBody>
      </p:sp>
      <p:pic>
        <p:nvPicPr>
          <p:cNvPr id="113" name="图片 112">
            <a:extLst>
              <a:ext uri="{FF2B5EF4-FFF2-40B4-BE49-F238E27FC236}">
                <a16:creationId xmlns:a16="http://schemas.microsoft.com/office/drawing/2014/main" id="{CD9FDBF2-DF7E-1BBA-9BA3-D665A95E82D4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0" y="7845"/>
            <a:ext cx="12192000" cy="684230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: 形状 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0F2F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任意多边形: 形状 2"/>
          <p:cNvSpPr/>
          <p:nvPr/>
        </p:nvSpPr>
        <p:spPr>
          <a:xfrm>
            <a:off x="0" y="-10833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" name="图片 3"/>
          <p:cNvPicPr/>
          <p:nvPr/>
        </p:nvPicPr>
        <p:blipFill>
          <a:blip r:embed="rId3"/>
          <a:stretch/>
        </p:blipFill>
        <p:spPr>
          <a:xfrm>
            <a:off x="9334440" y="-952560"/>
            <a:ext cx="3809520" cy="3809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" name="图片 4"/>
          <p:cNvPicPr/>
          <p:nvPr/>
        </p:nvPicPr>
        <p:blipFill>
          <a:blip r:embed="rId4"/>
          <a:stretch/>
        </p:blipFill>
        <p:spPr>
          <a:xfrm>
            <a:off x="380880" y="380880"/>
            <a:ext cx="952200" cy="952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" name="图片 5"/>
          <p:cNvPicPr/>
          <p:nvPr/>
        </p:nvPicPr>
        <p:blipFill>
          <a:blip r:embed="rId5"/>
          <a:stretch/>
        </p:blipFill>
        <p:spPr>
          <a:xfrm>
            <a:off x="0" y="6819840"/>
            <a:ext cx="12191760" cy="37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" name="任意多边形: 形状 6"/>
          <p:cNvSpPr/>
          <p:nvPr/>
        </p:nvSpPr>
        <p:spPr>
          <a:xfrm>
            <a:off x="456840" y="399960"/>
            <a:ext cx="57600" cy="304920"/>
          </a:xfrm>
          <a:custGeom>
            <a:avLst/>
            <a:gdLst/>
            <a:ahLst/>
            <a:cxnLst/>
            <a:rect l="0" t="0" r="r" b="b"/>
            <a:pathLst>
              <a:path w="160" h="847">
                <a:moveTo>
                  <a:pt x="0" y="0"/>
                </a:moveTo>
                <a:lnTo>
                  <a:pt x="160" y="0"/>
                </a:lnTo>
                <a:lnTo>
                  <a:pt x="160" y="847"/>
                </a:lnTo>
                <a:lnTo>
                  <a:pt x="0" y="847"/>
                </a:lnTo>
                <a:lnTo>
                  <a:pt x="0" y="0"/>
                </a:lnTo>
                <a:close/>
              </a:path>
            </a:pathLst>
          </a:custGeom>
          <a:solidFill>
            <a:srgbClr val="0052D9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28560" y="370800"/>
            <a:ext cx="2700360" cy="41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2250" b="0" u="none" strike="noStrike" dirty="0">
                <a:solidFill>
                  <a:srgbClr val="333333"/>
                </a:solidFill>
                <a:effectLst/>
                <a:uFillTx/>
                <a:latin typeface="NotoSansSC"/>
                <a:ea typeface="NotoSansSC"/>
              </a:rPr>
              <a:t>日常战斗开发的困境</a:t>
            </a:r>
            <a:endParaRPr lang="en-US" sz="225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9" name="图片 8"/>
          <p:cNvPicPr/>
          <p:nvPr/>
        </p:nvPicPr>
        <p:blipFill>
          <a:blip r:embed="rId6"/>
          <a:stretch/>
        </p:blipFill>
        <p:spPr>
          <a:xfrm>
            <a:off x="457200" y="1282463"/>
            <a:ext cx="3552480" cy="432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" name="任意多边形: 形状 9"/>
          <p:cNvSpPr/>
          <p:nvPr/>
        </p:nvSpPr>
        <p:spPr>
          <a:xfrm>
            <a:off x="695160" y="4839110"/>
            <a:ext cx="305280" cy="305280"/>
          </a:xfrm>
          <a:custGeom>
            <a:avLst/>
            <a:gdLst/>
            <a:ahLst/>
            <a:cxnLst/>
            <a:rect l="0" t="0" r="r" b="b"/>
            <a:pathLst>
              <a:path w="848" h="848">
                <a:moveTo>
                  <a:pt x="848" y="424"/>
                </a:moveTo>
                <a:cubicBezTo>
                  <a:pt x="848" y="452"/>
                  <a:pt x="845" y="480"/>
                  <a:pt x="839" y="507"/>
                </a:cubicBezTo>
                <a:cubicBezTo>
                  <a:pt x="834" y="534"/>
                  <a:pt x="826" y="561"/>
                  <a:pt x="815" y="586"/>
                </a:cubicBezTo>
                <a:cubicBezTo>
                  <a:pt x="805" y="612"/>
                  <a:pt x="792" y="636"/>
                  <a:pt x="776" y="659"/>
                </a:cubicBezTo>
                <a:cubicBezTo>
                  <a:pt x="761" y="683"/>
                  <a:pt x="743" y="704"/>
                  <a:pt x="724" y="724"/>
                </a:cubicBezTo>
                <a:cubicBezTo>
                  <a:pt x="704" y="743"/>
                  <a:pt x="683" y="761"/>
                  <a:pt x="659" y="776"/>
                </a:cubicBezTo>
                <a:cubicBezTo>
                  <a:pt x="636" y="792"/>
                  <a:pt x="612" y="805"/>
                  <a:pt x="586" y="815"/>
                </a:cubicBezTo>
                <a:cubicBezTo>
                  <a:pt x="561" y="826"/>
                  <a:pt x="534" y="834"/>
                  <a:pt x="507" y="839"/>
                </a:cubicBezTo>
                <a:cubicBezTo>
                  <a:pt x="480" y="845"/>
                  <a:pt x="452" y="848"/>
                  <a:pt x="424" y="848"/>
                </a:cubicBezTo>
                <a:cubicBezTo>
                  <a:pt x="396" y="848"/>
                  <a:pt x="369" y="845"/>
                  <a:pt x="342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7" y="805"/>
                  <a:pt x="212" y="792"/>
                  <a:pt x="189" y="776"/>
                </a:cubicBezTo>
                <a:cubicBezTo>
                  <a:pt x="165" y="761"/>
                  <a:pt x="144" y="743"/>
                  <a:pt x="124" y="724"/>
                </a:cubicBezTo>
                <a:cubicBezTo>
                  <a:pt x="104" y="704"/>
                  <a:pt x="87" y="683"/>
                  <a:pt x="71" y="659"/>
                </a:cubicBezTo>
                <a:cubicBezTo>
                  <a:pt x="56" y="636"/>
                  <a:pt x="43" y="612"/>
                  <a:pt x="32" y="586"/>
                </a:cubicBezTo>
                <a:cubicBezTo>
                  <a:pt x="22" y="561"/>
                  <a:pt x="14" y="534"/>
                  <a:pt x="8" y="507"/>
                </a:cubicBezTo>
                <a:cubicBezTo>
                  <a:pt x="3" y="480"/>
                  <a:pt x="0" y="452"/>
                  <a:pt x="0" y="424"/>
                </a:cubicBezTo>
                <a:cubicBezTo>
                  <a:pt x="0" y="396"/>
                  <a:pt x="3" y="368"/>
                  <a:pt x="8" y="341"/>
                </a:cubicBezTo>
                <a:cubicBezTo>
                  <a:pt x="14" y="313"/>
                  <a:pt x="22" y="287"/>
                  <a:pt x="32" y="261"/>
                </a:cubicBezTo>
                <a:cubicBezTo>
                  <a:pt x="43" y="236"/>
                  <a:pt x="56" y="211"/>
                  <a:pt x="71" y="188"/>
                </a:cubicBezTo>
                <a:cubicBezTo>
                  <a:pt x="87" y="165"/>
                  <a:pt x="104" y="144"/>
                  <a:pt x="124" y="124"/>
                </a:cubicBezTo>
                <a:cubicBezTo>
                  <a:pt x="144" y="104"/>
                  <a:pt x="165" y="87"/>
                  <a:pt x="189" y="71"/>
                </a:cubicBezTo>
                <a:cubicBezTo>
                  <a:pt x="212" y="56"/>
                  <a:pt x="237" y="43"/>
                  <a:pt x="262" y="32"/>
                </a:cubicBezTo>
                <a:cubicBezTo>
                  <a:pt x="288" y="22"/>
                  <a:pt x="314" y="14"/>
                  <a:pt x="342" y="8"/>
                </a:cubicBezTo>
                <a:cubicBezTo>
                  <a:pt x="369" y="3"/>
                  <a:pt x="396" y="0"/>
                  <a:pt x="424" y="0"/>
                </a:cubicBezTo>
                <a:cubicBezTo>
                  <a:pt x="452" y="0"/>
                  <a:pt x="480" y="3"/>
                  <a:pt x="507" y="8"/>
                </a:cubicBezTo>
                <a:cubicBezTo>
                  <a:pt x="534" y="14"/>
                  <a:pt x="561" y="22"/>
                  <a:pt x="586" y="32"/>
                </a:cubicBezTo>
                <a:cubicBezTo>
                  <a:pt x="612" y="43"/>
                  <a:pt x="636" y="56"/>
                  <a:pt x="659" y="71"/>
                </a:cubicBezTo>
                <a:cubicBezTo>
                  <a:pt x="683" y="87"/>
                  <a:pt x="704" y="104"/>
                  <a:pt x="724" y="124"/>
                </a:cubicBezTo>
                <a:cubicBezTo>
                  <a:pt x="743" y="144"/>
                  <a:pt x="761" y="165"/>
                  <a:pt x="776" y="188"/>
                </a:cubicBezTo>
                <a:cubicBezTo>
                  <a:pt x="792" y="211"/>
                  <a:pt x="805" y="236"/>
                  <a:pt x="815" y="261"/>
                </a:cubicBezTo>
                <a:cubicBezTo>
                  <a:pt x="826" y="287"/>
                  <a:pt x="834" y="313"/>
                  <a:pt x="839" y="341"/>
                </a:cubicBezTo>
                <a:cubicBezTo>
                  <a:pt x="845" y="368"/>
                  <a:pt x="848" y="396"/>
                  <a:pt x="848" y="424"/>
                </a:cubicBezTo>
                <a:close/>
              </a:path>
            </a:pathLst>
          </a:custGeom>
          <a:solidFill>
            <a:srgbClr val="EFF6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5" name="图片 14"/>
          <p:cNvPicPr/>
          <p:nvPr/>
        </p:nvPicPr>
        <p:blipFill>
          <a:blip r:embed="rId7"/>
          <a:stretch/>
        </p:blipFill>
        <p:spPr>
          <a:xfrm>
            <a:off x="466560" y="1305000"/>
            <a:ext cx="3533400" cy="322883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" name="文本框 11"/>
          <p:cNvSpPr txBox="1"/>
          <p:nvPr/>
        </p:nvSpPr>
        <p:spPr>
          <a:xfrm>
            <a:off x="647640" y="810000"/>
            <a:ext cx="210024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6B7280"/>
                </a:solidFill>
                <a:effectLst/>
                <a:uFillTx/>
                <a:latin typeface="NotoSansSC"/>
                <a:ea typeface="NotoSansSC"/>
              </a:rPr>
              <a:t>Current Development Challenges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114560" y="4864310"/>
            <a:ext cx="1154162" cy="56938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500" b="0" u="none" strike="noStrike" dirty="0">
                <a:solidFill>
                  <a:srgbClr val="FF5722"/>
                </a:solidFill>
                <a:effectLst/>
                <a:uFillTx/>
                <a:latin typeface="NotoSansSC"/>
                <a:ea typeface="NotoSansSC"/>
              </a:rPr>
              <a:t>样板代码堆积</a:t>
            </a:r>
            <a:endParaRPr lang="en-US" altLang="zh-CN" sz="1500" b="0" u="none" strike="noStrike" dirty="0">
              <a:solidFill>
                <a:srgbClr val="FF5722"/>
              </a:solidFill>
              <a:effectLst/>
              <a:uFillTx/>
              <a:latin typeface="NotoSansSC"/>
              <a:ea typeface="NotoSansSC"/>
            </a:endParaRPr>
          </a:p>
          <a:p>
            <a:r>
              <a:rPr lang="en-US" sz="1050" b="0" u="none" strike="noStrike" dirty="0">
                <a:solidFill>
                  <a:srgbClr val="FF5722"/>
                </a:solidFill>
                <a:effectLst/>
                <a:uFillTx/>
                <a:latin typeface="NotoSansSC"/>
              </a:rPr>
              <a:t>80+ </a:t>
            </a:r>
            <a:r>
              <a:rPr lang="en-US" altLang="zh-CN" sz="1050" b="0" u="none" strike="noStrike" dirty="0">
                <a:solidFill>
                  <a:srgbClr val="FF5722"/>
                </a:solidFill>
                <a:effectLst/>
                <a:uFillTx/>
                <a:latin typeface="NotoSansSC"/>
              </a:rPr>
              <a:t>Lua Tasks</a:t>
            </a:r>
          </a:p>
          <a:p>
            <a:r>
              <a:rPr lang="en-US" altLang="zh-CN" sz="1050" dirty="0">
                <a:solidFill>
                  <a:srgbClr val="FF5722"/>
                </a:solidFill>
                <a:latin typeface="NotoSansSC"/>
              </a:rPr>
              <a:t>C++…</a:t>
            </a:r>
            <a:endParaRPr lang="en-US" sz="1050" b="0" u="none" strike="noStrike" dirty="0">
              <a:solidFill>
                <a:srgbClr val="FF5722"/>
              </a:solidFill>
              <a:effectLst/>
              <a:uFillTx/>
              <a:latin typeface="NotoSansSC"/>
            </a:endParaRPr>
          </a:p>
        </p:txBody>
      </p:sp>
      <p:pic>
        <p:nvPicPr>
          <p:cNvPr id="17" name="图片 16"/>
          <p:cNvPicPr/>
          <p:nvPr/>
        </p:nvPicPr>
        <p:blipFill>
          <a:blip r:embed="rId8"/>
          <a:stretch/>
        </p:blipFill>
        <p:spPr>
          <a:xfrm>
            <a:off x="4314960" y="1295280"/>
            <a:ext cx="3561840" cy="432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" name="任意多边形: 形状 17"/>
          <p:cNvSpPr/>
          <p:nvPr/>
        </p:nvSpPr>
        <p:spPr>
          <a:xfrm>
            <a:off x="4552920" y="4839110"/>
            <a:ext cx="304920" cy="305280"/>
          </a:xfrm>
          <a:custGeom>
            <a:avLst/>
            <a:gdLst/>
            <a:ahLst/>
            <a:cxnLst/>
            <a:rect l="0" t="0" r="r" b="b"/>
            <a:pathLst>
              <a:path w="847" h="848">
                <a:moveTo>
                  <a:pt x="847" y="424"/>
                </a:moveTo>
                <a:cubicBezTo>
                  <a:pt x="847" y="452"/>
                  <a:pt x="845" y="480"/>
                  <a:pt x="839" y="507"/>
                </a:cubicBezTo>
                <a:cubicBezTo>
                  <a:pt x="834" y="534"/>
                  <a:pt x="826" y="561"/>
                  <a:pt x="815" y="586"/>
                </a:cubicBezTo>
                <a:cubicBezTo>
                  <a:pt x="804" y="612"/>
                  <a:pt x="791" y="636"/>
                  <a:pt x="776" y="659"/>
                </a:cubicBezTo>
                <a:cubicBezTo>
                  <a:pt x="760" y="683"/>
                  <a:pt x="743" y="704"/>
                  <a:pt x="723" y="724"/>
                </a:cubicBezTo>
                <a:cubicBezTo>
                  <a:pt x="704" y="743"/>
                  <a:pt x="682" y="761"/>
                  <a:pt x="659" y="776"/>
                </a:cubicBezTo>
                <a:cubicBezTo>
                  <a:pt x="636" y="792"/>
                  <a:pt x="612" y="805"/>
                  <a:pt x="586" y="815"/>
                </a:cubicBezTo>
                <a:cubicBezTo>
                  <a:pt x="560" y="826"/>
                  <a:pt x="534" y="834"/>
                  <a:pt x="507" y="839"/>
                </a:cubicBezTo>
                <a:cubicBezTo>
                  <a:pt x="479" y="845"/>
                  <a:pt x="451" y="848"/>
                  <a:pt x="423" y="848"/>
                </a:cubicBezTo>
                <a:cubicBezTo>
                  <a:pt x="395" y="848"/>
                  <a:pt x="368" y="845"/>
                  <a:pt x="340" y="839"/>
                </a:cubicBezTo>
                <a:cubicBezTo>
                  <a:pt x="313" y="834"/>
                  <a:pt x="287" y="826"/>
                  <a:pt x="261" y="815"/>
                </a:cubicBezTo>
                <a:cubicBezTo>
                  <a:pt x="235" y="805"/>
                  <a:pt x="211" y="792"/>
                  <a:pt x="188" y="776"/>
                </a:cubicBezTo>
                <a:cubicBezTo>
                  <a:pt x="165" y="761"/>
                  <a:pt x="143" y="743"/>
                  <a:pt x="124" y="724"/>
                </a:cubicBezTo>
                <a:cubicBezTo>
                  <a:pt x="104" y="704"/>
                  <a:pt x="86" y="683"/>
                  <a:pt x="71" y="659"/>
                </a:cubicBezTo>
                <a:cubicBezTo>
                  <a:pt x="55" y="636"/>
                  <a:pt x="42" y="612"/>
                  <a:pt x="32" y="586"/>
                </a:cubicBezTo>
                <a:cubicBezTo>
                  <a:pt x="21" y="561"/>
                  <a:pt x="13" y="534"/>
                  <a:pt x="8" y="507"/>
                </a:cubicBezTo>
                <a:cubicBezTo>
                  <a:pt x="2" y="480"/>
                  <a:pt x="0" y="452"/>
                  <a:pt x="0" y="424"/>
                </a:cubicBezTo>
                <a:cubicBezTo>
                  <a:pt x="0" y="396"/>
                  <a:pt x="2" y="368"/>
                  <a:pt x="8" y="341"/>
                </a:cubicBezTo>
                <a:cubicBezTo>
                  <a:pt x="13" y="313"/>
                  <a:pt x="21" y="287"/>
                  <a:pt x="32" y="261"/>
                </a:cubicBezTo>
                <a:cubicBezTo>
                  <a:pt x="42" y="236"/>
                  <a:pt x="55" y="211"/>
                  <a:pt x="71" y="188"/>
                </a:cubicBezTo>
                <a:cubicBezTo>
                  <a:pt x="86" y="165"/>
                  <a:pt x="104" y="144"/>
                  <a:pt x="124" y="124"/>
                </a:cubicBezTo>
                <a:cubicBezTo>
                  <a:pt x="143" y="104"/>
                  <a:pt x="165" y="87"/>
                  <a:pt x="188" y="71"/>
                </a:cubicBezTo>
                <a:cubicBezTo>
                  <a:pt x="211" y="56"/>
                  <a:pt x="235" y="43"/>
                  <a:pt x="261" y="32"/>
                </a:cubicBezTo>
                <a:cubicBezTo>
                  <a:pt x="287" y="22"/>
                  <a:pt x="313" y="14"/>
                  <a:pt x="340" y="8"/>
                </a:cubicBezTo>
                <a:cubicBezTo>
                  <a:pt x="368" y="3"/>
                  <a:pt x="395" y="0"/>
                  <a:pt x="423" y="0"/>
                </a:cubicBezTo>
                <a:cubicBezTo>
                  <a:pt x="451" y="0"/>
                  <a:pt x="479" y="3"/>
                  <a:pt x="507" y="8"/>
                </a:cubicBezTo>
                <a:cubicBezTo>
                  <a:pt x="534" y="14"/>
                  <a:pt x="560" y="22"/>
                  <a:pt x="586" y="32"/>
                </a:cubicBezTo>
                <a:cubicBezTo>
                  <a:pt x="612" y="43"/>
                  <a:pt x="636" y="56"/>
                  <a:pt x="659" y="71"/>
                </a:cubicBezTo>
                <a:cubicBezTo>
                  <a:pt x="682" y="87"/>
                  <a:pt x="704" y="104"/>
                  <a:pt x="723" y="124"/>
                </a:cubicBezTo>
                <a:cubicBezTo>
                  <a:pt x="743" y="144"/>
                  <a:pt x="760" y="165"/>
                  <a:pt x="776" y="188"/>
                </a:cubicBezTo>
                <a:cubicBezTo>
                  <a:pt x="791" y="211"/>
                  <a:pt x="804" y="236"/>
                  <a:pt x="815" y="261"/>
                </a:cubicBezTo>
                <a:cubicBezTo>
                  <a:pt x="826" y="287"/>
                  <a:pt x="834" y="313"/>
                  <a:pt x="839" y="341"/>
                </a:cubicBezTo>
                <a:cubicBezTo>
                  <a:pt x="845" y="368"/>
                  <a:pt x="847" y="396"/>
                  <a:pt x="847" y="424"/>
                </a:cubicBezTo>
                <a:close/>
              </a:path>
            </a:pathLst>
          </a:custGeom>
          <a:solidFill>
            <a:srgbClr val="EFF6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4975200" y="4864310"/>
            <a:ext cx="1027525" cy="56938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00" b="0" u="none" strike="noStrike" dirty="0">
                <a:solidFill>
                  <a:srgbClr val="FF5722"/>
                </a:solidFill>
                <a:effectLst/>
                <a:uFillTx/>
                <a:latin typeface="NotoSansSC"/>
                <a:ea typeface="NotoSansSC"/>
              </a:rPr>
              <a:t>API</a:t>
            </a:r>
            <a:r>
              <a:rPr lang="zh-CN" sz="1500" b="0" u="none" strike="noStrike" dirty="0">
                <a:solidFill>
                  <a:srgbClr val="FF5722"/>
                </a:solidFill>
                <a:effectLst/>
                <a:uFillTx/>
                <a:latin typeface="NotoSansSC"/>
                <a:ea typeface="NotoSansSC"/>
              </a:rPr>
              <a:t>检索低效</a:t>
            </a:r>
            <a:endParaRPr lang="en-US" altLang="zh-CN" sz="1500" b="0" u="none" strike="noStrike" dirty="0">
              <a:solidFill>
                <a:srgbClr val="FF5722"/>
              </a:solidFill>
              <a:effectLst/>
              <a:uFillTx/>
              <a:latin typeface="NotoSansSC"/>
              <a:ea typeface="NotoSansSC"/>
            </a:endParaRPr>
          </a:p>
          <a:p>
            <a:r>
              <a:rPr lang="zh-CN" altLang="en-US" sz="1050" b="0" u="none" strike="noStrike" dirty="0">
                <a:solidFill>
                  <a:srgbClr val="FF5722"/>
                </a:solidFill>
                <a:effectLst/>
                <a:uFillTx/>
                <a:latin typeface="NotoSansSC"/>
              </a:rPr>
              <a:t>文档</a:t>
            </a:r>
            <a:r>
              <a:rPr lang="zh-CN" altLang="en-US" sz="1050" dirty="0">
                <a:solidFill>
                  <a:srgbClr val="FF5722"/>
                </a:solidFill>
                <a:latin typeface="NotoSansSC"/>
              </a:rPr>
              <a:t>过期？</a:t>
            </a:r>
            <a:endParaRPr lang="en-US" altLang="zh-CN" sz="1050" dirty="0">
              <a:solidFill>
                <a:srgbClr val="FF5722"/>
              </a:solidFill>
              <a:latin typeface="NotoSansSC"/>
            </a:endParaRPr>
          </a:p>
          <a:p>
            <a:r>
              <a:rPr lang="zh-CN" altLang="en-US" sz="1050" dirty="0">
                <a:solidFill>
                  <a:srgbClr val="FF5722"/>
                </a:solidFill>
                <a:latin typeface="NotoSansSC"/>
              </a:rPr>
              <a:t>描述缺失？</a:t>
            </a:r>
            <a:endParaRPr lang="en-US" sz="1050" b="0" u="none" strike="noStrike" dirty="0">
              <a:solidFill>
                <a:srgbClr val="FF5722"/>
              </a:solidFill>
              <a:effectLst/>
              <a:uFillTx/>
              <a:latin typeface="NotoSansSC"/>
            </a:endParaRPr>
          </a:p>
        </p:txBody>
      </p:sp>
      <p:pic>
        <p:nvPicPr>
          <p:cNvPr id="23" name="图片 22"/>
          <p:cNvPicPr/>
          <p:nvPr/>
        </p:nvPicPr>
        <p:blipFill>
          <a:blip r:embed="rId9"/>
          <a:stretch/>
        </p:blipFill>
        <p:spPr>
          <a:xfrm>
            <a:off x="4324320" y="1305000"/>
            <a:ext cx="3542760" cy="322883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" name="图片 24"/>
          <p:cNvPicPr/>
          <p:nvPr/>
        </p:nvPicPr>
        <p:blipFill>
          <a:blip r:embed="rId10"/>
          <a:stretch/>
        </p:blipFill>
        <p:spPr>
          <a:xfrm>
            <a:off x="8182080" y="1295280"/>
            <a:ext cx="3552480" cy="432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" name="任意多边形: 形状 25"/>
          <p:cNvSpPr/>
          <p:nvPr/>
        </p:nvSpPr>
        <p:spPr>
          <a:xfrm>
            <a:off x="8420040" y="4839110"/>
            <a:ext cx="304920" cy="305280"/>
          </a:xfrm>
          <a:custGeom>
            <a:avLst/>
            <a:gdLst/>
            <a:ahLst/>
            <a:cxnLst/>
            <a:rect l="0" t="0" r="r" b="b"/>
            <a:pathLst>
              <a:path w="847" h="848">
                <a:moveTo>
                  <a:pt x="847" y="424"/>
                </a:moveTo>
                <a:cubicBezTo>
                  <a:pt x="847" y="452"/>
                  <a:pt x="845" y="480"/>
                  <a:pt x="839" y="507"/>
                </a:cubicBezTo>
                <a:cubicBezTo>
                  <a:pt x="834" y="534"/>
                  <a:pt x="826" y="561"/>
                  <a:pt x="815" y="586"/>
                </a:cubicBezTo>
                <a:cubicBezTo>
                  <a:pt x="804" y="612"/>
                  <a:pt x="791" y="636"/>
                  <a:pt x="776" y="659"/>
                </a:cubicBezTo>
                <a:cubicBezTo>
                  <a:pt x="761" y="683"/>
                  <a:pt x="743" y="704"/>
                  <a:pt x="723" y="724"/>
                </a:cubicBezTo>
                <a:cubicBezTo>
                  <a:pt x="703" y="743"/>
                  <a:pt x="681" y="761"/>
                  <a:pt x="658" y="776"/>
                </a:cubicBezTo>
                <a:cubicBezTo>
                  <a:pt x="635" y="792"/>
                  <a:pt x="611" y="805"/>
                  <a:pt x="585" y="815"/>
                </a:cubicBezTo>
                <a:cubicBezTo>
                  <a:pt x="559" y="826"/>
                  <a:pt x="533" y="834"/>
                  <a:pt x="506" y="839"/>
                </a:cubicBezTo>
                <a:cubicBezTo>
                  <a:pt x="478" y="845"/>
                  <a:pt x="451" y="848"/>
                  <a:pt x="423" y="848"/>
                </a:cubicBezTo>
                <a:cubicBezTo>
                  <a:pt x="395" y="848"/>
                  <a:pt x="368" y="845"/>
                  <a:pt x="340" y="839"/>
                </a:cubicBezTo>
                <a:cubicBezTo>
                  <a:pt x="313" y="834"/>
                  <a:pt x="287" y="826"/>
                  <a:pt x="261" y="815"/>
                </a:cubicBezTo>
                <a:cubicBezTo>
                  <a:pt x="235" y="805"/>
                  <a:pt x="211" y="792"/>
                  <a:pt x="188" y="776"/>
                </a:cubicBezTo>
                <a:cubicBezTo>
                  <a:pt x="165" y="761"/>
                  <a:pt x="143" y="743"/>
                  <a:pt x="124" y="724"/>
                </a:cubicBezTo>
                <a:cubicBezTo>
                  <a:pt x="104" y="704"/>
                  <a:pt x="86" y="683"/>
                  <a:pt x="71" y="659"/>
                </a:cubicBezTo>
                <a:cubicBezTo>
                  <a:pt x="56" y="636"/>
                  <a:pt x="43" y="612"/>
                  <a:pt x="32" y="586"/>
                </a:cubicBezTo>
                <a:cubicBezTo>
                  <a:pt x="21" y="561"/>
                  <a:pt x="13" y="534"/>
                  <a:pt x="8" y="507"/>
                </a:cubicBezTo>
                <a:cubicBezTo>
                  <a:pt x="2" y="480"/>
                  <a:pt x="0" y="452"/>
                  <a:pt x="0" y="424"/>
                </a:cubicBezTo>
                <a:cubicBezTo>
                  <a:pt x="0" y="396"/>
                  <a:pt x="2" y="368"/>
                  <a:pt x="8" y="341"/>
                </a:cubicBezTo>
                <a:cubicBezTo>
                  <a:pt x="13" y="313"/>
                  <a:pt x="21" y="287"/>
                  <a:pt x="32" y="261"/>
                </a:cubicBezTo>
                <a:cubicBezTo>
                  <a:pt x="43" y="236"/>
                  <a:pt x="56" y="211"/>
                  <a:pt x="71" y="188"/>
                </a:cubicBezTo>
                <a:cubicBezTo>
                  <a:pt x="86" y="165"/>
                  <a:pt x="104" y="144"/>
                  <a:pt x="124" y="124"/>
                </a:cubicBezTo>
                <a:cubicBezTo>
                  <a:pt x="143" y="104"/>
                  <a:pt x="165" y="87"/>
                  <a:pt x="188" y="71"/>
                </a:cubicBezTo>
                <a:cubicBezTo>
                  <a:pt x="211" y="56"/>
                  <a:pt x="235" y="43"/>
                  <a:pt x="261" y="32"/>
                </a:cubicBezTo>
                <a:cubicBezTo>
                  <a:pt x="287" y="22"/>
                  <a:pt x="313" y="14"/>
                  <a:pt x="340" y="8"/>
                </a:cubicBezTo>
                <a:cubicBezTo>
                  <a:pt x="368" y="3"/>
                  <a:pt x="395" y="0"/>
                  <a:pt x="423" y="0"/>
                </a:cubicBezTo>
                <a:cubicBezTo>
                  <a:pt x="451" y="0"/>
                  <a:pt x="478" y="3"/>
                  <a:pt x="506" y="8"/>
                </a:cubicBezTo>
                <a:cubicBezTo>
                  <a:pt x="533" y="14"/>
                  <a:pt x="559" y="22"/>
                  <a:pt x="585" y="32"/>
                </a:cubicBezTo>
                <a:cubicBezTo>
                  <a:pt x="611" y="43"/>
                  <a:pt x="635" y="56"/>
                  <a:pt x="658" y="71"/>
                </a:cubicBezTo>
                <a:cubicBezTo>
                  <a:pt x="681" y="87"/>
                  <a:pt x="703" y="104"/>
                  <a:pt x="723" y="124"/>
                </a:cubicBezTo>
                <a:cubicBezTo>
                  <a:pt x="743" y="144"/>
                  <a:pt x="761" y="165"/>
                  <a:pt x="776" y="188"/>
                </a:cubicBezTo>
                <a:cubicBezTo>
                  <a:pt x="791" y="211"/>
                  <a:pt x="804" y="236"/>
                  <a:pt x="815" y="261"/>
                </a:cubicBezTo>
                <a:cubicBezTo>
                  <a:pt x="826" y="287"/>
                  <a:pt x="834" y="313"/>
                  <a:pt x="839" y="341"/>
                </a:cubicBezTo>
                <a:cubicBezTo>
                  <a:pt x="845" y="368"/>
                  <a:pt x="847" y="396"/>
                  <a:pt x="847" y="424"/>
                </a:cubicBezTo>
                <a:close/>
              </a:path>
            </a:pathLst>
          </a:custGeom>
          <a:solidFill>
            <a:srgbClr val="EFF6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8835840" y="4864310"/>
            <a:ext cx="1154162" cy="5539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500" b="0" u="none" strike="noStrike" dirty="0">
                <a:solidFill>
                  <a:srgbClr val="FF5722"/>
                </a:solidFill>
                <a:effectLst/>
                <a:uFillTx/>
                <a:latin typeface="NotoSansSC"/>
                <a:ea typeface="NotoSansSC"/>
              </a:rPr>
              <a:t>调试流程繁琐</a:t>
            </a:r>
            <a:br>
              <a:rPr lang="zh-CN" altLang="en-US" sz="1050" dirty="0">
                <a:solidFill>
                  <a:srgbClr val="FF5722"/>
                </a:solidFill>
                <a:latin typeface="NotoSansSC"/>
              </a:rPr>
            </a:br>
            <a:r>
              <a:rPr lang="zh-CN" altLang="en-US" sz="1050" dirty="0">
                <a:solidFill>
                  <a:srgbClr val="FF5722"/>
                </a:solidFill>
                <a:latin typeface="NotoSansSC"/>
              </a:rPr>
              <a:t>高噪音线索筛选</a:t>
            </a:r>
            <a:br>
              <a:rPr lang="zh-CN" altLang="en-US" sz="1050" dirty="0">
                <a:solidFill>
                  <a:srgbClr val="FF5722"/>
                </a:solidFill>
                <a:latin typeface="NotoSansSC"/>
              </a:rPr>
            </a:br>
            <a:r>
              <a:rPr lang="zh-CN" altLang="en-US" sz="1050" dirty="0">
                <a:solidFill>
                  <a:srgbClr val="FF5722"/>
                </a:solidFill>
                <a:latin typeface="NotoSansSC"/>
              </a:rPr>
              <a:t>长周期根因定位</a:t>
            </a:r>
            <a:endParaRPr lang="en-US" sz="1050" dirty="0">
              <a:solidFill>
                <a:srgbClr val="FF5722"/>
              </a:solidFill>
              <a:latin typeface="NotoSansSC"/>
            </a:endParaRPr>
          </a:p>
        </p:txBody>
      </p:sp>
      <p:pic>
        <p:nvPicPr>
          <p:cNvPr id="31" name="图片 30"/>
          <p:cNvPicPr/>
          <p:nvPr/>
        </p:nvPicPr>
        <p:blipFill>
          <a:blip r:embed="rId11"/>
          <a:stretch/>
        </p:blipFill>
        <p:spPr>
          <a:xfrm>
            <a:off x="8191440" y="1305000"/>
            <a:ext cx="3533400" cy="322883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3" name="图片 32"/>
          <p:cNvPicPr/>
          <p:nvPr/>
        </p:nvPicPr>
        <p:blipFill>
          <a:blip r:embed="rId12"/>
          <a:stretch/>
        </p:blipFill>
        <p:spPr>
          <a:xfrm>
            <a:off x="457200" y="5924520"/>
            <a:ext cx="11277360" cy="590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" name="任意多边形: 形状 34"/>
          <p:cNvSpPr/>
          <p:nvPr/>
        </p:nvSpPr>
        <p:spPr>
          <a:xfrm>
            <a:off x="6257880" y="6181560"/>
            <a:ext cx="171720" cy="76680"/>
          </a:xfrm>
          <a:custGeom>
            <a:avLst/>
            <a:gdLst/>
            <a:ahLst/>
            <a:cxnLst/>
            <a:rect l="0" t="0" r="r" b="b"/>
            <a:pathLst>
              <a:path w="477" h="213" fill="none">
                <a:moveTo>
                  <a:pt x="370" y="0"/>
                </a:moveTo>
                <a:lnTo>
                  <a:pt x="477" y="107"/>
                </a:lnTo>
                <a:moveTo>
                  <a:pt x="477" y="107"/>
                </a:moveTo>
                <a:lnTo>
                  <a:pt x="370" y="213"/>
                </a:lnTo>
                <a:moveTo>
                  <a:pt x="477" y="107"/>
                </a:moveTo>
                <a:lnTo>
                  <a:pt x="0" y="107"/>
                </a:lnTo>
              </a:path>
            </a:pathLst>
          </a:custGeom>
          <a:ln w="18720" cap="rnd">
            <a:solidFill>
              <a:srgbClr val="0052D9"/>
            </a:solidFill>
            <a:round/>
          </a:ln>
        </p:spPr>
        <p:txBody>
          <a:bodyPr lIns="9360" tIns="9360" rIns="9360" bIns="936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4971960" y="6112800"/>
            <a:ext cx="108000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350" b="0" u="none" strike="noStrike">
                <a:solidFill>
                  <a:srgbClr val="4B5563"/>
                </a:solidFill>
                <a:effectLst/>
                <a:uFillTx/>
                <a:latin typeface="NotoSansSC"/>
                <a:ea typeface="NotoSansSC"/>
              </a:rPr>
              <a:t>传统开发模式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6686640" y="6092280"/>
            <a:ext cx="1198661" cy="23083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sz="1500" b="0" u="none" strike="noStrike" dirty="0">
                <a:solidFill>
                  <a:schemeClr val="accent6"/>
                </a:solidFill>
                <a:effectLst/>
                <a:uFillTx/>
                <a:latin typeface="NotoSansSC"/>
              </a:rPr>
              <a:t>效率难以提高</a:t>
            </a:r>
            <a:endParaRPr lang="en-US" sz="1500" b="0" u="none" strike="noStrike" dirty="0">
              <a:solidFill>
                <a:schemeClr val="accent6"/>
              </a:solidFill>
              <a:effectLst/>
              <a:uFillTx/>
              <a:latin typeface="Times New Roman"/>
            </a:endParaRPr>
          </a:p>
        </p:txBody>
      </p:sp>
      <p:pic>
        <p:nvPicPr>
          <p:cNvPr id="58" name="图片 57">
            <a:extLst>
              <a:ext uri="{FF2B5EF4-FFF2-40B4-BE49-F238E27FC236}">
                <a16:creationId xmlns:a16="http://schemas.microsoft.com/office/drawing/2014/main" id="{A845F3B8-3E4A-FB3F-9DFD-E0F31F253CF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381840" y="1743601"/>
            <a:ext cx="2349541" cy="931132"/>
          </a:xfrm>
          <a:prstGeom prst="rect">
            <a:avLst/>
          </a:prstGeom>
        </p:spPr>
      </p:pic>
      <p:pic>
        <p:nvPicPr>
          <p:cNvPr id="60" name="图片 59">
            <a:extLst>
              <a:ext uri="{FF2B5EF4-FFF2-40B4-BE49-F238E27FC236}">
                <a16:creationId xmlns:a16="http://schemas.microsoft.com/office/drawing/2014/main" id="{BD67EFC3-C34A-4BBE-3B48-EEA033167E68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381840" y="2769946"/>
            <a:ext cx="2396054" cy="392354"/>
          </a:xfrm>
          <a:prstGeom prst="rect">
            <a:avLst/>
          </a:prstGeom>
        </p:spPr>
      </p:pic>
      <p:sp>
        <p:nvSpPr>
          <p:cNvPr id="67" name="文本框 66">
            <a:extLst>
              <a:ext uri="{FF2B5EF4-FFF2-40B4-BE49-F238E27FC236}">
                <a16:creationId xmlns:a16="http://schemas.microsoft.com/office/drawing/2014/main" id="{649556F9-3C4A-8D83-AA31-B657D5189FB0}"/>
              </a:ext>
            </a:extLst>
          </p:cNvPr>
          <p:cNvSpPr txBox="1"/>
          <p:nvPr/>
        </p:nvSpPr>
        <p:spPr>
          <a:xfrm>
            <a:off x="4488191" y="2001279"/>
            <a:ext cx="769441" cy="23083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sz="1500" b="0" u="none" strike="noStrike" dirty="0">
                <a:solidFill>
                  <a:srgbClr val="333333"/>
                </a:solidFill>
                <a:effectLst/>
                <a:uFillTx/>
                <a:latin typeface="NotoSansSC"/>
                <a:ea typeface="NotoSansSC"/>
              </a:rPr>
              <a:t>企微文档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46F8D418-CE2D-CD64-07E4-FA6B950E1A43}"/>
              </a:ext>
            </a:extLst>
          </p:cNvPr>
          <p:cNvSpPr txBox="1"/>
          <p:nvPr/>
        </p:nvSpPr>
        <p:spPr>
          <a:xfrm>
            <a:off x="4983639" y="1440495"/>
            <a:ext cx="2224968" cy="23083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altLang="zh-CN" sz="1500" b="0" u="none" strike="noStrike" dirty="0">
                <a:solidFill>
                  <a:srgbClr val="333333"/>
                </a:solidFill>
                <a:effectLst/>
                <a:uFillTx/>
                <a:latin typeface="NotoSansSC"/>
                <a:ea typeface="NotoSansSC"/>
              </a:rPr>
              <a:t>API </a:t>
            </a:r>
            <a:r>
              <a:rPr lang="zh-CN" altLang="en-US" sz="1500" b="0" u="none" strike="noStrike" dirty="0">
                <a:solidFill>
                  <a:srgbClr val="333333"/>
                </a:solidFill>
                <a:effectLst/>
                <a:uFillTx/>
                <a:latin typeface="NotoSansSC"/>
                <a:ea typeface="NotoSansSC"/>
              </a:rPr>
              <a:t>分散且可调用性难保证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F0229235-EC44-B9E0-1B36-BDA9A01AA000}"/>
              </a:ext>
            </a:extLst>
          </p:cNvPr>
          <p:cNvSpPr txBox="1"/>
          <p:nvPr/>
        </p:nvSpPr>
        <p:spPr>
          <a:xfrm>
            <a:off x="4488191" y="2777676"/>
            <a:ext cx="394339" cy="23083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altLang="zh-CN" sz="1500" b="0" u="none" strike="noStrike" dirty="0" err="1">
                <a:solidFill>
                  <a:srgbClr val="000000"/>
                </a:solidFill>
                <a:effectLst/>
                <a:uFillTx/>
                <a:latin typeface="NotoSansSC"/>
              </a:rPr>
              <a:t>iWiki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NotoSansSC"/>
            </a:endParaRP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8D62694C-986A-BD39-602B-3FEB1ACB5F33}"/>
              </a:ext>
            </a:extLst>
          </p:cNvPr>
          <p:cNvSpPr txBox="1"/>
          <p:nvPr/>
        </p:nvSpPr>
        <p:spPr>
          <a:xfrm>
            <a:off x="4488191" y="3712248"/>
            <a:ext cx="769441" cy="23083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sz="1500" b="0" u="none" strike="noStrike" dirty="0">
                <a:solidFill>
                  <a:srgbClr val="333333"/>
                </a:solidFill>
                <a:effectLst/>
                <a:uFillTx/>
                <a:latin typeface="NotoSansSC"/>
                <a:ea typeface="NotoSansSC"/>
              </a:rPr>
              <a:t>代码注释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15D39E61-A225-C1E3-6D07-0DC5CA6E3F23}"/>
              </a:ext>
            </a:extLst>
          </p:cNvPr>
          <p:cNvSpPr txBox="1"/>
          <p:nvPr/>
        </p:nvSpPr>
        <p:spPr>
          <a:xfrm>
            <a:off x="8252857" y="1346348"/>
            <a:ext cx="2204450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500" dirty="0"/>
              <a:t>1. </a:t>
            </a:r>
            <a:r>
              <a:rPr lang="zh-CN" altLang="en-US" sz="1500" dirty="0">
                <a:solidFill>
                  <a:schemeClr val="accent6"/>
                </a:solidFill>
              </a:rPr>
              <a:t>手动</a:t>
            </a:r>
            <a:r>
              <a:rPr lang="zh-CN" altLang="en-US" sz="1500" dirty="0"/>
              <a:t>拉取智研</a:t>
            </a:r>
            <a:r>
              <a:rPr lang="en-US" altLang="zh-CN" sz="1500" dirty="0"/>
              <a:t>DS</a:t>
            </a:r>
            <a:r>
              <a:rPr lang="zh-CN" altLang="en-US" sz="1500" dirty="0"/>
              <a:t>日志</a:t>
            </a:r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017B9879-F23F-794A-04A8-F4F256B08BF9}"/>
              </a:ext>
            </a:extLst>
          </p:cNvPr>
          <p:cNvSpPr txBox="1"/>
          <p:nvPr/>
        </p:nvSpPr>
        <p:spPr>
          <a:xfrm>
            <a:off x="8252857" y="2564424"/>
            <a:ext cx="310854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500" dirty="0">
                <a:latin typeface="NotoSansSC"/>
              </a:rPr>
              <a:t>2. </a:t>
            </a:r>
            <a:r>
              <a:rPr lang="zh-CN" altLang="en-US" sz="1500" dirty="0">
                <a:solidFill>
                  <a:schemeClr val="accent6"/>
                </a:solidFill>
                <a:latin typeface="NotoSansSC"/>
              </a:rPr>
              <a:t>人工</a:t>
            </a:r>
            <a:r>
              <a:rPr lang="zh-CN" altLang="en-US" sz="1500" dirty="0">
                <a:latin typeface="NotoSansSC"/>
              </a:rPr>
              <a:t>过滤并分析</a:t>
            </a:r>
            <a:r>
              <a:rPr lang="en-US" altLang="zh-CN" sz="1500" dirty="0">
                <a:latin typeface="NotoSansSC"/>
              </a:rPr>
              <a:t>DS&amp;</a:t>
            </a:r>
            <a:r>
              <a:rPr lang="zh-CN" altLang="en-US" sz="1500" dirty="0">
                <a:latin typeface="NotoSansSC"/>
              </a:rPr>
              <a:t>客户端日志</a:t>
            </a: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5CC73F66-8BD2-4A47-FD5D-664298CB9704}"/>
              </a:ext>
            </a:extLst>
          </p:cNvPr>
          <p:cNvSpPr txBox="1"/>
          <p:nvPr/>
        </p:nvSpPr>
        <p:spPr>
          <a:xfrm>
            <a:off x="8252857" y="3300850"/>
            <a:ext cx="284565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500" dirty="0">
                <a:latin typeface="NotoSansSC"/>
              </a:rPr>
              <a:t>3.</a:t>
            </a:r>
            <a:r>
              <a:rPr lang="zh-CN" altLang="en-US" sz="1500" dirty="0">
                <a:solidFill>
                  <a:schemeClr val="accent6"/>
                </a:solidFill>
                <a:latin typeface="NotoSansSC"/>
              </a:rPr>
              <a:t>肉眼</a:t>
            </a:r>
            <a:r>
              <a:rPr lang="zh-CN" altLang="en-US" sz="1500" dirty="0">
                <a:latin typeface="NotoSansSC"/>
              </a:rPr>
              <a:t>比对源码与日志分析根因</a:t>
            </a:r>
          </a:p>
        </p:txBody>
      </p:sp>
      <p:pic>
        <p:nvPicPr>
          <p:cNvPr id="94" name="图片 93">
            <a:extLst>
              <a:ext uri="{FF2B5EF4-FFF2-40B4-BE49-F238E27FC236}">
                <a16:creationId xmlns:a16="http://schemas.microsoft.com/office/drawing/2014/main" id="{CC55AB8C-B106-C486-550C-CEC218D3199F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381840" y="3213197"/>
            <a:ext cx="2456302" cy="1221038"/>
          </a:xfrm>
          <a:prstGeom prst="rect">
            <a:avLst/>
          </a:prstGeom>
        </p:spPr>
      </p:pic>
      <p:pic>
        <p:nvPicPr>
          <p:cNvPr id="96" name="图片 95">
            <a:extLst>
              <a:ext uri="{FF2B5EF4-FFF2-40B4-BE49-F238E27FC236}">
                <a16:creationId xmlns:a16="http://schemas.microsoft.com/office/drawing/2014/main" id="{84260048-31A4-468D-B4B2-E8BA754BAFEF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883741" y="1645816"/>
            <a:ext cx="2153831" cy="913646"/>
          </a:xfrm>
          <a:prstGeom prst="rect">
            <a:avLst/>
          </a:prstGeom>
        </p:spPr>
      </p:pic>
      <p:pic>
        <p:nvPicPr>
          <p:cNvPr id="100" name="图片 99">
            <a:extLst>
              <a:ext uri="{FF2B5EF4-FFF2-40B4-BE49-F238E27FC236}">
                <a16:creationId xmlns:a16="http://schemas.microsoft.com/office/drawing/2014/main" id="{8F0AC6E2-E7EE-161B-5C51-CE90EFA77AE4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264777" y="2928047"/>
            <a:ext cx="3379153" cy="331179"/>
          </a:xfrm>
          <a:prstGeom prst="rect">
            <a:avLst/>
          </a:prstGeom>
        </p:spPr>
      </p:pic>
      <p:pic>
        <p:nvPicPr>
          <p:cNvPr id="104" name="图片 103">
            <a:extLst>
              <a:ext uri="{FF2B5EF4-FFF2-40B4-BE49-F238E27FC236}">
                <a16:creationId xmlns:a16="http://schemas.microsoft.com/office/drawing/2014/main" id="{562B7DA4-BA33-74CE-1F2F-7D68DB04ACCC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246504" y="3594905"/>
            <a:ext cx="3415700" cy="842659"/>
          </a:xfrm>
          <a:prstGeom prst="rect">
            <a:avLst/>
          </a:prstGeom>
        </p:spPr>
      </p:pic>
      <p:pic>
        <p:nvPicPr>
          <p:cNvPr id="114" name="图片 113">
            <a:extLst>
              <a:ext uri="{FF2B5EF4-FFF2-40B4-BE49-F238E27FC236}">
                <a16:creationId xmlns:a16="http://schemas.microsoft.com/office/drawing/2014/main" id="{0EFE8106-CCA2-16FB-8F5C-F82B3A037E4C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14440" y="1342800"/>
            <a:ext cx="1706449" cy="3130629"/>
          </a:xfrm>
          <a:prstGeom prst="rect">
            <a:avLst/>
          </a:prstGeom>
        </p:spPr>
      </p:pic>
      <p:pic>
        <p:nvPicPr>
          <p:cNvPr id="116" name="图片 115">
            <a:extLst>
              <a:ext uri="{FF2B5EF4-FFF2-40B4-BE49-F238E27FC236}">
                <a16:creationId xmlns:a16="http://schemas.microsoft.com/office/drawing/2014/main" id="{A743A0F1-88DB-50DD-6391-6E3A7C0D2FD5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339433" y="1327734"/>
            <a:ext cx="1702774" cy="3141793"/>
          </a:xfrm>
          <a:prstGeom prst="rect">
            <a:avLst/>
          </a:prstGeom>
        </p:spPr>
      </p:pic>
      <p:pic>
        <p:nvPicPr>
          <p:cNvPr id="118" name="图片 117">
            <a:extLst>
              <a:ext uri="{FF2B5EF4-FFF2-40B4-BE49-F238E27FC236}">
                <a16:creationId xmlns:a16="http://schemas.microsoft.com/office/drawing/2014/main" id="{59326F46-A91A-1FB2-294E-91968E976CF5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268769" y="1301826"/>
            <a:ext cx="1692644" cy="3173707"/>
          </a:xfrm>
          <a:prstGeom prst="rect">
            <a:avLst/>
          </a:prstGeom>
        </p:spPr>
      </p:pic>
      <p:pic>
        <p:nvPicPr>
          <p:cNvPr id="120" name="图形 119" descr="感叹号 纯色填充">
            <a:extLst>
              <a:ext uri="{FF2B5EF4-FFF2-40B4-BE49-F238E27FC236}">
                <a16:creationId xmlns:a16="http://schemas.microsoft.com/office/drawing/2014/main" id="{B71CBFA9-F252-90E4-9ACC-983D5E879B07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695160" y="4839110"/>
            <a:ext cx="305280" cy="305280"/>
          </a:xfrm>
          <a:prstGeom prst="rect">
            <a:avLst/>
          </a:prstGeom>
        </p:spPr>
      </p:pic>
      <p:pic>
        <p:nvPicPr>
          <p:cNvPr id="121" name="图形 120" descr="感叹号 纯色填充">
            <a:extLst>
              <a:ext uri="{FF2B5EF4-FFF2-40B4-BE49-F238E27FC236}">
                <a16:creationId xmlns:a16="http://schemas.microsoft.com/office/drawing/2014/main" id="{46504152-C613-FE81-C299-8FB4CCDBFA57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8422960" y="4834220"/>
            <a:ext cx="305280" cy="305280"/>
          </a:xfrm>
          <a:prstGeom prst="rect">
            <a:avLst/>
          </a:prstGeom>
        </p:spPr>
      </p:pic>
      <p:pic>
        <p:nvPicPr>
          <p:cNvPr id="122" name="图形 121" descr="感叹号 纯色填充">
            <a:extLst>
              <a:ext uri="{FF2B5EF4-FFF2-40B4-BE49-F238E27FC236}">
                <a16:creationId xmlns:a16="http://schemas.microsoft.com/office/drawing/2014/main" id="{4584619F-3A7C-F3FD-935D-289DE25E82CA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4552560" y="4836029"/>
            <a:ext cx="305280" cy="3052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10D89-FB2E-626B-9C42-029C1FDE6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25DF0D63-B4E4-EC0F-4226-B9330BCF3ED3}"/>
              </a:ext>
            </a:extLst>
          </p:cNvPr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0F2F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63D1DE36-A3D4-A823-4421-55C1D39D0214}"/>
              </a:ext>
            </a:extLst>
          </p:cNvPr>
          <p:cNvSpPr/>
          <p:nvPr/>
        </p:nvSpPr>
        <p:spPr>
          <a:xfrm>
            <a:off x="0" y="-10833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AB1814D-FDD9-2CC1-310E-098FBBDCFB21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9334440" y="-952560"/>
            <a:ext cx="3809520" cy="3809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4ADAFCA4-D69B-0D64-92B9-07EA02F033CA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380880" y="380880"/>
            <a:ext cx="952200" cy="952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F7F4CD38-EFA9-E99E-DC06-66576CB24EE1}"/>
              </a:ext>
            </a:extLst>
          </p:cNvPr>
          <p:cNvPicPr/>
          <p:nvPr/>
        </p:nvPicPr>
        <p:blipFill>
          <a:blip r:embed="rId5"/>
          <a:stretch/>
        </p:blipFill>
        <p:spPr>
          <a:xfrm>
            <a:off x="0" y="6819840"/>
            <a:ext cx="12191760" cy="37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7D543C90-2F74-51C6-CF14-3D01E6D3D6C0}"/>
              </a:ext>
            </a:extLst>
          </p:cNvPr>
          <p:cNvSpPr/>
          <p:nvPr/>
        </p:nvSpPr>
        <p:spPr>
          <a:xfrm>
            <a:off x="456840" y="399960"/>
            <a:ext cx="57600" cy="304920"/>
          </a:xfrm>
          <a:custGeom>
            <a:avLst/>
            <a:gdLst/>
            <a:ahLst/>
            <a:cxnLst/>
            <a:rect l="0" t="0" r="r" b="b"/>
            <a:pathLst>
              <a:path w="160" h="847">
                <a:moveTo>
                  <a:pt x="0" y="0"/>
                </a:moveTo>
                <a:lnTo>
                  <a:pt x="160" y="0"/>
                </a:lnTo>
                <a:lnTo>
                  <a:pt x="160" y="847"/>
                </a:lnTo>
                <a:lnTo>
                  <a:pt x="0" y="847"/>
                </a:lnTo>
                <a:lnTo>
                  <a:pt x="0" y="0"/>
                </a:lnTo>
                <a:close/>
              </a:path>
            </a:pathLst>
          </a:custGeom>
          <a:solidFill>
            <a:srgbClr val="0052D9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BF1A63C-9772-792F-BC7E-2F7696A23C95}"/>
              </a:ext>
            </a:extLst>
          </p:cNvPr>
          <p:cNvSpPr txBox="1"/>
          <p:nvPr/>
        </p:nvSpPr>
        <p:spPr>
          <a:xfrm>
            <a:off x="628560" y="370800"/>
            <a:ext cx="2700360" cy="41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2250" b="0" u="none" strike="noStrike" dirty="0">
                <a:solidFill>
                  <a:srgbClr val="333333"/>
                </a:solidFill>
                <a:effectLst/>
                <a:uFillTx/>
                <a:latin typeface="NotoSansSC"/>
                <a:ea typeface="NotoSansSC"/>
              </a:rPr>
              <a:t>日常战斗开发的困境</a:t>
            </a:r>
            <a:endParaRPr lang="en-US" sz="225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BBA03A3B-DBD3-22CC-C48E-C2B49CEA0347}"/>
              </a:ext>
            </a:extLst>
          </p:cNvPr>
          <p:cNvPicPr/>
          <p:nvPr/>
        </p:nvPicPr>
        <p:blipFill>
          <a:blip r:embed="rId6"/>
          <a:stretch/>
        </p:blipFill>
        <p:spPr>
          <a:xfrm>
            <a:off x="457200" y="1282463"/>
            <a:ext cx="3552480" cy="432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" name="任意多边形: 形状 9">
            <a:extLst>
              <a:ext uri="{FF2B5EF4-FFF2-40B4-BE49-F238E27FC236}">
                <a16:creationId xmlns:a16="http://schemas.microsoft.com/office/drawing/2014/main" id="{22AC1CE3-F41B-2540-6BA1-74F91157AE5A}"/>
              </a:ext>
            </a:extLst>
          </p:cNvPr>
          <p:cNvSpPr/>
          <p:nvPr/>
        </p:nvSpPr>
        <p:spPr>
          <a:xfrm>
            <a:off x="695160" y="4839110"/>
            <a:ext cx="305280" cy="305280"/>
          </a:xfrm>
          <a:custGeom>
            <a:avLst/>
            <a:gdLst/>
            <a:ahLst/>
            <a:cxnLst/>
            <a:rect l="0" t="0" r="r" b="b"/>
            <a:pathLst>
              <a:path w="848" h="848">
                <a:moveTo>
                  <a:pt x="848" y="424"/>
                </a:moveTo>
                <a:cubicBezTo>
                  <a:pt x="848" y="452"/>
                  <a:pt x="845" y="480"/>
                  <a:pt x="839" y="507"/>
                </a:cubicBezTo>
                <a:cubicBezTo>
                  <a:pt x="834" y="534"/>
                  <a:pt x="826" y="561"/>
                  <a:pt x="815" y="586"/>
                </a:cubicBezTo>
                <a:cubicBezTo>
                  <a:pt x="805" y="612"/>
                  <a:pt x="792" y="636"/>
                  <a:pt x="776" y="659"/>
                </a:cubicBezTo>
                <a:cubicBezTo>
                  <a:pt x="761" y="683"/>
                  <a:pt x="743" y="704"/>
                  <a:pt x="724" y="724"/>
                </a:cubicBezTo>
                <a:cubicBezTo>
                  <a:pt x="704" y="743"/>
                  <a:pt x="683" y="761"/>
                  <a:pt x="659" y="776"/>
                </a:cubicBezTo>
                <a:cubicBezTo>
                  <a:pt x="636" y="792"/>
                  <a:pt x="612" y="805"/>
                  <a:pt x="586" y="815"/>
                </a:cubicBezTo>
                <a:cubicBezTo>
                  <a:pt x="561" y="826"/>
                  <a:pt x="534" y="834"/>
                  <a:pt x="507" y="839"/>
                </a:cubicBezTo>
                <a:cubicBezTo>
                  <a:pt x="480" y="845"/>
                  <a:pt x="452" y="848"/>
                  <a:pt x="424" y="848"/>
                </a:cubicBezTo>
                <a:cubicBezTo>
                  <a:pt x="396" y="848"/>
                  <a:pt x="369" y="845"/>
                  <a:pt x="342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7" y="805"/>
                  <a:pt x="212" y="792"/>
                  <a:pt x="189" y="776"/>
                </a:cubicBezTo>
                <a:cubicBezTo>
                  <a:pt x="165" y="761"/>
                  <a:pt x="144" y="743"/>
                  <a:pt x="124" y="724"/>
                </a:cubicBezTo>
                <a:cubicBezTo>
                  <a:pt x="104" y="704"/>
                  <a:pt x="87" y="683"/>
                  <a:pt x="71" y="659"/>
                </a:cubicBezTo>
                <a:cubicBezTo>
                  <a:pt x="56" y="636"/>
                  <a:pt x="43" y="612"/>
                  <a:pt x="32" y="586"/>
                </a:cubicBezTo>
                <a:cubicBezTo>
                  <a:pt x="22" y="561"/>
                  <a:pt x="14" y="534"/>
                  <a:pt x="8" y="507"/>
                </a:cubicBezTo>
                <a:cubicBezTo>
                  <a:pt x="3" y="480"/>
                  <a:pt x="0" y="452"/>
                  <a:pt x="0" y="424"/>
                </a:cubicBezTo>
                <a:cubicBezTo>
                  <a:pt x="0" y="396"/>
                  <a:pt x="3" y="368"/>
                  <a:pt x="8" y="341"/>
                </a:cubicBezTo>
                <a:cubicBezTo>
                  <a:pt x="14" y="313"/>
                  <a:pt x="22" y="287"/>
                  <a:pt x="32" y="261"/>
                </a:cubicBezTo>
                <a:cubicBezTo>
                  <a:pt x="43" y="236"/>
                  <a:pt x="56" y="211"/>
                  <a:pt x="71" y="188"/>
                </a:cubicBezTo>
                <a:cubicBezTo>
                  <a:pt x="87" y="165"/>
                  <a:pt x="104" y="144"/>
                  <a:pt x="124" y="124"/>
                </a:cubicBezTo>
                <a:cubicBezTo>
                  <a:pt x="144" y="104"/>
                  <a:pt x="165" y="87"/>
                  <a:pt x="189" y="71"/>
                </a:cubicBezTo>
                <a:cubicBezTo>
                  <a:pt x="212" y="56"/>
                  <a:pt x="237" y="43"/>
                  <a:pt x="262" y="32"/>
                </a:cubicBezTo>
                <a:cubicBezTo>
                  <a:pt x="288" y="22"/>
                  <a:pt x="314" y="14"/>
                  <a:pt x="342" y="8"/>
                </a:cubicBezTo>
                <a:cubicBezTo>
                  <a:pt x="369" y="3"/>
                  <a:pt x="396" y="0"/>
                  <a:pt x="424" y="0"/>
                </a:cubicBezTo>
                <a:cubicBezTo>
                  <a:pt x="452" y="0"/>
                  <a:pt x="480" y="3"/>
                  <a:pt x="507" y="8"/>
                </a:cubicBezTo>
                <a:cubicBezTo>
                  <a:pt x="534" y="14"/>
                  <a:pt x="561" y="22"/>
                  <a:pt x="586" y="32"/>
                </a:cubicBezTo>
                <a:cubicBezTo>
                  <a:pt x="612" y="43"/>
                  <a:pt x="636" y="56"/>
                  <a:pt x="659" y="71"/>
                </a:cubicBezTo>
                <a:cubicBezTo>
                  <a:pt x="683" y="87"/>
                  <a:pt x="704" y="104"/>
                  <a:pt x="724" y="124"/>
                </a:cubicBezTo>
                <a:cubicBezTo>
                  <a:pt x="743" y="144"/>
                  <a:pt x="761" y="165"/>
                  <a:pt x="776" y="188"/>
                </a:cubicBezTo>
                <a:cubicBezTo>
                  <a:pt x="792" y="211"/>
                  <a:pt x="805" y="236"/>
                  <a:pt x="815" y="261"/>
                </a:cubicBezTo>
                <a:cubicBezTo>
                  <a:pt x="826" y="287"/>
                  <a:pt x="834" y="313"/>
                  <a:pt x="839" y="341"/>
                </a:cubicBezTo>
                <a:cubicBezTo>
                  <a:pt x="845" y="368"/>
                  <a:pt x="848" y="396"/>
                  <a:pt x="848" y="424"/>
                </a:cubicBezTo>
                <a:close/>
              </a:path>
            </a:pathLst>
          </a:custGeom>
          <a:solidFill>
            <a:srgbClr val="EFF6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9A6469B9-C4AC-73A9-CDAE-5AE634F836F0}"/>
              </a:ext>
            </a:extLst>
          </p:cNvPr>
          <p:cNvPicPr/>
          <p:nvPr/>
        </p:nvPicPr>
        <p:blipFill>
          <a:blip r:embed="rId7"/>
          <a:stretch/>
        </p:blipFill>
        <p:spPr>
          <a:xfrm>
            <a:off x="466560" y="1305000"/>
            <a:ext cx="3533400" cy="322883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D1B2E977-AF89-7C01-E5A4-6674F758EC44}"/>
              </a:ext>
            </a:extLst>
          </p:cNvPr>
          <p:cNvSpPr txBox="1"/>
          <p:nvPr/>
        </p:nvSpPr>
        <p:spPr>
          <a:xfrm>
            <a:off x="647640" y="810000"/>
            <a:ext cx="210024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6B7280"/>
                </a:solidFill>
                <a:effectLst/>
                <a:uFillTx/>
                <a:latin typeface="NotoSansSC"/>
                <a:ea typeface="NotoSansSC"/>
              </a:rPr>
              <a:t>Current Development Challenges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FD82DA6-84E4-8B2D-C0CE-F380CD62793C}"/>
              </a:ext>
            </a:extLst>
          </p:cNvPr>
          <p:cNvSpPr txBox="1"/>
          <p:nvPr/>
        </p:nvSpPr>
        <p:spPr>
          <a:xfrm>
            <a:off x="1114560" y="4864310"/>
            <a:ext cx="1154162" cy="56938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500" b="0" u="none" strike="noStrike" dirty="0">
                <a:solidFill>
                  <a:srgbClr val="FF5722"/>
                </a:solidFill>
                <a:effectLst/>
                <a:uFillTx/>
                <a:latin typeface="NotoSansSC"/>
                <a:ea typeface="NotoSansSC"/>
              </a:rPr>
              <a:t>样板代码堆积</a:t>
            </a:r>
            <a:endParaRPr lang="en-US" altLang="zh-CN" sz="1500" b="0" u="none" strike="noStrike" dirty="0">
              <a:solidFill>
                <a:srgbClr val="FF5722"/>
              </a:solidFill>
              <a:effectLst/>
              <a:uFillTx/>
              <a:latin typeface="NotoSansSC"/>
              <a:ea typeface="NotoSansSC"/>
            </a:endParaRPr>
          </a:p>
          <a:p>
            <a:r>
              <a:rPr lang="en-US" sz="1050" b="0" u="none" strike="noStrike" dirty="0">
                <a:solidFill>
                  <a:srgbClr val="FF5722"/>
                </a:solidFill>
                <a:effectLst/>
                <a:uFillTx/>
                <a:latin typeface="NotoSansSC"/>
              </a:rPr>
              <a:t>80+ </a:t>
            </a:r>
            <a:r>
              <a:rPr lang="en-US" altLang="zh-CN" sz="1050" b="0" u="none" strike="noStrike" dirty="0">
                <a:solidFill>
                  <a:srgbClr val="FF5722"/>
                </a:solidFill>
                <a:effectLst/>
                <a:uFillTx/>
                <a:latin typeface="NotoSansSC"/>
              </a:rPr>
              <a:t>Lua Tasks</a:t>
            </a:r>
          </a:p>
          <a:p>
            <a:r>
              <a:rPr lang="en-US" altLang="zh-CN" sz="1050" dirty="0">
                <a:solidFill>
                  <a:srgbClr val="FF5722"/>
                </a:solidFill>
                <a:latin typeface="NotoSansSC"/>
              </a:rPr>
              <a:t>C++…</a:t>
            </a:r>
            <a:endParaRPr lang="en-US" sz="1050" b="0" u="none" strike="noStrike" dirty="0">
              <a:solidFill>
                <a:srgbClr val="FF5722"/>
              </a:solidFill>
              <a:effectLst/>
              <a:uFillTx/>
              <a:latin typeface="NotoSansSC"/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53C448A2-B4EE-7A7C-F477-2222274E8BA4}"/>
              </a:ext>
            </a:extLst>
          </p:cNvPr>
          <p:cNvPicPr/>
          <p:nvPr/>
        </p:nvPicPr>
        <p:blipFill>
          <a:blip r:embed="rId8"/>
          <a:stretch/>
        </p:blipFill>
        <p:spPr>
          <a:xfrm>
            <a:off x="4314960" y="1295280"/>
            <a:ext cx="3561840" cy="432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8DA8ACBC-261D-ED0D-3287-B3A057844B0F}"/>
              </a:ext>
            </a:extLst>
          </p:cNvPr>
          <p:cNvSpPr/>
          <p:nvPr/>
        </p:nvSpPr>
        <p:spPr>
          <a:xfrm>
            <a:off x="4552920" y="4839110"/>
            <a:ext cx="304920" cy="305280"/>
          </a:xfrm>
          <a:custGeom>
            <a:avLst/>
            <a:gdLst/>
            <a:ahLst/>
            <a:cxnLst/>
            <a:rect l="0" t="0" r="r" b="b"/>
            <a:pathLst>
              <a:path w="847" h="848">
                <a:moveTo>
                  <a:pt x="847" y="424"/>
                </a:moveTo>
                <a:cubicBezTo>
                  <a:pt x="847" y="452"/>
                  <a:pt x="845" y="480"/>
                  <a:pt x="839" y="507"/>
                </a:cubicBezTo>
                <a:cubicBezTo>
                  <a:pt x="834" y="534"/>
                  <a:pt x="826" y="561"/>
                  <a:pt x="815" y="586"/>
                </a:cubicBezTo>
                <a:cubicBezTo>
                  <a:pt x="804" y="612"/>
                  <a:pt x="791" y="636"/>
                  <a:pt x="776" y="659"/>
                </a:cubicBezTo>
                <a:cubicBezTo>
                  <a:pt x="760" y="683"/>
                  <a:pt x="743" y="704"/>
                  <a:pt x="723" y="724"/>
                </a:cubicBezTo>
                <a:cubicBezTo>
                  <a:pt x="704" y="743"/>
                  <a:pt x="682" y="761"/>
                  <a:pt x="659" y="776"/>
                </a:cubicBezTo>
                <a:cubicBezTo>
                  <a:pt x="636" y="792"/>
                  <a:pt x="612" y="805"/>
                  <a:pt x="586" y="815"/>
                </a:cubicBezTo>
                <a:cubicBezTo>
                  <a:pt x="560" y="826"/>
                  <a:pt x="534" y="834"/>
                  <a:pt x="507" y="839"/>
                </a:cubicBezTo>
                <a:cubicBezTo>
                  <a:pt x="479" y="845"/>
                  <a:pt x="451" y="848"/>
                  <a:pt x="423" y="848"/>
                </a:cubicBezTo>
                <a:cubicBezTo>
                  <a:pt x="395" y="848"/>
                  <a:pt x="368" y="845"/>
                  <a:pt x="340" y="839"/>
                </a:cubicBezTo>
                <a:cubicBezTo>
                  <a:pt x="313" y="834"/>
                  <a:pt x="287" y="826"/>
                  <a:pt x="261" y="815"/>
                </a:cubicBezTo>
                <a:cubicBezTo>
                  <a:pt x="235" y="805"/>
                  <a:pt x="211" y="792"/>
                  <a:pt x="188" y="776"/>
                </a:cubicBezTo>
                <a:cubicBezTo>
                  <a:pt x="165" y="761"/>
                  <a:pt x="143" y="743"/>
                  <a:pt x="124" y="724"/>
                </a:cubicBezTo>
                <a:cubicBezTo>
                  <a:pt x="104" y="704"/>
                  <a:pt x="86" y="683"/>
                  <a:pt x="71" y="659"/>
                </a:cubicBezTo>
                <a:cubicBezTo>
                  <a:pt x="55" y="636"/>
                  <a:pt x="42" y="612"/>
                  <a:pt x="32" y="586"/>
                </a:cubicBezTo>
                <a:cubicBezTo>
                  <a:pt x="21" y="561"/>
                  <a:pt x="13" y="534"/>
                  <a:pt x="8" y="507"/>
                </a:cubicBezTo>
                <a:cubicBezTo>
                  <a:pt x="2" y="480"/>
                  <a:pt x="0" y="452"/>
                  <a:pt x="0" y="424"/>
                </a:cubicBezTo>
                <a:cubicBezTo>
                  <a:pt x="0" y="396"/>
                  <a:pt x="2" y="368"/>
                  <a:pt x="8" y="341"/>
                </a:cubicBezTo>
                <a:cubicBezTo>
                  <a:pt x="13" y="313"/>
                  <a:pt x="21" y="287"/>
                  <a:pt x="32" y="261"/>
                </a:cubicBezTo>
                <a:cubicBezTo>
                  <a:pt x="42" y="236"/>
                  <a:pt x="55" y="211"/>
                  <a:pt x="71" y="188"/>
                </a:cubicBezTo>
                <a:cubicBezTo>
                  <a:pt x="86" y="165"/>
                  <a:pt x="104" y="144"/>
                  <a:pt x="124" y="124"/>
                </a:cubicBezTo>
                <a:cubicBezTo>
                  <a:pt x="143" y="104"/>
                  <a:pt x="165" y="87"/>
                  <a:pt x="188" y="71"/>
                </a:cubicBezTo>
                <a:cubicBezTo>
                  <a:pt x="211" y="56"/>
                  <a:pt x="235" y="43"/>
                  <a:pt x="261" y="32"/>
                </a:cubicBezTo>
                <a:cubicBezTo>
                  <a:pt x="287" y="22"/>
                  <a:pt x="313" y="14"/>
                  <a:pt x="340" y="8"/>
                </a:cubicBezTo>
                <a:cubicBezTo>
                  <a:pt x="368" y="3"/>
                  <a:pt x="395" y="0"/>
                  <a:pt x="423" y="0"/>
                </a:cubicBezTo>
                <a:cubicBezTo>
                  <a:pt x="451" y="0"/>
                  <a:pt x="479" y="3"/>
                  <a:pt x="507" y="8"/>
                </a:cubicBezTo>
                <a:cubicBezTo>
                  <a:pt x="534" y="14"/>
                  <a:pt x="560" y="22"/>
                  <a:pt x="586" y="32"/>
                </a:cubicBezTo>
                <a:cubicBezTo>
                  <a:pt x="612" y="43"/>
                  <a:pt x="636" y="56"/>
                  <a:pt x="659" y="71"/>
                </a:cubicBezTo>
                <a:cubicBezTo>
                  <a:pt x="682" y="87"/>
                  <a:pt x="704" y="104"/>
                  <a:pt x="723" y="124"/>
                </a:cubicBezTo>
                <a:cubicBezTo>
                  <a:pt x="743" y="144"/>
                  <a:pt x="760" y="165"/>
                  <a:pt x="776" y="188"/>
                </a:cubicBezTo>
                <a:cubicBezTo>
                  <a:pt x="791" y="211"/>
                  <a:pt x="804" y="236"/>
                  <a:pt x="815" y="261"/>
                </a:cubicBezTo>
                <a:cubicBezTo>
                  <a:pt x="826" y="287"/>
                  <a:pt x="834" y="313"/>
                  <a:pt x="839" y="341"/>
                </a:cubicBezTo>
                <a:cubicBezTo>
                  <a:pt x="845" y="368"/>
                  <a:pt x="847" y="396"/>
                  <a:pt x="847" y="424"/>
                </a:cubicBezTo>
                <a:close/>
              </a:path>
            </a:pathLst>
          </a:custGeom>
          <a:solidFill>
            <a:srgbClr val="EFF6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6456697-6FC6-12B8-9D81-2077FCE4E73F}"/>
              </a:ext>
            </a:extLst>
          </p:cNvPr>
          <p:cNvSpPr txBox="1"/>
          <p:nvPr/>
        </p:nvSpPr>
        <p:spPr>
          <a:xfrm>
            <a:off x="4975200" y="4864310"/>
            <a:ext cx="1027525" cy="56938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00" b="0" u="none" strike="noStrike" dirty="0">
                <a:solidFill>
                  <a:srgbClr val="FF5722"/>
                </a:solidFill>
                <a:effectLst/>
                <a:uFillTx/>
                <a:latin typeface="NotoSansSC"/>
                <a:ea typeface="NotoSansSC"/>
              </a:rPr>
              <a:t>API</a:t>
            </a:r>
            <a:r>
              <a:rPr lang="zh-CN" sz="1500" b="0" u="none" strike="noStrike" dirty="0">
                <a:solidFill>
                  <a:srgbClr val="FF5722"/>
                </a:solidFill>
                <a:effectLst/>
                <a:uFillTx/>
                <a:latin typeface="NotoSansSC"/>
                <a:ea typeface="NotoSansSC"/>
              </a:rPr>
              <a:t>检索低效</a:t>
            </a:r>
            <a:endParaRPr lang="en-US" altLang="zh-CN" sz="1500" b="0" u="none" strike="noStrike" dirty="0">
              <a:solidFill>
                <a:srgbClr val="FF5722"/>
              </a:solidFill>
              <a:effectLst/>
              <a:uFillTx/>
              <a:latin typeface="NotoSansSC"/>
              <a:ea typeface="NotoSansSC"/>
            </a:endParaRPr>
          </a:p>
          <a:p>
            <a:r>
              <a:rPr lang="zh-CN" altLang="en-US" sz="1050" b="0" u="none" strike="noStrike" dirty="0">
                <a:solidFill>
                  <a:srgbClr val="FF5722"/>
                </a:solidFill>
                <a:effectLst/>
                <a:uFillTx/>
                <a:latin typeface="NotoSansSC"/>
              </a:rPr>
              <a:t>文档</a:t>
            </a:r>
            <a:r>
              <a:rPr lang="zh-CN" altLang="en-US" sz="1050" dirty="0">
                <a:solidFill>
                  <a:srgbClr val="FF5722"/>
                </a:solidFill>
                <a:latin typeface="NotoSansSC"/>
              </a:rPr>
              <a:t>过期？</a:t>
            </a:r>
            <a:endParaRPr lang="en-US" altLang="zh-CN" sz="1050" dirty="0">
              <a:solidFill>
                <a:srgbClr val="FF5722"/>
              </a:solidFill>
              <a:latin typeface="NotoSansSC"/>
            </a:endParaRPr>
          </a:p>
          <a:p>
            <a:r>
              <a:rPr lang="zh-CN" altLang="en-US" sz="1050" dirty="0">
                <a:solidFill>
                  <a:srgbClr val="FF5722"/>
                </a:solidFill>
                <a:latin typeface="NotoSansSC"/>
              </a:rPr>
              <a:t>描述缺失？</a:t>
            </a:r>
            <a:endParaRPr lang="en-US" sz="1050" b="0" u="none" strike="noStrike" dirty="0">
              <a:solidFill>
                <a:srgbClr val="FF5722"/>
              </a:solidFill>
              <a:effectLst/>
              <a:uFillTx/>
              <a:latin typeface="NotoSansSC"/>
            </a:endParaRP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8BBF4261-E2B4-1E06-8B7B-0D377FAE816F}"/>
              </a:ext>
            </a:extLst>
          </p:cNvPr>
          <p:cNvPicPr/>
          <p:nvPr/>
        </p:nvPicPr>
        <p:blipFill>
          <a:blip r:embed="rId9"/>
          <a:stretch/>
        </p:blipFill>
        <p:spPr>
          <a:xfrm>
            <a:off x="4324320" y="1305000"/>
            <a:ext cx="3542760" cy="322883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5F87D6BB-3E7A-EEF6-2174-52AA7FA0DCA1}"/>
              </a:ext>
            </a:extLst>
          </p:cNvPr>
          <p:cNvPicPr/>
          <p:nvPr/>
        </p:nvPicPr>
        <p:blipFill>
          <a:blip r:embed="rId10"/>
          <a:stretch/>
        </p:blipFill>
        <p:spPr>
          <a:xfrm>
            <a:off x="8182080" y="1295280"/>
            <a:ext cx="3552480" cy="432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" name="任意多边形: 形状 25">
            <a:extLst>
              <a:ext uri="{FF2B5EF4-FFF2-40B4-BE49-F238E27FC236}">
                <a16:creationId xmlns:a16="http://schemas.microsoft.com/office/drawing/2014/main" id="{7115B795-2A7A-3BBC-6E5C-F6B26B4CB4A5}"/>
              </a:ext>
            </a:extLst>
          </p:cNvPr>
          <p:cNvSpPr/>
          <p:nvPr/>
        </p:nvSpPr>
        <p:spPr>
          <a:xfrm>
            <a:off x="8420040" y="4839110"/>
            <a:ext cx="304920" cy="305280"/>
          </a:xfrm>
          <a:custGeom>
            <a:avLst/>
            <a:gdLst/>
            <a:ahLst/>
            <a:cxnLst/>
            <a:rect l="0" t="0" r="r" b="b"/>
            <a:pathLst>
              <a:path w="847" h="848">
                <a:moveTo>
                  <a:pt x="847" y="424"/>
                </a:moveTo>
                <a:cubicBezTo>
                  <a:pt x="847" y="452"/>
                  <a:pt x="845" y="480"/>
                  <a:pt x="839" y="507"/>
                </a:cubicBezTo>
                <a:cubicBezTo>
                  <a:pt x="834" y="534"/>
                  <a:pt x="826" y="561"/>
                  <a:pt x="815" y="586"/>
                </a:cubicBezTo>
                <a:cubicBezTo>
                  <a:pt x="804" y="612"/>
                  <a:pt x="791" y="636"/>
                  <a:pt x="776" y="659"/>
                </a:cubicBezTo>
                <a:cubicBezTo>
                  <a:pt x="761" y="683"/>
                  <a:pt x="743" y="704"/>
                  <a:pt x="723" y="724"/>
                </a:cubicBezTo>
                <a:cubicBezTo>
                  <a:pt x="703" y="743"/>
                  <a:pt x="681" y="761"/>
                  <a:pt x="658" y="776"/>
                </a:cubicBezTo>
                <a:cubicBezTo>
                  <a:pt x="635" y="792"/>
                  <a:pt x="611" y="805"/>
                  <a:pt x="585" y="815"/>
                </a:cubicBezTo>
                <a:cubicBezTo>
                  <a:pt x="559" y="826"/>
                  <a:pt x="533" y="834"/>
                  <a:pt x="506" y="839"/>
                </a:cubicBezTo>
                <a:cubicBezTo>
                  <a:pt x="478" y="845"/>
                  <a:pt x="451" y="848"/>
                  <a:pt x="423" y="848"/>
                </a:cubicBezTo>
                <a:cubicBezTo>
                  <a:pt x="395" y="848"/>
                  <a:pt x="368" y="845"/>
                  <a:pt x="340" y="839"/>
                </a:cubicBezTo>
                <a:cubicBezTo>
                  <a:pt x="313" y="834"/>
                  <a:pt x="287" y="826"/>
                  <a:pt x="261" y="815"/>
                </a:cubicBezTo>
                <a:cubicBezTo>
                  <a:pt x="235" y="805"/>
                  <a:pt x="211" y="792"/>
                  <a:pt x="188" y="776"/>
                </a:cubicBezTo>
                <a:cubicBezTo>
                  <a:pt x="165" y="761"/>
                  <a:pt x="143" y="743"/>
                  <a:pt x="124" y="724"/>
                </a:cubicBezTo>
                <a:cubicBezTo>
                  <a:pt x="104" y="704"/>
                  <a:pt x="86" y="683"/>
                  <a:pt x="71" y="659"/>
                </a:cubicBezTo>
                <a:cubicBezTo>
                  <a:pt x="56" y="636"/>
                  <a:pt x="43" y="612"/>
                  <a:pt x="32" y="586"/>
                </a:cubicBezTo>
                <a:cubicBezTo>
                  <a:pt x="21" y="561"/>
                  <a:pt x="13" y="534"/>
                  <a:pt x="8" y="507"/>
                </a:cubicBezTo>
                <a:cubicBezTo>
                  <a:pt x="2" y="480"/>
                  <a:pt x="0" y="452"/>
                  <a:pt x="0" y="424"/>
                </a:cubicBezTo>
                <a:cubicBezTo>
                  <a:pt x="0" y="396"/>
                  <a:pt x="2" y="368"/>
                  <a:pt x="8" y="341"/>
                </a:cubicBezTo>
                <a:cubicBezTo>
                  <a:pt x="13" y="313"/>
                  <a:pt x="21" y="287"/>
                  <a:pt x="32" y="261"/>
                </a:cubicBezTo>
                <a:cubicBezTo>
                  <a:pt x="43" y="236"/>
                  <a:pt x="56" y="211"/>
                  <a:pt x="71" y="188"/>
                </a:cubicBezTo>
                <a:cubicBezTo>
                  <a:pt x="86" y="165"/>
                  <a:pt x="104" y="144"/>
                  <a:pt x="124" y="124"/>
                </a:cubicBezTo>
                <a:cubicBezTo>
                  <a:pt x="143" y="104"/>
                  <a:pt x="165" y="87"/>
                  <a:pt x="188" y="71"/>
                </a:cubicBezTo>
                <a:cubicBezTo>
                  <a:pt x="211" y="56"/>
                  <a:pt x="235" y="43"/>
                  <a:pt x="261" y="32"/>
                </a:cubicBezTo>
                <a:cubicBezTo>
                  <a:pt x="287" y="22"/>
                  <a:pt x="313" y="14"/>
                  <a:pt x="340" y="8"/>
                </a:cubicBezTo>
                <a:cubicBezTo>
                  <a:pt x="368" y="3"/>
                  <a:pt x="395" y="0"/>
                  <a:pt x="423" y="0"/>
                </a:cubicBezTo>
                <a:cubicBezTo>
                  <a:pt x="451" y="0"/>
                  <a:pt x="478" y="3"/>
                  <a:pt x="506" y="8"/>
                </a:cubicBezTo>
                <a:cubicBezTo>
                  <a:pt x="533" y="14"/>
                  <a:pt x="559" y="22"/>
                  <a:pt x="585" y="32"/>
                </a:cubicBezTo>
                <a:cubicBezTo>
                  <a:pt x="611" y="43"/>
                  <a:pt x="635" y="56"/>
                  <a:pt x="658" y="71"/>
                </a:cubicBezTo>
                <a:cubicBezTo>
                  <a:pt x="681" y="87"/>
                  <a:pt x="703" y="104"/>
                  <a:pt x="723" y="124"/>
                </a:cubicBezTo>
                <a:cubicBezTo>
                  <a:pt x="743" y="144"/>
                  <a:pt x="761" y="165"/>
                  <a:pt x="776" y="188"/>
                </a:cubicBezTo>
                <a:cubicBezTo>
                  <a:pt x="791" y="211"/>
                  <a:pt x="804" y="236"/>
                  <a:pt x="815" y="261"/>
                </a:cubicBezTo>
                <a:cubicBezTo>
                  <a:pt x="826" y="287"/>
                  <a:pt x="834" y="313"/>
                  <a:pt x="839" y="341"/>
                </a:cubicBezTo>
                <a:cubicBezTo>
                  <a:pt x="845" y="368"/>
                  <a:pt x="847" y="396"/>
                  <a:pt x="847" y="424"/>
                </a:cubicBezTo>
                <a:close/>
              </a:path>
            </a:pathLst>
          </a:custGeom>
          <a:solidFill>
            <a:srgbClr val="EFF6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4E537C93-D80F-392C-3C37-BC480D2EA1E8}"/>
              </a:ext>
            </a:extLst>
          </p:cNvPr>
          <p:cNvSpPr txBox="1"/>
          <p:nvPr/>
        </p:nvSpPr>
        <p:spPr>
          <a:xfrm>
            <a:off x="8835840" y="4864310"/>
            <a:ext cx="1154162" cy="5539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500" b="0" u="none" strike="noStrike" dirty="0">
                <a:solidFill>
                  <a:srgbClr val="FF5722"/>
                </a:solidFill>
                <a:effectLst/>
                <a:uFillTx/>
                <a:latin typeface="NotoSansSC"/>
                <a:ea typeface="NotoSansSC"/>
              </a:rPr>
              <a:t>调试流程繁琐</a:t>
            </a:r>
            <a:br>
              <a:rPr lang="zh-CN" altLang="en-US" sz="1050" dirty="0">
                <a:solidFill>
                  <a:srgbClr val="FF5722"/>
                </a:solidFill>
                <a:latin typeface="NotoSansSC"/>
              </a:rPr>
            </a:br>
            <a:r>
              <a:rPr lang="zh-CN" altLang="en-US" sz="1050" dirty="0">
                <a:solidFill>
                  <a:srgbClr val="FF5722"/>
                </a:solidFill>
                <a:latin typeface="NotoSansSC"/>
              </a:rPr>
              <a:t>高噪音线索筛选</a:t>
            </a:r>
            <a:br>
              <a:rPr lang="zh-CN" altLang="en-US" sz="1050" dirty="0">
                <a:solidFill>
                  <a:srgbClr val="FF5722"/>
                </a:solidFill>
                <a:latin typeface="NotoSansSC"/>
              </a:rPr>
            </a:br>
            <a:r>
              <a:rPr lang="zh-CN" altLang="en-US" sz="1050" dirty="0">
                <a:solidFill>
                  <a:srgbClr val="FF5722"/>
                </a:solidFill>
                <a:latin typeface="NotoSansSC"/>
              </a:rPr>
              <a:t>长周期根因定位</a:t>
            </a:r>
            <a:endParaRPr lang="en-US" sz="1050" dirty="0">
              <a:solidFill>
                <a:srgbClr val="FF5722"/>
              </a:solidFill>
              <a:latin typeface="NotoSansSC"/>
            </a:endParaRPr>
          </a:p>
        </p:txBody>
      </p:sp>
      <p:pic>
        <p:nvPicPr>
          <p:cNvPr id="31" name="图片 30">
            <a:extLst>
              <a:ext uri="{FF2B5EF4-FFF2-40B4-BE49-F238E27FC236}">
                <a16:creationId xmlns:a16="http://schemas.microsoft.com/office/drawing/2014/main" id="{4B43AF08-398D-10B9-1FF4-698341FF2506}"/>
              </a:ext>
            </a:extLst>
          </p:cNvPr>
          <p:cNvPicPr/>
          <p:nvPr/>
        </p:nvPicPr>
        <p:blipFill>
          <a:blip r:embed="rId11"/>
          <a:stretch/>
        </p:blipFill>
        <p:spPr>
          <a:xfrm>
            <a:off x="8191440" y="1305000"/>
            <a:ext cx="3533400" cy="322883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3" name="图片 32">
            <a:extLst>
              <a:ext uri="{FF2B5EF4-FFF2-40B4-BE49-F238E27FC236}">
                <a16:creationId xmlns:a16="http://schemas.microsoft.com/office/drawing/2014/main" id="{110864BE-376F-5F12-72B8-CBA3980E65A6}"/>
              </a:ext>
            </a:extLst>
          </p:cNvPr>
          <p:cNvPicPr/>
          <p:nvPr/>
        </p:nvPicPr>
        <p:blipFill>
          <a:blip r:embed="rId12"/>
          <a:stretch/>
        </p:blipFill>
        <p:spPr>
          <a:xfrm>
            <a:off x="457200" y="5924520"/>
            <a:ext cx="11277360" cy="590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" name="任意多边形: 形状 34">
            <a:extLst>
              <a:ext uri="{FF2B5EF4-FFF2-40B4-BE49-F238E27FC236}">
                <a16:creationId xmlns:a16="http://schemas.microsoft.com/office/drawing/2014/main" id="{3E8878B7-AAA2-0DEB-C7B0-C917D8A81236}"/>
              </a:ext>
            </a:extLst>
          </p:cNvPr>
          <p:cNvSpPr/>
          <p:nvPr/>
        </p:nvSpPr>
        <p:spPr>
          <a:xfrm>
            <a:off x="6257880" y="6181560"/>
            <a:ext cx="171720" cy="76680"/>
          </a:xfrm>
          <a:custGeom>
            <a:avLst/>
            <a:gdLst/>
            <a:ahLst/>
            <a:cxnLst/>
            <a:rect l="0" t="0" r="r" b="b"/>
            <a:pathLst>
              <a:path w="477" h="213" fill="none">
                <a:moveTo>
                  <a:pt x="370" y="0"/>
                </a:moveTo>
                <a:lnTo>
                  <a:pt x="477" y="107"/>
                </a:lnTo>
                <a:moveTo>
                  <a:pt x="477" y="107"/>
                </a:moveTo>
                <a:lnTo>
                  <a:pt x="370" y="213"/>
                </a:lnTo>
                <a:moveTo>
                  <a:pt x="477" y="107"/>
                </a:moveTo>
                <a:lnTo>
                  <a:pt x="0" y="107"/>
                </a:lnTo>
              </a:path>
            </a:pathLst>
          </a:custGeom>
          <a:ln w="18720" cap="rnd">
            <a:solidFill>
              <a:srgbClr val="0052D9"/>
            </a:solidFill>
            <a:round/>
          </a:ln>
        </p:spPr>
        <p:txBody>
          <a:bodyPr lIns="9360" tIns="9360" rIns="9360" bIns="936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C1D5EC73-891D-048E-D737-56CDE63A3F4B}"/>
              </a:ext>
            </a:extLst>
          </p:cNvPr>
          <p:cNvSpPr txBox="1"/>
          <p:nvPr/>
        </p:nvSpPr>
        <p:spPr>
          <a:xfrm>
            <a:off x="4971960" y="6112800"/>
            <a:ext cx="108000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350" b="0" u="none" strike="noStrike">
                <a:solidFill>
                  <a:srgbClr val="4B5563"/>
                </a:solidFill>
                <a:effectLst/>
                <a:uFillTx/>
                <a:latin typeface="NotoSansSC"/>
                <a:ea typeface="NotoSansSC"/>
              </a:rPr>
              <a:t>传统开发模式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932C95DB-7D6F-A7B6-9CA4-ED4582F4D4E8}"/>
              </a:ext>
            </a:extLst>
          </p:cNvPr>
          <p:cNvSpPr txBox="1"/>
          <p:nvPr/>
        </p:nvSpPr>
        <p:spPr>
          <a:xfrm>
            <a:off x="6686640" y="6092280"/>
            <a:ext cx="1198661" cy="23083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sz="1500" b="0" u="none" strike="noStrike" dirty="0">
                <a:solidFill>
                  <a:schemeClr val="accent6"/>
                </a:solidFill>
                <a:effectLst/>
                <a:uFillTx/>
                <a:latin typeface="NotoSansSC"/>
              </a:rPr>
              <a:t>效率难以提高</a:t>
            </a:r>
            <a:endParaRPr lang="en-US" sz="1500" b="0" u="none" strike="noStrike" dirty="0">
              <a:solidFill>
                <a:schemeClr val="accent6"/>
              </a:solidFill>
              <a:effectLst/>
              <a:uFillTx/>
              <a:latin typeface="Times New Roman"/>
            </a:endParaRPr>
          </a:p>
        </p:txBody>
      </p:sp>
      <p:pic>
        <p:nvPicPr>
          <p:cNvPr id="58" name="图片 57">
            <a:extLst>
              <a:ext uri="{FF2B5EF4-FFF2-40B4-BE49-F238E27FC236}">
                <a16:creationId xmlns:a16="http://schemas.microsoft.com/office/drawing/2014/main" id="{31736AF7-7CD1-FA0F-683A-7309C084AC5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381840" y="1743601"/>
            <a:ext cx="2349541" cy="931132"/>
          </a:xfrm>
          <a:prstGeom prst="rect">
            <a:avLst/>
          </a:prstGeom>
        </p:spPr>
      </p:pic>
      <p:pic>
        <p:nvPicPr>
          <p:cNvPr id="60" name="图片 59">
            <a:extLst>
              <a:ext uri="{FF2B5EF4-FFF2-40B4-BE49-F238E27FC236}">
                <a16:creationId xmlns:a16="http://schemas.microsoft.com/office/drawing/2014/main" id="{67726B57-AABE-593C-2C8A-2B5A91919C1E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381840" y="2769946"/>
            <a:ext cx="2396054" cy="392354"/>
          </a:xfrm>
          <a:prstGeom prst="rect">
            <a:avLst/>
          </a:prstGeom>
        </p:spPr>
      </p:pic>
      <p:sp>
        <p:nvSpPr>
          <p:cNvPr id="67" name="文本框 66">
            <a:extLst>
              <a:ext uri="{FF2B5EF4-FFF2-40B4-BE49-F238E27FC236}">
                <a16:creationId xmlns:a16="http://schemas.microsoft.com/office/drawing/2014/main" id="{C3D48539-163C-B4C4-3414-48C3091DE9A3}"/>
              </a:ext>
            </a:extLst>
          </p:cNvPr>
          <p:cNvSpPr txBox="1"/>
          <p:nvPr/>
        </p:nvSpPr>
        <p:spPr>
          <a:xfrm>
            <a:off x="4488191" y="2001279"/>
            <a:ext cx="769441" cy="23083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sz="1500" b="0" u="none" strike="noStrike" dirty="0">
                <a:solidFill>
                  <a:srgbClr val="333333"/>
                </a:solidFill>
                <a:effectLst/>
                <a:uFillTx/>
                <a:latin typeface="NotoSansSC"/>
                <a:ea typeface="NotoSansSC"/>
              </a:rPr>
              <a:t>企微文档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4ECDBCE4-E6F2-6080-2B2E-9A8DEEA5472F}"/>
              </a:ext>
            </a:extLst>
          </p:cNvPr>
          <p:cNvSpPr txBox="1"/>
          <p:nvPr/>
        </p:nvSpPr>
        <p:spPr>
          <a:xfrm>
            <a:off x="4983639" y="1440495"/>
            <a:ext cx="2224968" cy="23083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altLang="zh-CN" sz="1500" b="0" u="none" strike="noStrike" dirty="0">
                <a:solidFill>
                  <a:srgbClr val="333333"/>
                </a:solidFill>
                <a:effectLst/>
                <a:uFillTx/>
                <a:latin typeface="NotoSansSC"/>
                <a:ea typeface="NotoSansSC"/>
              </a:rPr>
              <a:t>API </a:t>
            </a:r>
            <a:r>
              <a:rPr lang="zh-CN" altLang="en-US" sz="1500" b="0" u="none" strike="noStrike" dirty="0">
                <a:solidFill>
                  <a:srgbClr val="333333"/>
                </a:solidFill>
                <a:effectLst/>
                <a:uFillTx/>
                <a:latin typeface="NotoSansSC"/>
                <a:ea typeface="NotoSansSC"/>
              </a:rPr>
              <a:t>分散且可调用性难保证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F4B2CBC3-E882-F722-462F-2BFEE3E14FD4}"/>
              </a:ext>
            </a:extLst>
          </p:cNvPr>
          <p:cNvSpPr txBox="1"/>
          <p:nvPr/>
        </p:nvSpPr>
        <p:spPr>
          <a:xfrm>
            <a:off x="4488191" y="2777676"/>
            <a:ext cx="394339" cy="23083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altLang="zh-CN" sz="1500" b="0" u="none" strike="noStrike" dirty="0" err="1">
                <a:solidFill>
                  <a:srgbClr val="000000"/>
                </a:solidFill>
                <a:effectLst/>
                <a:uFillTx/>
                <a:latin typeface="NotoSansSC"/>
              </a:rPr>
              <a:t>iWiki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NotoSansSC"/>
            </a:endParaRP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ABF09267-05AE-643B-21E1-7306F2741E8C}"/>
              </a:ext>
            </a:extLst>
          </p:cNvPr>
          <p:cNvSpPr txBox="1"/>
          <p:nvPr/>
        </p:nvSpPr>
        <p:spPr>
          <a:xfrm>
            <a:off x="4488191" y="3712248"/>
            <a:ext cx="769441" cy="23083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sz="1500" b="0" u="none" strike="noStrike" dirty="0">
                <a:solidFill>
                  <a:srgbClr val="333333"/>
                </a:solidFill>
                <a:effectLst/>
                <a:uFillTx/>
                <a:latin typeface="NotoSansSC"/>
                <a:ea typeface="NotoSansSC"/>
              </a:rPr>
              <a:t>代码注释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77B6CAEC-A420-83AF-7835-B4C354EF4BB2}"/>
              </a:ext>
            </a:extLst>
          </p:cNvPr>
          <p:cNvSpPr txBox="1"/>
          <p:nvPr/>
        </p:nvSpPr>
        <p:spPr>
          <a:xfrm>
            <a:off x="8252857" y="1346348"/>
            <a:ext cx="2204450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500" dirty="0"/>
              <a:t>1. </a:t>
            </a:r>
            <a:r>
              <a:rPr lang="zh-CN" altLang="en-US" sz="1500" dirty="0">
                <a:solidFill>
                  <a:schemeClr val="accent6"/>
                </a:solidFill>
              </a:rPr>
              <a:t>手动</a:t>
            </a:r>
            <a:r>
              <a:rPr lang="zh-CN" altLang="en-US" sz="1500" dirty="0"/>
              <a:t>拉取智研</a:t>
            </a:r>
            <a:r>
              <a:rPr lang="en-US" altLang="zh-CN" sz="1500" dirty="0"/>
              <a:t>DS</a:t>
            </a:r>
            <a:r>
              <a:rPr lang="zh-CN" altLang="en-US" sz="1500" dirty="0"/>
              <a:t>日志</a:t>
            </a:r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4250CBEB-F3D9-225C-DD35-6ABC0F3A353E}"/>
              </a:ext>
            </a:extLst>
          </p:cNvPr>
          <p:cNvSpPr txBox="1"/>
          <p:nvPr/>
        </p:nvSpPr>
        <p:spPr>
          <a:xfrm>
            <a:off x="8252857" y="2564424"/>
            <a:ext cx="310854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500" dirty="0">
                <a:latin typeface="NotoSansSC"/>
              </a:rPr>
              <a:t>2. </a:t>
            </a:r>
            <a:r>
              <a:rPr lang="zh-CN" altLang="en-US" sz="1500" dirty="0">
                <a:solidFill>
                  <a:schemeClr val="accent6"/>
                </a:solidFill>
                <a:latin typeface="NotoSansSC"/>
              </a:rPr>
              <a:t>人工</a:t>
            </a:r>
            <a:r>
              <a:rPr lang="zh-CN" altLang="en-US" sz="1500" dirty="0">
                <a:latin typeface="NotoSansSC"/>
              </a:rPr>
              <a:t>过滤并分析</a:t>
            </a:r>
            <a:r>
              <a:rPr lang="en-US" altLang="zh-CN" sz="1500" dirty="0">
                <a:latin typeface="NotoSansSC"/>
              </a:rPr>
              <a:t>DS&amp;</a:t>
            </a:r>
            <a:r>
              <a:rPr lang="zh-CN" altLang="en-US" sz="1500" dirty="0">
                <a:latin typeface="NotoSansSC"/>
              </a:rPr>
              <a:t>客户端日志</a:t>
            </a: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795794FD-7E22-8A72-F67D-83EEF487EC86}"/>
              </a:ext>
            </a:extLst>
          </p:cNvPr>
          <p:cNvSpPr txBox="1"/>
          <p:nvPr/>
        </p:nvSpPr>
        <p:spPr>
          <a:xfrm>
            <a:off x="8252857" y="3300850"/>
            <a:ext cx="284565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500" dirty="0">
                <a:latin typeface="NotoSansSC"/>
              </a:rPr>
              <a:t>3.</a:t>
            </a:r>
            <a:r>
              <a:rPr lang="zh-CN" altLang="en-US" sz="1500" dirty="0">
                <a:solidFill>
                  <a:schemeClr val="accent6"/>
                </a:solidFill>
                <a:latin typeface="NotoSansSC"/>
              </a:rPr>
              <a:t>肉眼</a:t>
            </a:r>
            <a:r>
              <a:rPr lang="zh-CN" altLang="en-US" sz="1500" dirty="0">
                <a:latin typeface="NotoSansSC"/>
              </a:rPr>
              <a:t>比对源码与日志分析根因</a:t>
            </a:r>
          </a:p>
        </p:txBody>
      </p:sp>
      <p:pic>
        <p:nvPicPr>
          <p:cNvPr id="94" name="图片 93">
            <a:extLst>
              <a:ext uri="{FF2B5EF4-FFF2-40B4-BE49-F238E27FC236}">
                <a16:creationId xmlns:a16="http://schemas.microsoft.com/office/drawing/2014/main" id="{C32889A4-A121-90D5-ED33-5B9CAFCA1B6C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381840" y="3213197"/>
            <a:ext cx="2456302" cy="1221038"/>
          </a:xfrm>
          <a:prstGeom prst="rect">
            <a:avLst/>
          </a:prstGeom>
        </p:spPr>
      </p:pic>
      <p:pic>
        <p:nvPicPr>
          <p:cNvPr id="96" name="图片 95">
            <a:extLst>
              <a:ext uri="{FF2B5EF4-FFF2-40B4-BE49-F238E27FC236}">
                <a16:creationId xmlns:a16="http://schemas.microsoft.com/office/drawing/2014/main" id="{D0B9D6EE-6285-597D-D7C3-EFCC9736844B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883741" y="1645816"/>
            <a:ext cx="2153831" cy="913646"/>
          </a:xfrm>
          <a:prstGeom prst="rect">
            <a:avLst/>
          </a:prstGeom>
        </p:spPr>
      </p:pic>
      <p:pic>
        <p:nvPicPr>
          <p:cNvPr id="100" name="图片 99">
            <a:extLst>
              <a:ext uri="{FF2B5EF4-FFF2-40B4-BE49-F238E27FC236}">
                <a16:creationId xmlns:a16="http://schemas.microsoft.com/office/drawing/2014/main" id="{977D9592-2DE4-F365-763F-A272ED04CD74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264777" y="2928047"/>
            <a:ext cx="3379153" cy="331179"/>
          </a:xfrm>
          <a:prstGeom prst="rect">
            <a:avLst/>
          </a:prstGeom>
        </p:spPr>
      </p:pic>
      <p:pic>
        <p:nvPicPr>
          <p:cNvPr id="104" name="图片 103">
            <a:extLst>
              <a:ext uri="{FF2B5EF4-FFF2-40B4-BE49-F238E27FC236}">
                <a16:creationId xmlns:a16="http://schemas.microsoft.com/office/drawing/2014/main" id="{A27CF86D-C531-AEB3-9C9C-41DCA0A663B9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246504" y="3594905"/>
            <a:ext cx="3415700" cy="842659"/>
          </a:xfrm>
          <a:prstGeom prst="rect">
            <a:avLst/>
          </a:prstGeom>
        </p:spPr>
      </p:pic>
      <p:pic>
        <p:nvPicPr>
          <p:cNvPr id="114" name="图片 113">
            <a:extLst>
              <a:ext uri="{FF2B5EF4-FFF2-40B4-BE49-F238E27FC236}">
                <a16:creationId xmlns:a16="http://schemas.microsoft.com/office/drawing/2014/main" id="{F02792C8-2340-36F1-5079-5079C3DF53C5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14440" y="1342800"/>
            <a:ext cx="1706449" cy="3130629"/>
          </a:xfrm>
          <a:prstGeom prst="rect">
            <a:avLst/>
          </a:prstGeom>
        </p:spPr>
      </p:pic>
      <p:pic>
        <p:nvPicPr>
          <p:cNvPr id="116" name="图片 115">
            <a:extLst>
              <a:ext uri="{FF2B5EF4-FFF2-40B4-BE49-F238E27FC236}">
                <a16:creationId xmlns:a16="http://schemas.microsoft.com/office/drawing/2014/main" id="{D3BFCAD6-6D8D-0DF0-14F9-277DDDAE4BC7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339433" y="1327734"/>
            <a:ext cx="1702774" cy="3141793"/>
          </a:xfrm>
          <a:prstGeom prst="rect">
            <a:avLst/>
          </a:prstGeom>
        </p:spPr>
      </p:pic>
      <p:pic>
        <p:nvPicPr>
          <p:cNvPr id="118" name="图片 117">
            <a:extLst>
              <a:ext uri="{FF2B5EF4-FFF2-40B4-BE49-F238E27FC236}">
                <a16:creationId xmlns:a16="http://schemas.microsoft.com/office/drawing/2014/main" id="{9C5C9FAC-36E4-F66B-7053-5696AD815992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268769" y="1301826"/>
            <a:ext cx="1692644" cy="3173707"/>
          </a:xfrm>
          <a:prstGeom prst="rect">
            <a:avLst/>
          </a:prstGeom>
        </p:spPr>
      </p:pic>
      <p:pic>
        <p:nvPicPr>
          <p:cNvPr id="120" name="图形 119" descr="感叹号 纯色填充">
            <a:extLst>
              <a:ext uri="{FF2B5EF4-FFF2-40B4-BE49-F238E27FC236}">
                <a16:creationId xmlns:a16="http://schemas.microsoft.com/office/drawing/2014/main" id="{FD4A0575-70FE-B982-CF34-BA270EC7E555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695160" y="4839110"/>
            <a:ext cx="305280" cy="305280"/>
          </a:xfrm>
          <a:prstGeom prst="rect">
            <a:avLst/>
          </a:prstGeom>
        </p:spPr>
      </p:pic>
      <p:pic>
        <p:nvPicPr>
          <p:cNvPr id="121" name="图形 120" descr="感叹号 纯色填充">
            <a:extLst>
              <a:ext uri="{FF2B5EF4-FFF2-40B4-BE49-F238E27FC236}">
                <a16:creationId xmlns:a16="http://schemas.microsoft.com/office/drawing/2014/main" id="{2F896F81-A2AC-6AEE-1849-3A11976FB56E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8422960" y="4834220"/>
            <a:ext cx="305280" cy="305280"/>
          </a:xfrm>
          <a:prstGeom prst="rect">
            <a:avLst/>
          </a:prstGeom>
        </p:spPr>
      </p:pic>
      <p:pic>
        <p:nvPicPr>
          <p:cNvPr id="122" name="图形 121" descr="感叹号 纯色填充">
            <a:extLst>
              <a:ext uri="{FF2B5EF4-FFF2-40B4-BE49-F238E27FC236}">
                <a16:creationId xmlns:a16="http://schemas.microsoft.com/office/drawing/2014/main" id="{3DD5CB0C-E9E3-1287-AB46-0DDF9EDFFB39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4552560" y="4836029"/>
            <a:ext cx="305280" cy="305280"/>
          </a:xfrm>
          <a:prstGeom prst="rect">
            <a:avLst/>
          </a:prstGeom>
        </p:spPr>
      </p:pic>
      <p:pic>
        <p:nvPicPr>
          <p:cNvPr id="34" name="图片 33">
            <a:extLst>
              <a:ext uri="{FF2B5EF4-FFF2-40B4-BE49-F238E27FC236}">
                <a16:creationId xmlns:a16="http://schemas.microsoft.com/office/drawing/2014/main" id="{1022702A-DAEC-F1A1-043C-D54B79D92498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281" y="0"/>
            <a:ext cx="1218743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62683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: 形状 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0F2F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任意多边形: 形状 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5F7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1" name="图片 20"/>
          <p:cNvPicPr/>
          <p:nvPr/>
        </p:nvPicPr>
        <p:blipFill>
          <a:blip r:embed="rId2"/>
          <a:stretch/>
        </p:blipFill>
        <p:spPr>
          <a:xfrm>
            <a:off x="4314960" y="1066680"/>
            <a:ext cx="3561840" cy="1561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" name="任意多边形: 形状 21"/>
          <p:cNvSpPr/>
          <p:nvPr/>
        </p:nvSpPr>
        <p:spPr>
          <a:xfrm>
            <a:off x="4543200" y="1333440"/>
            <a:ext cx="476640" cy="228960"/>
          </a:xfrm>
          <a:custGeom>
            <a:avLst/>
            <a:gdLst/>
            <a:ahLst/>
            <a:cxnLst/>
            <a:rect l="0" t="0" r="r" b="b"/>
            <a:pathLst>
              <a:path w="1324" h="636">
                <a:moveTo>
                  <a:pt x="0" y="317"/>
                </a:moveTo>
                <a:cubicBezTo>
                  <a:pt x="0" y="296"/>
                  <a:pt x="2" y="276"/>
                  <a:pt x="6" y="255"/>
                </a:cubicBezTo>
                <a:cubicBezTo>
                  <a:pt x="10" y="235"/>
                  <a:pt x="16" y="215"/>
                  <a:pt x="24" y="196"/>
                </a:cubicBezTo>
                <a:cubicBezTo>
                  <a:pt x="32" y="176"/>
                  <a:pt x="42" y="158"/>
                  <a:pt x="54" y="141"/>
                </a:cubicBezTo>
                <a:cubicBezTo>
                  <a:pt x="65" y="123"/>
                  <a:pt x="78" y="107"/>
                  <a:pt x="93" y="93"/>
                </a:cubicBezTo>
                <a:cubicBezTo>
                  <a:pt x="108" y="78"/>
                  <a:pt x="124" y="65"/>
                  <a:pt x="141" y="53"/>
                </a:cubicBezTo>
                <a:cubicBezTo>
                  <a:pt x="159" y="42"/>
                  <a:pt x="177" y="32"/>
                  <a:pt x="196" y="24"/>
                </a:cubicBezTo>
                <a:cubicBezTo>
                  <a:pt x="215" y="16"/>
                  <a:pt x="235" y="10"/>
                  <a:pt x="256" y="6"/>
                </a:cubicBezTo>
                <a:cubicBezTo>
                  <a:pt x="276" y="2"/>
                  <a:pt x="297" y="0"/>
                  <a:pt x="318" y="0"/>
                </a:cubicBezTo>
                <a:lnTo>
                  <a:pt x="1006" y="0"/>
                </a:lnTo>
                <a:cubicBezTo>
                  <a:pt x="1026" y="0"/>
                  <a:pt x="1047" y="2"/>
                  <a:pt x="1067" y="6"/>
                </a:cubicBezTo>
                <a:cubicBezTo>
                  <a:pt x="1088" y="10"/>
                  <a:pt x="1108" y="16"/>
                  <a:pt x="1127" y="24"/>
                </a:cubicBezTo>
                <a:cubicBezTo>
                  <a:pt x="1146" y="32"/>
                  <a:pt x="1165" y="42"/>
                  <a:pt x="1182" y="53"/>
                </a:cubicBezTo>
                <a:cubicBezTo>
                  <a:pt x="1199" y="65"/>
                  <a:pt x="1215" y="78"/>
                  <a:pt x="1230" y="93"/>
                </a:cubicBezTo>
                <a:cubicBezTo>
                  <a:pt x="1245" y="107"/>
                  <a:pt x="1258" y="123"/>
                  <a:pt x="1271" y="141"/>
                </a:cubicBezTo>
                <a:cubicBezTo>
                  <a:pt x="1282" y="158"/>
                  <a:pt x="1292" y="176"/>
                  <a:pt x="1300" y="196"/>
                </a:cubicBezTo>
                <a:cubicBezTo>
                  <a:pt x="1308" y="215"/>
                  <a:pt x="1314" y="235"/>
                  <a:pt x="1318" y="255"/>
                </a:cubicBezTo>
                <a:cubicBezTo>
                  <a:pt x="1322" y="276"/>
                  <a:pt x="1324" y="296"/>
                  <a:pt x="1324" y="317"/>
                </a:cubicBezTo>
                <a:cubicBezTo>
                  <a:pt x="1324" y="338"/>
                  <a:pt x="1322" y="359"/>
                  <a:pt x="1318" y="379"/>
                </a:cubicBezTo>
                <a:cubicBezTo>
                  <a:pt x="1314" y="400"/>
                  <a:pt x="1308" y="420"/>
                  <a:pt x="1300" y="440"/>
                </a:cubicBezTo>
                <a:cubicBezTo>
                  <a:pt x="1292" y="459"/>
                  <a:pt x="1282" y="477"/>
                  <a:pt x="1271" y="495"/>
                </a:cubicBezTo>
                <a:cubicBezTo>
                  <a:pt x="1258" y="512"/>
                  <a:pt x="1245" y="528"/>
                  <a:pt x="1230" y="543"/>
                </a:cubicBezTo>
                <a:cubicBezTo>
                  <a:pt x="1215" y="557"/>
                  <a:pt x="1199" y="571"/>
                  <a:pt x="1182" y="582"/>
                </a:cubicBezTo>
                <a:cubicBezTo>
                  <a:pt x="1165" y="594"/>
                  <a:pt x="1146" y="604"/>
                  <a:pt x="1127" y="611"/>
                </a:cubicBezTo>
                <a:cubicBezTo>
                  <a:pt x="1108" y="619"/>
                  <a:pt x="1088" y="625"/>
                  <a:pt x="1067" y="630"/>
                </a:cubicBezTo>
                <a:cubicBezTo>
                  <a:pt x="1047" y="634"/>
                  <a:pt x="1026" y="636"/>
                  <a:pt x="1006" y="636"/>
                </a:cubicBezTo>
                <a:lnTo>
                  <a:pt x="318" y="636"/>
                </a:lnTo>
                <a:cubicBezTo>
                  <a:pt x="297" y="636"/>
                  <a:pt x="276" y="634"/>
                  <a:pt x="256" y="630"/>
                </a:cubicBezTo>
                <a:cubicBezTo>
                  <a:pt x="235" y="625"/>
                  <a:pt x="215" y="619"/>
                  <a:pt x="196" y="611"/>
                </a:cubicBezTo>
                <a:cubicBezTo>
                  <a:pt x="177" y="604"/>
                  <a:pt x="159" y="594"/>
                  <a:pt x="141" y="582"/>
                </a:cubicBezTo>
                <a:cubicBezTo>
                  <a:pt x="124" y="571"/>
                  <a:pt x="108" y="557"/>
                  <a:pt x="93" y="543"/>
                </a:cubicBezTo>
                <a:cubicBezTo>
                  <a:pt x="78" y="528"/>
                  <a:pt x="65" y="512"/>
                  <a:pt x="54" y="495"/>
                </a:cubicBezTo>
                <a:cubicBezTo>
                  <a:pt x="42" y="477"/>
                  <a:pt x="32" y="459"/>
                  <a:pt x="24" y="440"/>
                </a:cubicBezTo>
                <a:cubicBezTo>
                  <a:pt x="16" y="420"/>
                  <a:pt x="10" y="400"/>
                  <a:pt x="6" y="379"/>
                </a:cubicBezTo>
                <a:cubicBezTo>
                  <a:pt x="2" y="359"/>
                  <a:pt x="0" y="338"/>
                  <a:pt x="0" y="317"/>
                </a:cubicBezTo>
                <a:close/>
              </a:path>
            </a:pathLst>
          </a:custGeom>
          <a:solidFill>
            <a:srgbClr val="FEF2F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4660920" y="1363680"/>
            <a:ext cx="239760" cy="16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00" b="0" u="none" strike="noStrike">
                <a:solidFill>
                  <a:srgbClr val="FF5722"/>
                </a:solidFill>
                <a:effectLst/>
                <a:uFillTx/>
                <a:latin typeface="NotoSansSC"/>
                <a:ea typeface="NotoSansSC"/>
              </a:rPr>
              <a:t>痛点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4546440" y="1672920"/>
            <a:ext cx="1027525" cy="23083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00" b="0" u="none" strike="noStrike" dirty="0">
                <a:solidFill>
                  <a:srgbClr val="1F2937"/>
                </a:solidFill>
                <a:effectLst/>
                <a:uFillTx/>
                <a:latin typeface="NotoSansSC"/>
                <a:ea typeface="Roboto"/>
              </a:rPr>
              <a:t>API</a:t>
            </a:r>
            <a:r>
              <a:rPr lang="zh-CN" sz="1500" b="0" u="none" strike="noStrike" dirty="0">
                <a:solidFill>
                  <a:srgbClr val="1F2937"/>
                </a:solidFill>
                <a:effectLst/>
                <a:uFillTx/>
                <a:latin typeface="NotoSansSC"/>
                <a:ea typeface="NotoSansSC"/>
              </a:rPr>
              <a:t>检索低效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NotoSansSC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4546440" y="2019600"/>
            <a:ext cx="2936880" cy="19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 dirty="0">
                <a:solidFill>
                  <a:srgbClr val="6B7280"/>
                </a:solidFill>
                <a:effectLst/>
                <a:uFillTx/>
                <a:latin typeface="NotoSansSC"/>
                <a:ea typeface="NotoSansSC"/>
              </a:rPr>
              <a:t>文档分散，</a:t>
            </a:r>
            <a:r>
              <a:rPr lang="en-US" sz="1050" b="0" u="none" strike="noStrike" dirty="0">
                <a:solidFill>
                  <a:srgbClr val="6B7280"/>
                </a:solidFill>
                <a:effectLst/>
                <a:uFillTx/>
                <a:latin typeface="Roboto"/>
                <a:ea typeface="Roboto"/>
              </a:rPr>
              <a:t>API</a:t>
            </a:r>
            <a:r>
              <a:rPr lang="zh-CN" sz="1050" b="0" u="none" strike="noStrike" dirty="0">
                <a:solidFill>
                  <a:srgbClr val="6B7280"/>
                </a:solidFill>
                <a:effectLst/>
                <a:uFillTx/>
                <a:latin typeface="NotoSansSC"/>
                <a:ea typeface="NotoSansSC"/>
              </a:rPr>
              <a:t>查找困难，依赖人工记忆或低效搜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7" name="图片 26"/>
          <p:cNvPicPr/>
          <p:nvPr/>
        </p:nvPicPr>
        <p:blipFill>
          <a:blip r:embed="rId3"/>
          <a:stretch/>
        </p:blipFill>
        <p:spPr>
          <a:xfrm>
            <a:off x="7105680" y="1066680"/>
            <a:ext cx="771120" cy="761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" name="任意多边形: 形状 27"/>
          <p:cNvSpPr/>
          <p:nvPr/>
        </p:nvSpPr>
        <p:spPr>
          <a:xfrm>
            <a:off x="6086160" y="2628720"/>
            <a:ext cx="19440" cy="457560"/>
          </a:xfrm>
          <a:custGeom>
            <a:avLst/>
            <a:gdLst/>
            <a:ahLst/>
            <a:cxnLst/>
            <a:rect l="0" t="0" r="r" b="b"/>
            <a:pathLst>
              <a:path w="54" h="1271">
                <a:moveTo>
                  <a:pt x="0" y="0"/>
                </a:moveTo>
                <a:lnTo>
                  <a:pt x="54" y="0"/>
                </a:lnTo>
                <a:lnTo>
                  <a:pt x="54" y="1271"/>
                </a:lnTo>
                <a:lnTo>
                  <a:pt x="0" y="1271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1" name="图片 30"/>
          <p:cNvPicPr/>
          <p:nvPr/>
        </p:nvPicPr>
        <p:blipFill>
          <a:blip r:embed="rId4"/>
          <a:stretch/>
        </p:blipFill>
        <p:spPr>
          <a:xfrm>
            <a:off x="4314960" y="3085920"/>
            <a:ext cx="3561840" cy="2647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" name="任意多边形: 形状 31"/>
          <p:cNvSpPr/>
          <p:nvPr/>
        </p:nvSpPr>
        <p:spPr>
          <a:xfrm>
            <a:off x="4543200" y="3352680"/>
            <a:ext cx="381240" cy="381240"/>
          </a:xfrm>
          <a:custGeom>
            <a:avLst/>
            <a:gdLst/>
            <a:ahLst/>
            <a:cxnLst/>
            <a:rect l="0" t="0" r="r" b="b"/>
            <a:pathLst>
              <a:path w="1059" h="1059">
                <a:moveTo>
                  <a:pt x="0" y="847"/>
                </a:moveTo>
                <a:lnTo>
                  <a:pt x="0" y="211"/>
                </a:lnTo>
                <a:cubicBezTo>
                  <a:pt x="0" y="198"/>
                  <a:pt x="1" y="184"/>
                  <a:pt x="4" y="170"/>
                </a:cubicBezTo>
                <a:cubicBezTo>
                  <a:pt x="7" y="157"/>
                  <a:pt x="11" y="143"/>
                  <a:pt x="16" y="130"/>
                </a:cubicBezTo>
                <a:cubicBezTo>
                  <a:pt x="22" y="118"/>
                  <a:pt x="28" y="105"/>
                  <a:pt x="36" y="94"/>
                </a:cubicBezTo>
                <a:cubicBezTo>
                  <a:pt x="44" y="82"/>
                  <a:pt x="52" y="72"/>
                  <a:pt x="62" y="62"/>
                </a:cubicBezTo>
                <a:cubicBezTo>
                  <a:pt x="72" y="52"/>
                  <a:pt x="83" y="43"/>
                  <a:pt x="94" y="36"/>
                </a:cubicBezTo>
                <a:cubicBezTo>
                  <a:pt x="106" y="28"/>
                  <a:pt x="118" y="21"/>
                  <a:pt x="131" y="16"/>
                </a:cubicBezTo>
                <a:cubicBezTo>
                  <a:pt x="144" y="11"/>
                  <a:pt x="157" y="7"/>
                  <a:pt x="170" y="4"/>
                </a:cubicBezTo>
                <a:cubicBezTo>
                  <a:pt x="184" y="1"/>
                  <a:pt x="198" y="0"/>
                  <a:pt x="212" y="0"/>
                </a:cubicBezTo>
                <a:lnTo>
                  <a:pt x="848" y="0"/>
                </a:lnTo>
                <a:cubicBezTo>
                  <a:pt x="862" y="0"/>
                  <a:pt x="875" y="1"/>
                  <a:pt x="889" y="4"/>
                </a:cubicBezTo>
                <a:cubicBezTo>
                  <a:pt x="903" y="7"/>
                  <a:pt x="916" y="11"/>
                  <a:pt x="929" y="16"/>
                </a:cubicBezTo>
                <a:cubicBezTo>
                  <a:pt x="942" y="21"/>
                  <a:pt x="954" y="28"/>
                  <a:pt x="965" y="36"/>
                </a:cubicBezTo>
                <a:cubicBezTo>
                  <a:pt x="977" y="43"/>
                  <a:pt x="988" y="52"/>
                  <a:pt x="997" y="62"/>
                </a:cubicBezTo>
                <a:cubicBezTo>
                  <a:pt x="1007" y="72"/>
                  <a:pt x="1016" y="82"/>
                  <a:pt x="1024" y="94"/>
                </a:cubicBezTo>
                <a:cubicBezTo>
                  <a:pt x="1032" y="105"/>
                  <a:pt x="1038" y="118"/>
                  <a:pt x="1043" y="130"/>
                </a:cubicBezTo>
                <a:cubicBezTo>
                  <a:pt x="1049" y="143"/>
                  <a:pt x="1053" y="157"/>
                  <a:pt x="1055" y="170"/>
                </a:cubicBezTo>
                <a:cubicBezTo>
                  <a:pt x="1058" y="184"/>
                  <a:pt x="1059" y="198"/>
                  <a:pt x="1059" y="211"/>
                </a:cubicBezTo>
                <a:lnTo>
                  <a:pt x="1059" y="847"/>
                </a:lnTo>
                <a:cubicBezTo>
                  <a:pt x="1059" y="861"/>
                  <a:pt x="1058" y="875"/>
                  <a:pt x="1055" y="889"/>
                </a:cubicBezTo>
                <a:cubicBezTo>
                  <a:pt x="1053" y="902"/>
                  <a:pt x="1049" y="916"/>
                  <a:pt x="1043" y="928"/>
                </a:cubicBezTo>
                <a:cubicBezTo>
                  <a:pt x="1038" y="941"/>
                  <a:pt x="1032" y="954"/>
                  <a:pt x="1024" y="965"/>
                </a:cubicBezTo>
                <a:cubicBezTo>
                  <a:pt x="1016" y="977"/>
                  <a:pt x="1007" y="987"/>
                  <a:pt x="997" y="997"/>
                </a:cubicBezTo>
                <a:cubicBezTo>
                  <a:pt x="988" y="1007"/>
                  <a:pt x="977" y="1016"/>
                  <a:pt x="965" y="1023"/>
                </a:cubicBezTo>
                <a:cubicBezTo>
                  <a:pt x="954" y="1031"/>
                  <a:pt x="942" y="1038"/>
                  <a:pt x="929" y="1043"/>
                </a:cubicBezTo>
                <a:cubicBezTo>
                  <a:pt x="916" y="1048"/>
                  <a:pt x="903" y="1052"/>
                  <a:pt x="889" y="1055"/>
                </a:cubicBezTo>
                <a:cubicBezTo>
                  <a:pt x="875" y="1058"/>
                  <a:pt x="862" y="1059"/>
                  <a:pt x="848" y="1059"/>
                </a:cubicBezTo>
                <a:lnTo>
                  <a:pt x="212" y="1059"/>
                </a:lnTo>
                <a:cubicBezTo>
                  <a:pt x="198" y="1059"/>
                  <a:pt x="184" y="1058"/>
                  <a:pt x="170" y="1055"/>
                </a:cubicBezTo>
                <a:cubicBezTo>
                  <a:pt x="157" y="1052"/>
                  <a:pt x="144" y="1048"/>
                  <a:pt x="131" y="1043"/>
                </a:cubicBezTo>
                <a:cubicBezTo>
                  <a:pt x="118" y="1038"/>
                  <a:pt x="106" y="1031"/>
                  <a:pt x="94" y="1023"/>
                </a:cubicBezTo>
                <a:cubicBezTo>
                  <a:pt x="83" y="1016"/>
                  <a:pt x="72" y="1007"/>
                  <a:pt x="62" y="997"/>
                </a:cubicBezTo>
                <a:cubicBezTo>
                  <a:pt x="52" y="987"/>
                  <a:pt x="44" y="977"/>
                  <a:pt x="36" y="965"/>
                </a:cubicBezTo>
                <a:cubicBezTo>
                  <a:pt x="28" y="954"/>
                  <a:pt x="22" y="941"/>
                  <a:pt x="16" y="928"/>
                </a:cubicBezTo>
                <a:cubicBezTo>
                  <a:pt x="11" y="916"/>
                  <a:pt x="7" y="902"/>
                  <a:pt x="4" y="889"/>
                </a:cubicBezTo>
                <a:cubicBezTo>
                  <a:pt x="1" y="875"/>
                  <a:pt x="0" y="861"/>
                  <a:pt x="0" y="847"/>
                </a:cubicBezTo>
                <a:close/>
              </a:path>
            </a:pathLst>
          </a:custGeom>
          <a:solidFill>
            <a:srgbClr val="F0FDF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任意多边形: 形状 32"/>
          <p:cNvSpPr/>
          <p:nvPr/>
        </p:nvSpPr>
        <p:spPr>
          <a:xfrm>
            <a:off x="4647960" y="3457440"/>
            <a:ext cx="171720" cy="171720"/>
          </a:xfrm>
          <a:custGeom>
            <a:avLst/>
            <a:gdLst/>
            <a:ahLst/>
            <a:cxnLst/>
            <a:rect l="0" t="0" r="r" b="b"/>
            <a:pathLst>
              <a:path w="477" h="477" fill="none">
                <a:moveTo>
                  <a:pt x="424" y="213"/>
                </a:moveTo>
                <a:lnTo>
                  <a:pt x="53" y="213"/>
                </a:lnTo>
                <a:moveTo>
                  <a:pt x="424" y="213"/>
                </a:moveTo>
                <a:cubicBezTo>
                  <a:pt x="432" y="213"/>
                  <a:pt x="438" y="214"/>
                  <a:pt x="445" y="217"/>
                </a:cubicBezTo>
                <a:cubicBezTo>
                  <a:pt x="451" y="219"/>
                  <a:pt x="457" y="223"/>
                  <a:pt x="462" y="228"/>
                </a:cubicBezTo>
                <a:cubicBezTo>
                  <a:pt x="467" y="233"/>
                  <a:pt x="471" y="239"/>
                  <a:pt x="473" y="245"/>
                </a:cubicBezTo>
                <a:cubicBezTo>
                  <a:pt x="476" y="252"/>
                  <a:pt x="477" y="258"/>
                  <a:pt x="477" y="265"/>
                </a:cubicBezTo>
                <a:lnTo>
                  <a:pt x="477" y="424"/>
                </a:lnTo>
                <a:cubicBezTo>
                  <a:pt x="477" y="431"/>
                  <a:pt x="476" y="438"/>
                  <a:pt x="473" y="444"/>
                </a:cubicBezTo>
                <a:cubicBezTo>
                  <a:pt x="471" y="451"/>
                  <a:pt x="467" y="457"/>
                  <a:pt x="462" y="462"/>
                </a:cubicBezTo>
                <a:cubicBezTo>
                  <a:pt x="457" y="467"/>
                  <a:pt x="451" y="470"/>
                  <a:pt x="445" y="473"/>
                </a:cubicBezTo>
                <a:cubicBezTo>
                  <a:pt x="438" y="476"/>
                  <a:pt x="432" y="477"/>
                  <a:pt x="424" y="477"/>
                </a:cubicBezTo>
                <a:lnTo>
                  <a:pt x="53" y="477"/>
                </a:lnTo>
                <a:cubicBezTo>
                  <a:pt x="46" y="477"/>
                  <a:pt x="39" y="476"/>
                  <a:pt x="33" y="473"/>
                </a:cubicBezTo>
                <a:cubicBezTo>
                  <a:pt x="26" y="470"/>
                  <a:pt x="21" y="467"/>
                  <a:pt x="16" y="462"/>
                </a:cubicBezTo>
                <a:cubicBezTo>
                  <a:pt x="11" y="457"/>
                  <a:pt x="7" y="451"/>
                  <a:pt x="4" y="444"/>
                </a:cubicBezTo>
                <a:cubicBezTo>
                  <a:pt x="2" y="438"/>
                  <a:pt x="0" y="431"/>
                  <a:pt x="0" y="424"/>
                </a:cubicBezTo>
                <a:lnTo>
                  <a:pt x="0" y="265"/>
                </a:lnTo>
                <a:cubicBezTo>
                  <a:pt x="0" y="258"/>
                  <a:pt x="2" y="252"/>
                  <a:pt x="4" y="245"/>
                </a:cubicBezTo>
                <a:cubicBezTo>
                  <a:pt x="7" y="239"/>
                  <a:pt x="11" y="233"/>
                  <a:pt x="16" y="228"/>
                </a:cubicBezTo>
                <a:cubicBezTo>
                  <a:pt x="21" y="223"/>
                  <a:pt x="26" y="219"/>
                  <a:pt x="33" y="217"/>
                </a:cubicBezTo>
                <a:cubicBezTo>
                  <a:pt x="39" y="214"/>
                  <a:pt x="46" y="213"/>
                  <a:pt x="53" y="213"/>
                </a:cubicBezTo>
                <a:moveTo>
                  <a:pt x="424" y="213"/>
                </a:moveTo>
                <a:lnTo>
                  <a:pt x="424" y="160"/>
                </a:lnTo>
                <a:cubicBezTo>
                  <a:pt x="424" y="152"/>
                  <a:pt x="423" y="145"/>
                  <a:pt x="420" y="138"/>
                </a:cubicBezTo>
                <a:cubicBezTo>
                  <a:pt x="418" y="132"/>
                  <a:pt x="414" y="126"/>
                  <a:pt x="409" y="121"/>
                </a:cubicBezTo>
                <a:cubicBezTo>
                  <a:pt x="404" y="116"/>
                  <a:pt x="398" y="112"/>
                  <a:pt x="392" y="110"/>
                </a:cubicBezTo>
                <a:cubicBezTo>
                  <a:pt x="385" y="107"/>
                  <a:pt x="379" y="106"/>
                  <a:pt x="372" y="106"/>
                </a:cubicBezTo>
                <a:moveTo>
                  <a:pt x="53" y="213"/>
                </a:moveTo>
                <a:lnTo>
                  <a:pt x="53" y="160"/>
                </a:lnTo>
                <a:cubicBezTo>
                  <a:pt x="53" y="152"/>
                  <a:pt x="54" y="145"/>
                  <a:pt x="57" y="138"/>
                </a:cubicBezTo>
                <a:cubicBezTo>
                  <a:pt x="60" y="132"/>
                  <a:pt x="64" y="126"/>
                  <a:pt x="69" y="121"/>
                </a:cubicBezTo>
                <a:cubicBezTo>
                  <a:pt x="74" y="116"/>
                  <a:pt x="79" y="112"/>
                  <a:pt x="86" y="110"/>
                </a:cubicBezTo>
                <a:cubicBezTo>
                  <a:pt x="92" y="107"/>
                  <a:pt x="99" y="106"/>
                  <a:pt x="106" y="106"/>
                </a:cubicBezTo>
                <a:moveTo>
                  <a:pt x="106" y="106"/>
                </a:moveTo>
                <a:lnTo>
                  <a:pt x="106" y="53"/>
                </a:lnTo>
                <a:cubicBezTo>
                  <a:pt x="106" y="46"/>
                  <a:pt x="107" y="39"/>
                  <a:pt x="110" y="33"/>
                </a:cubicBezTo>
                <a:cubicBezTo>
                  <a:pt x="113" y="26"/>
                  <a:pt x="117" y="20"/>
                  <a:pt x="121" y="15"/>
                </a:cubicBezTo>
                <a:cubicBezTo>
                  <a:pt x="126" y="10"/>
                  <a:pt x="132" y="7"/>
                  <a:pt x="139" y="4"/>
                </a:cubicBezTo>
                <a:cubicBezTo>
                  <a:pt x="145" y="1"/>
                  <a:pt x="152" y="0"/>
                  <a:pt x="159" y="0"/>
                </a:cubicBezTo>
                <a:lnTo>
                  <a:pt x="319" y="0"/>
                </a:lnTo>
                <a:cubicBezTo>
                  <a:pt x="326" y="0"/>
                  <a:pt x="332" y="1"/>
                  <a:pt x="339" y="4"/>
                </a:cubicBezTo>
                <a:cubicBezTo>
                  <a:pt x="345" y="7"/>
                  <a:pt x="351" y="10"/>
                  <a:pt x="356" y="15"/>
                </a:cubicBezTo>
                <a:cubicBezTo>
                  <a:pt x="361" y="20"/>
                  <a:pt x="365" y="26"/>
                  <a:pt x="368" y="33"/>
                </a:cubicBezTo>
                <a:cubicBezTo>
                  <a:pt x="370" y="39"/>
                  <a:pt x="372" y="46"/>
                  <a:pt x="372" y="53"/>
                </a:cubicBezTo>
                <a:lnTo>
                  <a:pt x="372" y="106"/>
                </a:lnTo>
                <a:moveTo>
                  <a:pt x="106" y="106"/>
                </a:moveTo>
                <a:lnTo>
                  <a:pt x="372" y="106"/>
                </a:lnTo>
              </a:path>
            </a:pathLst>
          </a:custGeom>
          <a:ln w="18720" cap="rnd">
            <a:solidFill>
              <a:srgbClr val="00C853"/>
            </a:solidFill>
            <a:round/>
          </a:ln>
        </p:spPr>
        <p:txBody>
          <a:bodyPr lIns="9360" tIns="9360" rIns="9360" bIns="936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4546440" y="2210040"/>
            <a:ext cx="266040" cy="19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6B7280"/>
                </a:solidFill>
                <a:effectLst/>
                <a:uFillTx/>
                <a:latin typeface="NotoSansSC"/>
                <a:ea typeface="NotoSansSC"/>
              </a:rPr>
              <a:t>索。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5003640" y="3417120"/>
            <a:ext cx="859531" cy="20774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350" b="0" u="none" strike="noStrike" dirty="0">
                <a:solidFill>
                  <a:srgbClr val="00C853"/>
                </a:solidFill>
                <a:effectLst/>
                <a:uFillTx/>
                <a:latin typeface="NotoSansSC"/>
                <a:ea typeface="NotoSansSC"/>
              </a:rPr>
              <a:t>知识库 </a:t>
            </a:r>
            <a:r>
              <a:rPr lang="en-US" sz="1350" b="0" u="none" strike="noStrike" dirty="0">
                <a:solidFill>
                  <a:srgbClr val="00C853"/>
                </a:solidFill>
                <a:effectLst/>
                <a:uFillTx/>
                <a:latin typeface="NotoSansSC"/>
                <a:ea typeface="Roboto"/>
              </a:rPr>
              <a:t>RAG</a:t>
            </a:r>
            <a:endParaRPr lang="en-US" sz="1350" b="0" u="none" strike="noStrike" dirty="0">
              <a:solidFill>
                <a:srgbClr val="000000"/>
              </a:solidFill>
              <a:effectLst/>
              <a:uFillTx/>
              <a:latin typeface="NotoSansSC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4546440" y="3895920"/>
            <a:ext cx="3150360" cy="19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 dirty="0">
                <a:solidFill>
                  <a:srgbClr val="4B5563"/>
                </a:solidFill>
                <a:effectLst/>
                <a:uFillTx/>
                <a:latin typeface="NotoSansSC"/>
                <a:ea typeface="NotoSansSC"/>
              </a:rPr>
              <a:t>构建结构化文档库，利用 </a:t>
            </a:r>
            <a:r>
              <a:rPr lang="en-US" sz="1050" b="0" u="none" strike="noStrike" dirty="0">
                <a:solidFill>
                  <a:srgbClr val="1F2937"/>
                </a:solidFill>
                <a:effectLst/>
                <a:uFillTx/>
                <a:latin typeface="Roboto"/>
                <a:ea typeface="Roboto"/>
              </a:rPr>
              <a:t>RAG (</a:t>
            </a:r>
            <a:r>
              <a:rPr lang="zh-CN" sz="1050" b="0" u="none" strike="noStrike" dirty="0">
                <a:solidFill>
                  <a:srgbClr val="1F2937"/>
                </a:solidFill>
                <a:effectLst/>
                <a:uFillTx/>
                <a:latin typeface="NotoSansSC"/>
                <a:ea typeface="NotoSansSC"/>
              </a:rPr>
              <a:t>检索增强生成</a:t>
            </a:r>
            <a:r>
              <a:rPr lang="en-US" sz="1050" b="0" u="none" strike="noStrike" dirty="0">
                <a:solidFill>
                  <a:srgbClr val="1F2937"/>
                </a:solidFill>
                <a:effectLst/>
                <a:uFillTx/>
                <a:latin typeface="Roboto"/>
                <a:ea typeface="Roboto"/>
              </a:rPr>
              <a:t>)</a:t>
            </a:r>
            <a:r>
              <a:rPr lang="en-US" sz="1050" b="0" u="none" strike="noStrike" dirty="0">
                <a:solidFill>
                  <a:srgbClr val="4B5563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zh-CN" sz="1050" b="0" u="none" strike="noStrike" dirty="0">
                <a:solidFill>
                  <a:srgbClr val="4B5563"/>
                </a:solidFill>
                <a:effectLst/>
                <a:uFillTx/>
                <a:latin typeface="NotoSansSC"/>
                <a:ea typeface="NotoSansSC"/>
              </a:rPr>
              <a:t>技术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任意多边形: 形状 36"/>
          <p:cNvSpPr/>
          <p:nvPr/>
        </p:nvSpPr>
        <p:spPr>
          <a:xfrm>
            <a:off x="4574880" y="4501800"/>
            <a:ext cx="89280" cy="64080"/>
          </a:xfrm>
          <a:custGeom>
            <a:avLst/>
            <a:gdLst/>
            <a:ahLst/>
            <a:cxnLst/>
            <a:rect l="0" t="0" r="r" b="b"/>
            <a:pathLst>
              <a:path w="248" h="178" fill="none">
                <a:moveTo>
                  <a:pt x="0" y="107"/>
                </a:moveTo>
                <a:lnTo>
                  <a:pt x="71" y="178"/>
                </a:lnTo>
                <a:lnTo>
                  <a:pt x="248" y="0"/>
                </a:lnTo>
              </a:path>
            </a:pathLst>
          </a:custGeom>
          <a:ln w="12600" cap="rnd">
            <a:solidFill>
              <a:srgbClr val="00C853"/>
            </a:solidFill>
            <a:round/>
          </a:ln>
        </p:spPr>
        <p:txBody>
          <a:bodyPr lIns="6120" tIns="6120" rIns="6120" bIns="612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4546440" y="4115160"/>
            <a:ext cx="928800" cy="19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 dirty="0">
                <a:solidFill>
                  <a:srgbClr val="4B5563"/>
                </a:solidFill>
                <a:effectLst/>
                <a:uFillTx/>
                <a:latin typeface="NotoSansSC"/>
                <a:ea typeface="NotoSansSC"/>
              </a:rPr>
              <a:t>实现智能问答。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任意多边形: 形状 38"/>
          <p:cNvSpPr/>
          <p:nvPr/>
        </p:nvSpPr>
        <p:spPr>
          <a:xfrm>
            <a:off x="4574880" y="4749480"/>
            <a:ext cx="89280" cy="64080"/>
          </a:xfrm>
          <a:custGeom>
            <a:avLst/>
            <a:gdLst/>
            <a:ahLst/>
            <a:cxnLst/>
            <a:rect l="0" t="0" r="r" b="b"/>
            <a:pathLst>
              <a:path w="248" h="178" fill="none">
                <a:moveTo>
                  <a:pt x="0" y="107"/>
                </a:moveTo>
                <a:lnTo>
                  <a:pt x="71" y="178"/>
                </a:lnTo>
                <a:lnTo>
                  <a:pt x="248" y="0"/>
                </a:lnTo>
              </a:path>
            </a:pathLst>
          </a:custGeom>
          <a:ln w="12600" cap="rnd">
            <a:solidFill>
              <a:srgbClr val="00C853"/>
            </a:solidFill>
            <a:round/>
          </a:ln>
        </p:spPr>
        <p:txBody>
          <a:bodyPr lIns="6120" tIns="6120" rIns="6120" bIns="612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4775040" y="4430880"/>
            <a:ext cx="1140120" cy="16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00" b="0" u="none" strike="noStrike" dirty="0">
                <a:solidFill>
                  <a:srgbClr val="6B7280"/>
                </a:solidFill>
                <a:effectLst/>
                <a:uFillTx/>
                <a:latin typeface="NotoSansSC"/>
                <a:ea typeface="NotoSansSC"/>
              </a:rPr>
              <a:t>自然语言精准检索</a:t>
            </a:r>
            <a:r>
              <a:rPr lang="en-US" sz="900" b="0" u="none" strike="noStrike" dirty="0">
                <a:solidFill>
                  <a:srgbClr val="6B7280"/>
                </a:solidFill>
                <a:effectLst/>
                <a:uFillTx/>
                <a:latin typeface="Roboto"/>
                <a:ea typeface="Roboto"/>
              </a:rPr>
              <a:t>API</a:t>
            </a:r>
            <a:endParaRPr lang="en-US" sz="9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1" name="图片 40"/>
          <p:cNvPicPr/>
          <p:nvPr/>
        </p:nvPicPr>
        <p:blipFill>
          <a:blip r:embed="rId5"/>
          <a:stretch/>
        </p:blipFill>
        <p:spPr>
          <a:xfrm>
            <a:off x="8182080" y="1066680"/>
            <a:ext cx="3552480" cy="1561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" name="任意多边形: 形状 41"/>
          <p:cNvSpPr/>
          <p:nvPr/>
        </p:nvSpPr>
        <p:spPr>
          <a:xfrm>
            <a:off x="8410320" y="1333440"/>
            <a:ext cx="467280" cy="228960"/>
          </a:xfrm>
          <a:custGeom>
            <a:avLst/>
            <a:gdLst/>
            <a:ahLst/>
            <a:cxnLst/>
            <a:rect l="0" t="0" r="r" b="b"/>
            <a:pathLst>
              <a:path w="1298" h="636">
                <a:moveTo>
                  <a:pt x="0" y="317"/>
                </a:moveTo>
                <a:cubicBezTo>
                  <a:pt x="0" y="296"/>
                  <a:pt x="2" y="276"/>
                  <a:pt x="6" y="255"/>
                </a:cubicBezTo>
                <a:cubicBezTo>
                  <a:pt x="10" y="235"/>
                  <a:pt x="16" y="215"/>
                  <a:pt x="24" y="196"/>
                </a:cubicBezTo>
                <a:cubicBezTo>
                  <a:pt x="32" y="176"/>
                  <a:pt x="42" y="158"/>
                  <a:pt x="54" y="141"/>
                </a:cubicBezTo>
                <a:cubicBezTo>
                  <a:pt x="65" y="123"/>
                  <a:pt x="78" y="107"/>
                  <a:pt x="93" y="93"/>
                </a:cubicBezTo>
                <a:cubicBezTo>
                  <a:pt x="108" y="78"/>
                  <a:pt x="124" y="65"/>
                  <a:pt x="141" y="53"/>
                </a:cubicBezTo>
                <a:cubicBezTo>
                  <a:pt x="159" y="42"/>
                  <a:pt x="177" y="32"/>
                  <a:pt x="196" y="24"/>
                </a:cubicBezTo>
                <a:cubicBezTo>
                  <a:pt x="215" y="16"/>
                  <a:pt x="235" y="10"/>
                  <a:pt x="256" y="6"/>
                </a:cubicBezTo>
                <a:cubicBezTo>
                  <a:pt x="276" y="2"/>
                  <a:pt x="297" y="0"/>
                  <a:pt x="318" y="0"/>
                </a:cubicBezTo>
                <a:lnTo>
                  <a:pt x="980" y="0"/>
                </a:lnTo>
                <a:cubicBezTo>
                  <a:pt x="1001" y="0"/>
                  <a:pt x="1022" y="2"/>
                  <a:pt x="1042" y="6"/>
                </a:cubicBezTo>
                <a:cubicBezTo>
                  <a:pt x="1063" y="10"/>
                  <a:pt x="1082" y="16"/>
                  <a:pt x="1102" y="24"/>
                </a:cubicBezTo>
                <a:cubicBezTo>
                  <a:pt x="1121" y="32"/>
                  <a:pt x="1139" y="42"/>
                  <a:pt x="1157" y="53"/>
                </a:cubicBezTo>
                <a:cubicBezTo>
                  <a:pt x="1174" y="65"/>
                  <a:pt x="1190" y="78"/>
                  <a:pt x="1205" y="93"/>
                </a:cubicBezTo>
                <a:cubicBezTo>
                  <a:pt x="1219" y="107"/>
                  <a:pt x="1233" y="123"/>
                  <a:pt x="1244" y="141"/>
                </a:cubicBezTo>
                <a:cubicBezTo>
                  <a:pt x="1256" y="158"/>
                  <a:pt x="1266" y="176"/>
                  <a:pt x="1273" y="196"/>
                </a:cubicBezTo>
                <a:cubicBezTo>
                  <a:pt x="1281" y="215"/>
                  <a:pt x="1287" y="235"/>
                  <a:pt x="1292" y="255"/>
                </a:cubicBezTo>
                <a:cubicBezTo>
                  <a:pt x="1296" y="276"/>
                  <a:pt x="1298" y="296"/>
                  <a:pt x="1298" y="317"/>
                </a:cubicBezTo>
                <a:cubicBezTo>
                  <a:pt x="1298" y="338"/>
                  <a:pt x="1296" y="359"/>
                  <a:pt x="1292" y="379"/>
                </a:cubicBezTo>
                <a:cubicBezTo>
                  <a:pt x="1287" y="400"/>
                  <a:pt x="1281" y="420"/>
                  <a:pt x="1273" y="440"/>
                </a:cubicBezTo>
                <a:cubicBezTo>
                  <a:pt x="1266" y="459"/>
                  <a:pt x="1256" y="477"/>
                  <a:pt x="1244" y="495"/>
                </a:cubicBezTo>
                <a:cubicBezTo>
                  <a:pt x="1233" y="512"/>
                  <a:pt x="1219" y="528"/>
                  <a:pt x="1205" y="543"/>
                </a:cubicBezTo>
                <a:cubicBezTo>
                  <a:pt x="1190" y="557"/>
                  <a:pt x="1174" y="571"/>
                  <a:pt x="1157" y="582"/>
                </a:cubicBezTo>
                <a:cubicBezTo>
                  <a:pt x="1139" y="594"/>
                  <a:pt x="1121" y="604"/>
                  <a:pt x="1102" y="611"/>
                </a:cubicBezTo>
                <a:cubicBezTo>
                  <a:pt x="1082" y="619"/>
                  <a:pt x="1063" y="625"/>
                  <a:pt x="1042" y="630"/>
                </a:cubicBezTo>
                <a:cubicBezTo>
                  <a:pt x="1022" y="634"/>
                  <a:pt x="1001" y="636"/>
                  <a:pt x="980" y="636"/>
                </a:cubicBezTo>
                <a:lnTo>
                  <a:pt x="318" y="636"/>
                </a:lnTo>
                <a:cubicBezTo>
                  <a:pt x="297" y="636"/>
                  <a:pt x="276" y="634"/>
                  <a:pt x="256" y="630"/>
                </a:cubicBezTo>
                <a:cubicBezTo>
                  <a:pt x="235" y="625"/>
                  <a:pt x="215" y="619"/>
                  <a:pt x="196" y="611"/>
                </a:cubicBezTo>
                <a:cubicBezTo>
                  <a:pt x="177" y="604"/>
                  <a:pt x="159" y="594"/>
                  <a:pt x="141" y="582"/>
                </a:cubicBezTo>
                <a:cubicBezTo>
                  <a:pt x="124" y="571"/>
                  <a:pt x="108" y="557"/>
                  <a:pt x="93" y="543"/>
                </a:cubicBezTo>
                <a:cubicBezTo>
                  <a:pt x="78" y="528"/>
                  <a:pt x="65" y="512"/>
                  <a:pt x="54" y="495"/>
                </a:cubicBezTo>
                <a:cubicBezTo>
                  <a:pt x="42" y="477"/>
                  <a:pt x="32" y="459"/>
                  <a:pt x="24" y="440"/>
                </a:cubicBezTo>
                <a:cubicBezTo>
                  <a:pt x="16" y="420"/>
                  <a:pt x="10" y="400"/>
                  <a:pt x="6" y="379"/>
                </a:cubicBezTo>
                <a:cubicBezTo>
                  <a:pt x="2" y="359"/>
                  <a:pt x="0" y="338"/>
                  <a:pt x="0" y="317"/>
                </a:cubicBezTo>
                <a:close/>
              </a:path>
            </a:pathLst>
          </a:custGeom>
          <a:solidFill>
            <a:srgbClr val="FEF2F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4775040" y="4678560"/>
            <a:ext cx="1440000" cy="16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00" b="0" u="none" strike="noStrike">
                <a:solidFill>
                  <a:srgbClr val="6B7280"/>
                </a:solidFill>
                <a:effectLst/>
                <a:uFillTx/>
                <a:latin typeface="NotoSansSC"/>
                <a:ea typeface="NotoSansSC"/>
              </a:rPr>
              <a:t>上下文感知的代码示例推荐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8521560" y="1363680"/>
            <a:ext cx="239760" cy="16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00" b="0" u="none" strike="noStrike">
                <a:solidFill>
                  <a:srgbClr val="FF5722"/>
                </a:solidFill>
                <a:effectLst/>
                <a:uFillTx/>
                <a:latin typeface="NotoSansSC"/>
                <a:ea typeface="NotoSansSC"/>
              </a:rPr>
              <a:t>痛点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8407440" y="1672920"/>
            <a:ext cx="119988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500" b="0" u="none" strike="noStrike" dirty="0">
                <a:solidFill>
                  <a:srgbClr val="1F2937"/>
                </a:solidFill>
                <a:effectLst/>
                <a:uFillTx/>
                <a:latin typeface="NotoSansSC"/>
                <a:ea typeface="NotoSansSC"/>
              </a:rPr>
              <a:t>调试流程繁琐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8407440" y="2019600"/>
            <a:ext cx="3080520" cy="19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6B7280"/>
                </a:solidFill>
                <a:effectLst/>
                <a:uFillTx/>
                <a:latin typeface="NotoSansSC"/>
                <a:ea typeface="NotoSansSC"/>
              </a:rPr>
              <a:t>日志分析耗时，定位问题原因依赖人工经验，效率低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7" name="图片 46"/>
          <p:cNvPicPr/>
          <p:nvPr/>
        </p:nvPicPr>
        <p:blipFill>
          <a:blip r:embed="rId6"/>
          <a:stretch/>
        </p:blipFill>
        <p:spPr>
          <a:xfrm>
            <a:off x="10972800" y="1066680"/>
            <a:ext cx="761760" cy="761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" name="任意多边形: 形状 47"/>
          <p:cNvSpPr/>
          <p:nvPr/>
        </p:nvSpPr>
        <p:spPr>
          <a:xfrm>
            <a:off x="9943920" y="2628720"/>
            <a:ext cx="19440" cy="457560"/>
          </a:xfrm>
          <a:custGeom>
            <a:avLst/>
            <a:gdLst/>
            <a:ahLst/>
            <a:cxnLst/>
            <a:rect l="0" t="0" r="r" b="b"/>
            <a:pathLst>
              <a:path w="54" h="1271">
                <a:moveTo>
                  <a:pt x="0" y="0"/>
                </a:moveTo>
                <a:lnTo>
                  <a:pt x="54" y="0"/>
                </a:lnTo>
                <a:lnTo>
                  <a:pt x="54" y="1271"/>
                </a:lnTo>
                <a:lnTo>
                  <a:pt x="0" y="1271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1" name="图片 50"/>
          <p:cNvPicPr/>
          <p:nvPr/>
        </p:nvPicPr>
        <p:blipFill>
          <a:blip r:embed="rId7"/>
          <a:stretch/>
        </p:blipFill>
        <p:spPr>
          <a:xfrm>
            <a:off x="8182080" y="3085920"/>
            <a:ext cx="3552480" cy="2647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" name="任意多边形: 形状 51"/>
          <p:cNvSpPr/>
          <p:nvPr/>
        </p:nvSpPr>
        <p:spPr>
          <a:xfrm>
            <a:off x="8410320" y="3352680"/>
            <a:ext cx="381600" cy="381240"/>
          </a:xfrm>
          <a:custGeom>
            <a:avLst/>
            <a:gdLst/>
            <a:ahLst/>
            <a:cxnLst/>
            <a:rect l="0" t="0" r="r" b="b"/>
            <a:pathLst>
              <a:path w="1060" h="1059">
                <a:moveTo>
                  <a:pt x="0" y="847"/>
                </a:moveTo>
                <a:lnTo>
                  <a:pt x="0" y="211"/>
                </a:lnTo>
                <a:cubicBezTo>
                  <a:pt x="0" y="198"/>
                  <a:pt x="2" y="184"/>
                  <a:pt x="4" y="170"/>
                </a:cubicBezTo>
                <a:cubicBezTo>
                  <a:pt x="7" y="157"/>
                  <a:pt x="11" y="143"/>
                  <a:pt x="16" y="130"/>
                </a:cubicBezTo>
                <a:cubicBezTo>
                  <a:pt x="22" y="118"/>
                  <a:pt x="28" y="105"/>
                  <a:pt x="36" y="94"/>
                </a:cubicBezTo>
                <a:cubicBezTo>
                  <a:pt x="44" y="82"/>
                  <a:pt x="52" y="72"/>
                  <a:pt x="62" y="62"/>
                </a:cubicBezTo>
                <a:cubicBezTo>
                  <a:pt x="72" y="52"/>
                  <a:pt x="83" y="43"/>
                  <a:pt x="94" y="36"/>
                </a:cubicBezTo>
                <a:cubicBezTo>
                  <a:pt x="106" y="28"/>
                  <a:pt x="118" y="21"/>
                  <a:pt x="131" y="16"/>
                </a:cubicBezTo>
                <a:cubicBezTo>
                  <a:pt x="144" y="11"/>
                  <a:pt x="157" y="7"/>
                  <a:pt x="171" y="4"/>
                </a:cubicBezTo>
                <a:cubicBezTo>
                  <a:pt x="184" y="1"/>
                  <a:pt x="198" y="0"/>
                  <a:pt x="212" y="0"/>
                </a:cubicBezTo>
                <a:lnTo>
                  <a:pt x="848" y="0"/>
                </a:lnTo>
                <a:cubicBezTo>
                  <a:pt x="862" y="0"/>
                  <a:pt x="876" y="1"/>
                  <a:pt x="889" y="4"/>
                </a:cubicBezTo>
                <a:cubicBezTo>
                  <a:pt x="903" y="7"/>
                  <a:pt x="916" y="11"/>
                  <a:pt x="929" y="16"/>
                </a:cubicBezTo>
                <a:cubicBezTo>
                  <a:pt x="942" y="21"/>
                  <a:pt x="954" y="28"/>
                  <a:pt x="965" y="36"/>
                </a:cubicBezTo>
                <a:cubicBezTo>
                  <a:pt x="977" y="43"/>
                  <a:pt x="988" y="52"/>
                  <a:pt x="998" y="62"/>
                </a:cubicBezTo>
                <a:cubicBezTo>
                  <a:pt x="1007" y="72"/>
                  <a:pt x="1016" y="82"/>
                  <a:pt x="1024" y="94"/>
                </a:cubicBezTo>
                <a:cubicBezTo>
                  <a:pt x="1032" y="105"/>
                  <a:pt x="1038" y="118"/>
                  <a:pt x="1043" y="130"/>
                </a:cubicBezTo>
                <a:cubicBezTo>
                  <a:pt x="1049" y="143"/>
                  <a:pt x="1053" y="157"/>
                  <a:pt x="1055" y="170"/>
                </a:cubicBezTo>
                <a:cubicBezTo>
                  <a:pt x="1058" y="184"/>
                  <a:pt x="1060" y="198"/>
                  <a:pt x="1060" y="211"/>
                </a:cubicBezTo>
                <a:lnTo>
                  <a:pt x="1060" y="847"/>
                </a:lnTo>
                <a:cubicBezTo>
                  <a:pt x="1060" y="861"/>
                  <a:pt x="1058" y="875"/>
                  <a:pt x="1055" y="889"/>
                </a:cubicBezTo>
                <a:cubicBezTo>
                  <a:pt x="1053" y="902"/>
                  <a:pt x="1049" y="916"/>
                  <a:pt x="1043" y="928"/>
                </a:cubicBezTo>
                <a:cubicBezTo>
                  <a:pt x="1038" y="941"/>
                  <a:pt x="1032" y="954"/>
                  <a:pt x="1024" y="965"/>
                </a:cubicBezTo>
                <a:cubicBezTo>
                  <a:pt x="1016" y="977"/>
                  <a:pt x="1007" y="987"/>
                  <a:pt x="998" y="997"/>
                </a:cubicBezTo>
                <a:cubicBezTo>
                  <a:pt x="988" y="1007"/>
                  <a:pt x="977" y="1016"/>
                  <a:pt x="965" y="1023"/>
                </a:cubicBezTo>
                <a:cubicBezTo>
                  <a:pt x="954" y="1031"/>
                  <a:pt x="942" y="1038"/>
                  <a:pt x="929" y="1043"/>
                </a:cubicBezTo>
                <a:cubicBezTo>
                  <a:pt x="916" y="1048"/>
                  <a:pt x="903" y="1052"/>
                  <a:pt x="889" y="1055"/>
                </a:cubicBezTo>
                <a:cubicBezTo>
                  <a:pt x="876" y="1058"/>
                  <a:pt x="862" y="1059"/>
                  <a:pt x="848" y="1059"/>
                </a:cubicBezTo>
                <a:lnTo>
                  <a:pt x="212" y="1059"/>
                </a:lnTo>
                <a:cubicBezTo>
                  <a:pt x="198" y="1059"/>
                  <a:pt x="184" y="1058"/>
                  <a:pt x="171" y="1055"/>
                </a:cubicBezTo>
                <a:cubicBezTo>
                  <a:pt x="157" y="1052"/>
                  <a:pt x="144" y="1048"/>
                  <a:pt x="131" y="1043"/>
                </a:cubicBezTo>
                <a:cubicBezTo>
                  <a:pt x="118" y="1038"/>
                  <a:pt x="106" y="1031"/>
                  <a:pt x="94" y="1023"/>
                </a:cubicBezTo>
                <a:cubicBezTo>
                  <a:pt x="83" y="1016"/>
                  <a:pt x="72" y="1007"/>
                  <a:pt x="62" y="997"/>
                </a:cubicBezTo>
                <a:cubicBezTo>
                  <a:pt x="52" y="987"/>
                  <a:pt x="44" y="977"/>
                  <a:pt x="36" y="965"/>
                </a:cubicBezTo>
                <a:cubicBezTo>
                  <a:pt x="28" y="954"/>
                  <a:pt x="22" y="941"/>
                  <a:pt x="16" y="928"/>
                </a:cubicBezTo>
                <a:cubicBezTo>
                  <a:pt x="11" y="916"/>
                  <a:pt x="7" y="902"/>
                  <a:pt x="4" y="889"/>
                </a:cubicBezTo>
                <a:cubicBezTo>
                  <a:pt x="2" y="875"/>
                  <a:pt x="0" y="861"/>
                  <a:pt x="0" y="847"/>
                </a:cubicBezTo>
                <a:close/>
              </a:path>
            </a:pathLst>
          </a:custGeom>
          <a:solidFill>
            <a:srgbClr val="F0FDF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任意多边形: 形状 52"/>
          <p:cNvSpPr/>
          <p:nvPr/>
        </p:nvSpPr>
        <p:spPr>
          <a:xfrm>
            <a:off x="8515080" y="3457440"/>
            <a:ext cx="171720" cy="171720"/>
          </a:xfrm>
          <a:custGeom>
            <a:avLst/>
            <a:gdLst/>
            <a:ahLst/>
            <a:cxnLst/>
            <a:rect l="0" t="0" r="r" b="b"/>
            <a:pathLst>
              <a:path w="477" h="477" fill="none">
                <a:moveTo>
                  <a:pt x="159" y="239"/>
                </a:moveTo>
                <a:lnTo>
                  <a:pt x="212" y="292"/>
                </a:lnTo>
                <a:lnTo>
                  <a:pt x="318" y="186"/>
                </a:lnTo>
                <a:moveTo>
                  <a:pt x="477" y="239"/>
                </a:moveTo>
                <a:cubicBezTo>
                  <a:pt x="478" y="255"/>
                  <a:pt x="476" y="270"/>
                  <a:pt x="473" y="285"/>
                </a:cubicBezTo>
                <a:cubicBezTo>
                  <a:pt x="470" y="301"/>
                  <a:pt x="465" y="316"/>
                  <a:pt x="459" y="330"/>
                </a:cubicBezTo>
                <a:cubicBezTo>
                  <a:pt x="453" y="345"/>
                  <a:pt x="446" y="358"/>
                  <a:pt x="437" y="371"/>
                </a:cubicBezTo>
                <a:cubicBezTo>
                  <a:pt x="429" y="384"/>
                  <a:pt x="419" y="396"/>
                  <a:pt x="408" y="407"/>
                </a:cubicBezTo>
                <a:cubicBezTo>
                  <a:pt x="397" y="418"/>
                  <a:pt x="384" y="428"/>
                  <a:pt x="371" y="437"/>
                </a:cubicBezTo>
                <a:cubicBezTo>
                  <a:pt x="358" y="446"/>
                  <a:pt x="344" y="453"/>
                  <a:pt x="330" y="459"/>
                </a:cubicBezTo>
                <a:cubicBezTo>
                  <a:pt x="315" y="465"/>
                  <a:pt x="300" y="470"/>
                  <a:pt x="285" y="473"/>
                </a:cubicBezTo>
                <a:cubicBezTo>
                  <a:pt x="270" y="476"/>
                  <a:pt x="254" y="477"/>
                  <a:pt x="238" y="477"/>
                </a:cubicBezTo>
                <a:cubicBezTo>
                  <a:pt x="223" y="477"/>
                  <a:pt x="207" y="476"/>
                  <a:pt x="192" y="473"/>
                </a:cubicBezTo>
                <a:cubicBezTo>
                  <a:pt x="177" y="470"/>
                  <a:pt x="162" y="465"/>
                  <a:pt x="147" y="459"/>
                </a:cubicBezTo>
                <a:cubicBezTo>
                  <a:pt x="133" y="453"/>
                  <a:pt x="119" y="446"/>
                  <a:pt x="106" y="437"/>
                </a:cubicBezTo>
                <a:cubicBezTo>
                  <a:pt x="93" y="428"/>
                  <a:pt x="81" y="418"/>
                  <a:pt x="70" y="407"/>
                </a:cubicBezTo>
                <a:cubicBezTo>
                  <a:pt x="59" y="396"/>
                  <a:pt x="49" y="384"/>
                  <a:pt x="40" y="371"/>
                </a:cubicBezTo>
                <a:cubicBezTo>
                  <a:pt x="32" y="358"/>
                  <a:pt x="24" y="345"/>
                  <a:pt x="18" y="330"/>
                </a:cubicBezTo>
                <a:cubicBezTo>
                  <a:pt x="12" y="316"/>
                  <a:pt x="8" y="301"/>
                  <a:pt x="5" y="285"/>
                </a:cubicBezTo>
                <a:cubicBezTo>
                  <a:pt x="2" y="270"/>
                  <a:pt x="0" y="255"/>
                  <a:pt x="0" y="239"/>
                </a:cubicBezTo>
                <a:cubicBezTo>
                  <a:pt x="0" y="223"/>
                  <a:pt x="2" y="208"/>
                  <a:pt x="5" y="193"/>
                </a:cubicBezTo>
                <a:cubicBezTo>
                  <a:pt x="8" y="177"/>
                  <a:pt x="12" y="162"/>
                  <a:pt x="18" y="147"/>
                </a:cubicBezTo>
                <a:cubicBezTo>
                  <a:pt x="24" y="132"/>
                  <a:pt x="32" y="119"/>
                  <a:pt x="40" y="106"/>
                </a:cubicBezTo>
                <a:cubicBezTo>
                  <a:pt x="49" y="93"/>
                  <a:pt x="59" y="81"/>
                  <a:pt x="70" y="70"/>
                </a:cubicBezTo>
                <a:cubicBezTo>
                  <a:pt x="81" y="59"/>
                  <a:pt x="93" y="49"/>
                  <a:pt x="106" y="40"/>
                </a:cubicBezTo>
                <a:cubicBezTo>
                  <a:pt x="119" y="31"/>
                  <a:pt x="133" y="24"/>
                  <a:pt x="147" y="18"/>
                </a:cubicBezTo>
                <a:cubicBezTo>
                  <a:pt x="162" y="12"/>
                  <a:pt x="177" y="8"/>
                  <a:pt x="192" y="5"/>
                </a:cubicBezTo>
                <a:cubicBezTo>
                  <a:pt x="207" y="1"/>
                  <a:pt x="223" y="0"/>
                  <a:pt x="238" y="0"/>
                </a:cubicBezTo>
                <a:cubicBezTo>
                  <a:pt x="254" y="0"/>
                  <a:pt x="269" y="1"/>
                  <a:pt x="285" y="5"/>
                </a:cubicBezTo>
                <a:cubicBezTo>
                  <a:pt x="300" y="8"/>
                  <a:pt x="315" y="12"/>
                  <a:pt x="329" y="18"/>
                </a:cubicBezTo>
                <a:cubicBezTo>
                  <a:pt x="344" y="24"/>
                  <a:pt x="358" y="31"/>
                  <a:pt x="371" y="40"/>
                </a:cubicBezTo>
                <a:cubicBezTo>
                  <a:pt x="384" y="49"/>
                  <a:pt x="397" y="59"/>
                  <a:pt x="408" y="70"/>
                </a:cubicBezTo>
                <a:cubicBezTo>
                  <a:pt x="419" y="81"/>
                  <a:pt x="429" y="93"/>
                  <a:pt x="437" y="106"/>
                </a:cubicBezTo>
                <a:cubicBezTo>
                  <a:pt x="446" y="119"/>
                  <a:pt x="453" y="132"/>
                  <a:pt x="459" y="147"/>
                </a:cubicBezTo>
                <a:cubicBezTo>
                  <a:pt x="465" y="162"/>
                  <a:pt x="470" y="177"/>
                  <a:pt x="473" y="193"/>
                </a:cubicBezTo>
                <a:cubicBezTo>
                  <a:pt x="476" y="208"/>
                  <a:pt x="477" y="223"/>
                  <a:pt x="477" y="239"/>
                </a:cubicBezTo>
              </a:path>
            </a:pathLst>
          </a:custGeom>
          <a:ln w="18720" cap="rnd">
            <a:solidFill>
              <a:srgbClr val="00C853"/>
            </a:solidFill>
            <a:round/>
          </a:ln>
        </p:spPr>
        <p:txBody>
          <a:bodyPr lIns="9360" tIns="9360" rIns="9360" bIns="936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8407440" y="2210040"/>
            <a:ext cx="266040" cy="19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6B7280"/>
                </a:solidFill>
                <a:effectLst/>
                <a:uFillTx/>
                <a:latin typeface="NotoSansSC"/>
                <a:ea typeface="NotoSansSC"/>
              </a:rPr>
              <a:t>下。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8864640" y="3417120"/>
            <a:ext cx="1534074" cy="20774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0" u="none" strike="noStrike" dirty="0">
                <a:solidFill>
                  <a:srgbClr val="00C853"/>
                </a:solidFill>
                <a:effectLst/>
                <a:uFillTx/>
                <a:latin typeface="NotoSansSC"/>
                <a:ea typeface="Roboto"/>
              </a:rPr>
              <a:t>Skill</a:t>
            </a:r>
            <a:r>
              <a:rPr lang="zh-CN" sz="1350" b="0" u="none" strike="noStrike" dirty="0">
                <a:solidFill>
                  <a:srgbClr val="00C853"/>
                </a:solidFill>
                <a:effectLst/>
                <a:uFillTx/>
                <a:latin typeface="NotoSansSC"/>
                <a:ea typeface="NotoSansSC"/>
              </a:rPr>
              <a:t>自动化 </a:t>
            </a:r>
            <a:r>
              <a:rPr lang="en-US" sz="1350" b="0" u="none" strike="noStrike" dirty="0">
                <a:solidFill>
                  <a:srgbClr val="00C853"/>
                </a:solidFill>
                <a:effectLst/>
                <a:uFillTx/>
                <a:latin typeface="NotoSansSC"/>
                <a:ea typeface="Roboto"/>
              </a:rPr>
              <a:t>+ </a:t>
            </a:r>
            <a:r>
              <a:rPr lang="zh-CN" altLang="en-US" sz="1350" b="0" u="none" strike="noStrike" dirty="0">
                <a:solidFill>
                  <a:srgbClr val="00C853"/>
                </a:solidFill>
                <a:effectLst/>
                <a:uFillTx/>
                <a:latin typeface="NotoSansSC"/>
                <a:ea typeface="Roboto"/>
              </a:rPr>
              <a:t>知识库</a:t>
            </a:r>
            <a:endParaRPr lang="en-US" sz="1350" b="0" u="none" strike="noStrike" dirty="0">
              <a:solidFill>
                <a:srgbClr val="000000"/>
              </a:solidFill>
              <a:effectLst/>
              <a:uFillTx/>
              <a:latin typeface="NotoSansSC"/>
            </a:endParaRPr>
          </a:p>
        </p:txBody>
      </p:sp>
      <p:sp>
        <p:nvSpPr>
          <p:cNvPr id="56" name="任意多边形: 形状 55"/>
          <p:cNvSpPr/>
          <p:nvPr/>
        </p:nvSpPr>
        <p:spPr>
          <a:xfrm>
            <a:off x="8442000" y="4282920"/>
            <a:ext cx="89280" cy="63720"/>
          </a:xfrm>
          <a:custGeom>
            <a:avLst/>
            <a:gdLst/>
            <a:ahLst/>
            <a:cxnLst/>
            <a:rect l="0" t="0" r="r" b="b"/>
            <a:pathLst>
              <a:path w="248" h="177" fill="none">
                <a:moveTo>
                  <a:pt x="0" y="106"/>
                </a:moveTo>
                <a:lnTo>
                  <a:pt x="72" y="177"/>
                </a:lnTo>
                <a:lnTo>
                  <a:pt x="248" y="0"/>
                </a:lnTo>
              </a:path>
            </a:pathLst>
          </a:custGeom>
          <a:ln w="12600" cap="rnd">
            <a:solidFill>
              <a:srgbClr val="00C853"/>
            </a:solidFill>
            <a:round/>
          </a:ln>
        </p:spPr>
        <p:txBody>
          <a:bodyPr lIns="6120" tIns="6120" rIns="6120" bIns="612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8407440" y="3895920"/>
            <a:ext cx="2957541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 dirty="0">
                <a:solidFill>
                  <a:srgbClr val="4B5563"/>
                </a:solidFill>
                <a:effectLst/>
                <a:uFillTx/>
                <a:latin typeface="NotoSansSC"/>
                <a:ea typeface="NotoSansSC"/>
              </a:rPr>
              <a:t>自动化日志抓取，结合</a:t>
            </a:r>
            <a:r>
              <a:rPr lang="zh-CN" altLang="en-US" sz="1050" dirty="0">
                <a:solidFill>
                  <a:srgbClr val="4B5563"/>
                </a:solidFill>
                <a:latin typeface="NotoSansSC"/>
                <a:ea typeface="NotoSansSC"/>
              </a:rPr>
              <a:t>知识库</a:t>
            </a:r>
            <a:r>
              <a:rPr lang="zh-CN" sz="1050" b="0" u="none" strike="noStrike" dirty="0">
                <a:solidFill>
                  <a:srgbClr val="1F2937"/>
                </a:solidFill>
                <a:effectLst/>
                <a:uFillTx/>
                <a:latin typeface="NotoSansSC"/>
                <a:ea typeface="NotoSansSC"/>
              </a:rPr>
              <a:t>上下文</a:t>
            </a:r>
            <a:r>
              <a:rPr lang="en-US" sz="1050" b="0" u="none" strike="noStrike" dirty="0">
                <a:solidFill>
                  <a:srgbClr val="4B5563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zh-CN" sz="1050" b="0" u="none" strike="noStrike" dirty="0">
                <a:solidFill>
                  <a:srgbClr val="4B5563"/>
                </a:solidFill>
                <a:effectLst/>
                <a:uFillTx/>
                <a:latin typeface="NotoSansSC"/>
                <a:ea typeface="NotoSansSC"/>
              </a:rPr>
              <a:t>智能分析。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任意多边形: 形状 57"/>
          <p:cNvSpPr/>
          <p:nvPr/>
        </p:nvSpPr>
        <p:spPr>
          <a:xfrm>
            <a:off x="8442000" y="4530600"/>
            <a:ext cx="89280" cy="63720"/>
          </a:xfrm>
          <a:custGeom>
            <a:avLst/>
            <a:gdLst/>
            <a:ahLst/>
            <a:cxnLst/>
            <a:rect l="0" t="0" r="r" b="b"/>
            <a:pathLst>
              <a:path w="248" h="177" fill="none">
                <a:moveTo>
                  <a:pt x="0" y="106"/>
                </a:moveTo>
                <a:lnTo>
                  <a:pt x="72" y="177"/>
                </a:lnTo>
                <a:lnTo>
                  <a:pt x="248" y="0"/>
                </a:lnTo>
              </a:path>
            </a:pathLst>
          </a:custGeom>
          <a:ln w="12600" cap="rnd">
            <a:solidFill>
              <a:srgbClr val="00C853"/>
            </a:solidFill>
            <a:round/>
          </a:ln>
        </p:spPr>
        <p:txBody>
          <a:bodyPr lIns="6120" tIns="6120" rIns="6120" bIns="612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8636040" y="4211640"/>
            <a:ext cx="1320120" cy="16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00" b="0" u="none" strike="noStrike" dirty="0">
                <a:solidFill>
                  <a:srgbClr val="6B7280"/>
                </a:solidFill>
                <a:effectLst/>
                <a:uFillTx/>
                <a:latin typeface="NotoSansSC"/>
                <a:ea typeface="NotoSansSC"/>
              </a:rPr>
              <a:t>自动关联报错堆栈与源码</a:t>
            </a:r>
            <a:endParaRPr lang="en-US" sz="9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0" name="图片 59"/>
          <p:cNvPicPr/>
          <p:nvPr/>
        </p:nvPicPr>
        <p:blipFill>
          <a:blip r:embed="rId8"/>
          <a:stretch/>
        </p:blipFill>
        <p:spPr>
          <a:xfrm>
            <a:off x="4124160" y="6039000"/>
            <a:ext cx="3952440" cy="514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" name="文本框 60"/>
          <p:cNvSpPr txBox="1"/>
          <p:nvPr/>
        </p:nvSpPr>
        <p:spPr>
          <a:xfrm>
            <a:off x="8636040" y="4459320"/>
            <a:ext cx="1269578" cy="1384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00" b="0" u="none" strike="noStrike" dirty="0">
                <a:solidFill>
                  <a:srgbClr val="6B7280"/>
                </a:solidFill>
                <a:effectLst/>
                <a:uFillTx/>
                <a:latin typeface="NotoSansSC"/>
                <a:ea typeface="NotoSansSC"/>
              </a:rPr>
              <a:t>智能修复建议与原因定位</a:t>
            </a:r>
            <a:endParaRPr lang="en-US" sz="9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2" name="图片 61"/>
          <p:cNvPicPr/>
          <p:nvPr/>
        </p:nvPicPr>
        <p:blipFill>
          <a:blip r:embed="rId9"/>
          <a:stretch/>
        </p:blipFill>
        <p:spPr>
          <a:xfrm>
            <a:off x="5705640" y="6181560"/>
            <a:ext cx="228240" cy="22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" name="文本框 62"/>
          <p:cNvSpPr txBox="1"/>
          <p:nvPr/>
        </p:nvSpPr>
        <p:spPr>
          <a:xfrm>
            <a:off x="4586400" y="6180840"/>
            <a:ext cx="98460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00" b="0" u="none" strike="noStrike">
                <a:solidFill>
                  <a:srgbClr val="6B7280"/>
                </a:solidFill>
                <a:effectLst/>
                <a:uFillTx/>
                <a:latin typeface="Roboto"/>
                <a:ea typeface="Roboto"/>
              </a:rPr>
              <a:t>Agent System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4" name="图片 63"/>
          <p:cNvPicPr/>
          <p:nvPr/>
        </p:nvPicPr>
        <p:blipFill>
          <a:blip r:embed="rId10"/>
          <a:stretch/>
        </p:blipFill>
        <p:spPr>
          <a:xfrm>
            <a:off x="0" y="0"/>
            <a:ext cx="12191760" cy="761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" name="任意多边形: 形状 64"/>
          <p:cNvSpPr/>
          <p:nvPr/>
        </p:nvSpPr>
        <p:spPr>
          <a:xfrm>
            <a:off x="456840" y="228240"/>
            <a:ext cx="57600" cy="305280"/>
          </a:xfrm>
          <a:custGeom>
            <a:avLst/>
            <a:gdLst/>
            <a:ahLst/>
            <a:cxnLst/>
            <a:rect l="0" t="0" r="r" b="b"/>
            <a:pathLst>
              <a:path w="160" h="848">
                <a:moveTo>
                  <a:pt x="0" y="769"/>
                </a:moveTo>
                <a:lnTo>
                  <a:pt x="0" y="80"/>
                </a:lnTo>
                <a:cubicBezTo>
                  <a:pt x="0" y="69"/>
                  <a:pt x="3" y="59"/>
                  <a:pt x="7" y="49"/>
                </a:cubicBezTo>
                <a:cubicBezTo>
                  <a:pt x="11" y="40"/>
                  <a:pt x="16" y="31"/>
                  <a:pt x="24" y="24"/>
                </a:cubicBezTo>
                <a:cubicBezTo>
                  <a:pt x="31" y="16"/>
                  <a:pt x="40" y="11"/>
                  <a:pt x="49" y="7"/>
                </a:cubicBezTo>
                <a:cubicBezTo>
                  <a:pt x="59" y="3"/>
                  <a:pt x="69" y="0"/>
                  <a:pt x="81" y="0"/>
                </a:cubicBezTo>
                <a:cubicBezTo>
                  <a:pt x="91" y="0"/>
                  <a:pt x="102" y="3"/>
                  <a:pt x="111" y="7"/>
                </a:cubicBezTo>
                <a:cubicBezTo>
                  <a:pt x="121" y="11"/>
                  <a:pt x="130" y="16"/>
                  <a:pt x="137" y="24"/>
                </a:cubicBezTo>
                <a:cubicBezTo>
                  <a:pt x="144" y="31"/>
                  <a:pt x="150" y="40"/>
                  <a:pt x="154" y="49"/>
                </a:cubicBezTo>
                <a:cubicBezTo>
                  <a:pt x="158" y="59"/>
                  <a:pt x="160" y="69"/>
                  <a:pt x="160" y="80"/>
                </a:cubicBezTo>
                <a:lnTo>
                  <a:pt x="160" y="769"/>
                </a:lnTo>
                <a:cubicBezTo>
                  <a:pt x="160" y="779"/>
                  <a:pt x="158" y="789"/>
                  <a:pt x="154" y="799"/>
                </a:cubicBezTo>
                <a:cubicBezTo>
                  <a:pt x="150" y="809"/>
                  <a:pt x="144" y="817"/>
                  <a:pt x="137" y="825"/>
                </a:cubicBezTo>
                <a:cubicBezTo>
                  <a:pt x="130" y="832"/>
                  <a:pt x="121" y="838"/>
                  <a:pt x="111" y="842"/>
                </a:cubicBezTo>
                <a:cubicBezTo>
                  <a:pt x="102" y="846"/>
                  <a:pt x="91" y="848"/>
                  <a:pt x="81" y="848"/>
                </a:cubicBezTo>
                <a:cubicBezTo>
                  <a:pt x="69" y="848"/>
                  <a:pt x="59" y="846"/>
                  <a:pt x="49" y="842"/>
                </a:cubicBezTo>
                <a:cubicBezTo>
                  <a:pt x="40" y="838"/>
                  <a:pt x="31" y="832"/>
                  <a:pt x="24" y="825"/>
                </a:cubicBezTo>
                <a:cubicBezTo>
                  <a:pt x="16" y="817"/>
                  <a:pt x="11" y="809"/>
                  <a:pt x="7" y="799"/>
                </a:cubicBezTo>
                <a:cubicBezTo>
                  <a:pt x="3" y="789"/>
                  <a:pt x="0" y="779"/>
                  <a:pt x="0" y="769"/>
                </a:cubicBezTo>
                <a:close/>
              </a:path>
            </a:pathLst>
          </a:custGeom>
          <a:solidFill>
            <a:srgbClr val="0052D9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6081840" y="6158880"/>
            <a:ext cx="160020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500" b="0" u="none" strike="noStrike" dirty="0">
                <a:solidFill>
                  <a:srgbClr val="0052D9"/>
                </a:solidFill>
                <a:effectLst/>
                <a:uFillTx/>
                <a:latin typeface="NotoSansSC"/>
                <a:ea typeface="NotoSansSC"/>
              </a:rPr>
              <a:t>开发效率显著提升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7" name="图片 66"/>
          <p:cNvPicPr/>
          <p:nvPr/>
        </p:nvPicPr>
        <p:blipFill>
          <a:blip r:embed="rId11"/>
          <a:stretch/>
        </p:blipFill>
        <p:spPr>
          <a:xfrm>
            <a:off x="10591920" y="266760"/>
            <a:ext cx="1142640" cy="22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" name="文本框 67"/>
          <p:cNvSpPr txBox="1"/>
          <p:nvPr/>
        </p:nvSpPr>
        <p:spPr>
          <a:xfrm>
            <a:off x="666720" y="170640"/>
            <a:ext cx="4286623" cy="34624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250" b="0" u="none" strike="noStrike" dirty="0" err="1">
                <a:solidFill>
                  <a:srgbClr val="1F2937"/>
                </a:solidFill>
                <a:effectLst/>
                <a:uFillTx/>
                <a:latin typeface="NotoSansSC"/>
                <a:ea typeface="Roboto"/>
              </a:rPr>
              <a:t>Dev&amp;Debug</a:t>
            </a:r>
            <a:r>
              <a:rPr lang="en-US" sz="2250" b="0" u="none" strike="noStrike" dirty="0">
                <a:solidFill>
                  <a:srgbClr val="1F2937"/>
                </a:solidFill>
                <a:effectLst/>
                <a:uFillTx/>
                <a:latin typeface="NotoSansSC"/>
                <a:ea typeface="Roboto"/>
              </a:rPr>
              <a:t> Agent System </a:t>
            </a:r>
            <a:r>
              <a:rPr lang="zh-CN" sz="2250" b="0" u="none" strike="noStrike" dirty="0">
                <a:solidFill>
                  <a:srgbClr val="1F2937"/>
                </a:solidFill>
                <a:effectLst/>
                <a:uFillTx/>
                <a:latin typeface="NotoSansSC"/>
                <a:ea typeface="NotoSansSC"/>
              </a:rPr>
              <a:t>解决方案</a:t>
            </a:r>
            <a:endParaRPr lang="en-US" sz="2250" b="0" u="none" strike="noStrike" dirty="0">
              <a:solidFill>
                <a:srgbClr val="000000"/>
              </a:solidFill>
              <a:effectLst/>
              <a:uFillTx/>
              <a:latin typeface="NotoSansSC"/>
            </a:endParaRPr>
          </a:p>
        </p:txBody>
      </p:sp>
      <p:sp>
        <p:nvSpPr>
          <p:cNvPr id="69" name="任意多边形: 形状 68">
            <a:extLst>
              <a:ext uri="{FF2B5EF4-FFF2-40B4-BE49-F238E27FC236}">
                <a16:creationId xmlns:a16="http://schemas.microsoft.com/office/drawing/2014/main" id="{72CA802D-46C0-A9BF-7125-72B99BA06539}"/>
              </a:ext>
            </a:extLst>
          </p:cNvPr>
          <p:cNvSpPr/>
          <p:nvPr/>
        </p:nvSpPr>
        <p:spPr>
          <a:xfrm>
            <a:off x="2199600" y="2638440"/>
            <a:ext cx="19440" cy="457560"/>
          </a:xfrm>
          <a:custGeom>
            <a:avLst/>
            <a:gdLst/>
            <a:ahLst/>
            <a:cxnLst/>
            <a:rect l="0" t="0" r="r" b="b"/>
            <a:pathLst>
              <a:path w="54" h="1271">
                <a:moveTo>
                  <a:pt x="0" y="0"/>
                </a:moveTo>
                <a:lnTo>
                  <a:pt x="54" y="0"/>
                </a:lnTo>
                <a:lnTo>
                  <a:pt x="54" y="1271"/>
                </a:lnTo>
                <a:lnTo>
                  <a:pt x="0" y="1271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72" name="图片 71">
            <a:extLst>
              <a:ext uri="{FF2B5EF4-FFF2-40B4-BE49-F238E27FC236}">
                <a16:creationId xmlns:a16="http://schemas.microsoft.com/office/drawing/2014/main" id="{DA077DA2-F9A7-CFB1-ABB5-1337908CFDA5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440753" y="3107160"/>
            <a:ext cx="3561840" cy="2647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" name="任意多边形: 形状 72">
            <a:extLst>
              <a:ext uri="{FF2B5EF4-FFF2-40B4-BE49-F238E27FC236}">
                <a16:creationId xmlns:a16="http://schemas.microsoft.com/office/drawing/2014/main" id="{C978F826-AD21-3EF5-9BFD-552AEB98491F}"/>
              </a:ext>
            </a:extLst>
          </p:cNvPr>
          <p:cNvSpPr/>
          <p:nvPr/>
        </p:nvSpPr>
        <p:spPr>
          <a:xfrm>
            <a:off x="656640" y="3362400"/>
            <a:ext cx="381240" cy="381240"/>
          </a:xfrm>
          <a:custGeom>
            <a:avLst/>
            <a:gdLst/>
            <a:ahLst/>
            <a:cxnLst/>
            <a:rect l="0" t="0" r="r" b="b"/>
            <a:pathLst>
              <a:path w="1059" h="1059">
                <a:moveTo>
                  <a:pt x="0" y="847"/>
                </a:moveTo>
                <a:lnTo>
                  <a:pt x="0" y="211"/>
                </a:lnTo>
                <a:cubicBezTo>
                  <a:pt x="0" y="198"/>
                  <a:pt x="1" y="184"/>
                  <a:pt x="4" y="170"/>
                </a:cubicBezTo>
                <a:cubicBezTo>
                  <a:pt x="7" y="157"/>
                  <a:pt x="11" y="143"/>
                  <a:pt x="16" y="130"/>
                </a:cubicBezTo>
                <a:cubicBezTo>
                  <a:pt x="22" y="118"/>
                  <a:pt x="28" y="105"/>
                  <a:pt x="36" y="94"/>
                </a:cubicBezTo>
                <a:cubicBezTo>
                  <a:pt x="44" y="82"/>
                  <a:pt x="52" y="72"/>
                  <a:pt x="62" y="62"/>
                </a:cubicBezTo>
                <a:cubicBezTo>
                  <a:pt x="72" y="52"/>
                  <a:pt x="83" y="43"/>
                  <a:pt x="94" y="36"/>
                </a:cubicBezTo>
                <a:cubicBezTo>
                  <a:pt x="106" y="28"/>
                  <a:pt x="118" y="21"/>
                  <a:pt x="131" y="16"/>
                </a:cubicBezTo>
                <a:cubicBezTo>
                  <a:pt x="144" y="11"/>
                  <a:pt x="157" y="7"/>
                  <a:pt x="170" y="4"/>
                </a:cubicBezTo>
                <a:cubicBezTo>
                  <a:pt x="184" y="1"/>
                  <a:pt x="198" y="0"/>
                  <a:pt x="212" y="0"/>
                </a:cubicBezTo>
                <a:lnTo>
                  <a:pt x="848" y="0"/>
                </a:lnTo>
                <a:cubicBezTo>
                  <a:pt x="862" y="0"/>
                  <a:pt x="875" y="1"/>
                  <a:pt x="889" y="4"/>
                </a:cubicBezTo>
                <a:cubicBezTo>
                  <a:pt x="903" y="7"/>
                  <a:pt x="916" y="11"/>
                  <a:pt x="929" y="16"/>
                </a:cubicBezTo>
                <a:cubicBezTo>
                  <a:pt x="942" y="21"/>
                  <a:pt x="954" y="28"/>
                  <a:pt x="965" y="36"/>
                </a:cubicBezTo>
                <a:cubicBezTo>
                  <a:pt x="977" y="43"/>
                  <a:pt x="988" y="52"/>
                  <a:pt x="997" y="62"/>
                </a:cubicBezTo>
                <a:cubicBezTo>
                  <a:pt x="1007" y="72"/>
                  <a:pt x="1016" y="82"/>
                  <a:pt x="1024" y="94"/>
                </a:cubicBezTo>
                <a:cubicBezTo>
                  <a:pt x="1032" y="105"/>
                  <a:pt x="1038" y="118"/>
                  <a:pt x="1043" y="130"/>
                </a:cubicBezTo>
                <a:cubicBezTo>
                  <a:pt x="1049" y="143"/>
                  <a:pt x="1053" y="157"/>
                  <a:pt x="1055" y="170"/>
                </a:cubicBezTo>
                <a:cubicBezTo>
                  <a:pt x="1058" y="184"/>
                  <a:pt x="1059" y="198"/>
                  <a:pt x="1059" y="211"/>
                </a:cubicBezTo>
                <a:lnTo>
                  <a:pt x="1059" y="847"/>
                </a:lnTo>
                <a:cubicBezTo>
                  <a:pt x="1059" y="861"/>
                  <a:pt x="1058" y="875"/>
                  <a:pt x="1055" y="889"/>
                </a:cubicBezTo>
                <a:cubicBezTo>
                  <a:pt x="1053" y="902"/>
                  <a:pt x="1049" y="916"/>
                  <a:pt x="1043" y="928"/>
                </a:cubicBezTo>
                <a:cubicBezTo>
                  <a:pt x="1038" y="941"/>
                  <a:pt x="1032" y="954"/>
                  <a:pt x="1024" y="965"/>
                </a:cubicBezTo>
                <a:cubicBezTo>
                  <a:pt x="1016" y="977"/>
                  <a:pt x="1007" y="987"/>
                  <a:pt x="997" y="997"/>
                </a:cubicBezTo>
                <a:cubicBezTo>
                  <a:pt x="988" y="1007"/>
                  <a:pt x="977" y="1016"/>
                  <a:pt x="965" y="1023"/>
                </a:cubicBezTo>
                <a:cubicBezTo>
                  <a:pt x="954" y="1031"/>
                  <a:pt x="942" y="1038"/>
                  <a:pt x="929" y="1043"/>
                </a:cubicBezTo>
                <a:cubicBezTo>
                  <a:pt x="916" y="1048"/>
                  <a:pt x="903" y="1052"/>
                  <a:pt x="889" y="1055"/>
                </a:cubicBezTo>
                <a:cubicBezTo>
                  <a:pt x="875" y="1058"/>
                  <a:pt x="862" y="1059"/>
                  <a:pt x="848" y="1059"/>
                </a:cubicBezTo>
                <a:lnTo>
                  <a:pt x="212" y="1059"/>
                </a:lnTo>
                <a:cubicBezTo>
                  <a:pt x="198" y="1059"/>
                  <a:pt x="184" y="1058"/>
                  <a:pt x="170" y="1055"/>
                </a:cubicBezTo>
                <a:cubicBezTo>
                  <a:pt x="157" y="1052"/>
                  <a:pt x="144" y="1048"/>
                  <a:pt x="131" y="1043"/>
                </a:cubicBezTo>
                <a:cubicBezTo>
                  <a:pt x="118" y="1038"/>
                  <a:pt x="106" y="1031"/>
                  <a:pt x="94" y="1023"/>
                </a:cubicBezTo>
                <a:cubicBezTo>
                  <a:pt x="83" y="1016"/>
                  <a:pt x="72" y="1007"/>
                  <a:pt x="62" y="997"/>
                </a:cubicBezTo>
                <a:cubicBezTo>
                  <a:pt x="52" y="987"/>
                  <a:pt x="44" y="977"/>
                  <a:pt x="36" y="965"/>
                </a:cubicBezTo>
                <a:cubicBezTo>
                  <a:pt x="28" y="954"/>
                  <a:pt x="22" y="941"/>
                  <a:pt x="16" y="928"/>
                </a:cubicBezTo>
                <a:cubicBezTo>
                  <a:pt x="11" y="916"/>
                  <a:pt x="7" y="902"/>
                  <a:pt x="4" y="889"/>
                </a:cubicBezTo>
                <a:cubicBezTo>
                  <a:pt x="1" y="875"/>
                  <a:pt x="0" y="861"/>
                  <a:pt x="0" y="847"/>
                </a:cubicBezTo>
                <a:close/>
              </a:path>
            </a:pathLst>
          </a:custGeom>
          <a:solidFill>
            <a:srgbClr val="F0FDF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任意多边形: 形状 73">
            <a:extLst>
              <a:ext uri="{FF2B5EF4-FFF2-40B4-BE49-F238E27FC236}">
                <a16:creationId xmlns:a16="http://schemas.microsoft.com/office/drawing/2014/main" id="{C08CE204-FD2B-13B7-3DBD-A714EC9AFC11}"/>
              </a:ext>
            </a:extLst>
          </p:cNvPr>
          <p:cNvSpPr/>
          <p:nvPr/>
        </p:nvSpPr>
        <p:spPr>
          <a:xfrm>
            <a:off x="761400" y="3467160"/>
            <a:ext cx="171720" cy="171720"/>
          </a:xfrm>
          <a:custGeom>
            <a:avLst/>
            <a:gdLst/>
            <a:ahLst/>
            <a:cxnLst/>
            <a:rect l="0" t="0" r="r" b="b"/>
            <a:pathLst>
              <a:path w="477" h="477" fill="none">
                <a:moveTo>
                  <a:pt x="424" y="213"/>
                </a:moveTo>
                <a:lnTo>
                  <a:pt x="53" y="213"/>
                </a:lnTo>
                <a:moveTo>
                  <a:pt x="424" y="213"/>
                </a:moveTo>
                <a:cubicBezTo>
                  <a:pt x="432" y="213"/>
                  <a:pt x="438" y="214"/>
                  <a:pt x="445" y="217"/>
                </a:cubicBezTo>
                <a:cubicBezTo>
                  <a:pt x="451" y="219"/>
                  <a:pt x="457" y="223"/>
                  <a:pt x="462" y="228"/>
                </a:cubicBezTo>
                <a:cubicBezTo>
                  <a:pt x="467" y="233"/>
                  <a:pt x="471" y="239"/>
                  <a:pt x="473" y="245"/>
                </a:cubicBezTo>
                <a:cubicBezTo>
                  <a:pt x="476" y="252"/>
                  <a:pt x="477" y="258"/>
                  <a:pt x="477" y="265"/>
                </a:cubicBezTo>
                <a:lnTo>
                  <a:pt x="477" y="424"/>
                </a:lnTo>
                <a:cubicBezTo>
                  <a:pt x="477" y="431"/>
                  <a:pt x="476" y="438"/>
                  <a:pt x="473" y="444"/>
                </a:cubicBezTo>
                <a:cubicBezTo>
                  <a:pt x="471" y="451"/>
                  <a:pt x="467" y="457"/>
                  <a:pt x="462" y="462"/>
                </a:cubicBezTo>
                <a:cubicBezTo>
                  <a:pt x="457" y="467"/>
                  <a:pt x="451" y="470"/>
                  <a:pt x="445" y="473"/>
                </a:cubicBezTo>
                <a:cubicBezTo>
                  <a:pt x="438" y="476"/>
                  <a:pt x="432" y="477"/>
                  <a:pt x="424" y="477"/>
                </a:cubicBezTo>
                <a:lnTo>
                  <a:pt x="53" y="477"/>
                </a:lnTo>
                <a:cubicBezTo>
                  <a:pt x="46" y="477"/>
                  <a:pt x="39" y="476"/>
                  <a:pt x="33" y="473"/>
                </a:cubicBezTo>
                <a:cubicBezTo>
                  <a:pt x="26" y="470"/>
                  <a:pt x="21" y="467"/>
                  <a:pt x="16" y="462"/>
                </a:cubicBezTo>
                <a:cubicBezTo>
                  <a:pt x="11" y="457"/>
                  <a:pt x="7" y="451"/>
                  <a:pt x="4" y="444"/>
                </a:cubicBezTo>
                <a:cubicBezTo>
                  <a:pt x="2" y="438"/>
                  <a:pt x="0" y="431"/>
                  <a:pt x="0" y="424"/>
                </a:cubicBezTo>
                <a:lnTo>
                  <a:pt x="0" y="265"/>
                </a:lnTo>
                <a:cubicBezTo>
                  <a:pt x="0" y="258"/>
                  <a:pt x="2" y="252"/>
                  <a:pt x="4" y="245"/>
                </a:cubicBezTo>
                <a:cubicBezTo>
                  <a:pt x="7" y="239"/>
                  <a:pt x="11" y="233"/>
                  <a:pt x="16" y="228"/>
                </a:cubicBezTo>
                <a:cubicBezTo>
                  <a:pt x="21" y="223"/>
                  <a:pt x="26" y="219"/>
                  <a:pt x="33" y="217"/>
                </a:cubicBezTo>
                <a:cubicBezTo>
                  <a:pt x="39" y="214"/>
                  <a:pt x="46" y="213"/>
                  <a:pt x="53" y="213"/>
                </a:cubicBezTo>
                <a:moveTo>
                  <a:pt x="424" y="213"/>
                </a:moveTo>
                <a:lnTo>
                  <a:pt x="424" y="160"/>
                </a:lnTo>
                <a:cubicBezTo>
                  <a:pt x="424" y="152"/>
                  <a:pt x="423" y="145"/>
                  <a:pt x="420" y="138"/>
                </a:cubicBezTo>
                <a:cubicBezTo>
                  <a:pt x="418" y="132"/>
                  <a:pt x="414" y="126"/>
                  <a:pt x="409" y="121"/>
                </a:cubicBezTo>
                <a:cubicBezTo>
                  <a:pt x="404" y="116"/>
                  <a:pt x="398" y="112"/>
                  <a:pt x="392" y="110"/>
                </a:cubicBezTo>
                <a:cubicBezTo>
                  <a:pt x="385" y="107"/>
                  <a:pt x="379" y="106"/>
                  <a:pt x="372" y="106"/>
                </a:cubicBezTo>
                <a:moveTo>
                  <a:pt x="53" y="213"/>
                </a:moveTo>
                <a:lnTo>
                  <a:pt x="53" y="160"/>
                </a:lnTo>
                <a:cubicBezTo>
                  <a:pt x="53" y="152"/>
                  <a:pt x="54" y="145"/>
                  <a:pt x="57" y="138"/>
                </a:cubicBezTo>
                <a:cubicBezTo>
                  <a:pt x="60" y="132"/>
                  <a:pt x="64" y="126"/>
                  <a:pt x="69" y="121"/>
                </a:cubicBezTo>
                <a:cubicBezTo>
                  <a:pt x="74" y="116"/>
                  <a:pt x="79" y="112"/>
                  <a:pt x="86" y="110"/>
                </a:cubicBezTo>
                <a:cubicBezTo>
                  <a:pt x="92" y="107"/>
                  <a:pt x="99" y="106"/>
                  <a:pt x="106" y="106"/>
                </a:cubicBezTo>
                <a:moveTo>
                  <a:pt x="106" y="106"/>
                </a:moveTo>
                <a:lnTo>
                  <a:pt x="106" y="53"/>
                </a:lnTo>
                <a:cubicBezTo>
                  <a:pt x="106" y="46"/>
                  <a:pt x="107" y="39"/>
                  <a:pt x="110" y="33"/>
                </a:cubicBezTo>
                <a:cubicBezTo>
                  <a:pt x="113" y="26"/>
                  <a:pt x="117" y="20"/>
                  <a:pt x="121" y="15"/>
                </a:cubicBezTo>
                <a:cubicBezTo>
                  <a:pt x="126" y="10"/>
                  <a:pt x="132" y="7"/>
                  <a:pt x="139" y="4"/>
                </a:cubicBezTo>
                <a:cubicBezTo>
                  <a:pt x="145" y="1"/>
                  <a:pt x="152" y="0"/>
                  <a:pt x="159" y="0"/>
                </a:cubicBezTo>
                <a:lnTo>
                  <a:pt x="319" y="0"/>
                </a:lnTo>
                <a:cubicBezTo>
                  <a:pt x="326" y="0"/>
                  <a:pt x="332" y="1"/>
                  <a:pt x="339" y="4"/>
                </a:cubicBezTo>
                <a:cubicBezTo>
                  <a:pt x="345" y="7"/>
                  <a:pt x="351" y="10"/>
                  <a:pt x="356" y="15"/>
                </a:cubicBezTo>
                <a:cubicBezTo>
                  <a:pt x="361" y="20"/>
                  <a:pt x="365" y="26"/>
                  <a:pt x="368" y="33"/>
                </a:cubicBezTo>
                <a:cubicBezTo>
                  <a:pt x="370" y="39"/>
                  <a:pt x="372" y="46"/>
                  <a:pt x="372" y="53"/>
                </a:cubicBezTo>
                <a:lnTo>
                  <a:pt x="372" y="106"/>
                </a:lnTo>
                <a:moveTo>
                  <a:pt x="106" y="106"/>
                </a:moveTo>
                <a:lnTo>
                  <a:pt x="372" y="106"/>
                </a:lnTo>
              </a:path>
            </a:pathLst>
          </a:custGeom>
          <a:ln w="18720" cap="rnd">
            <a:solidFill>
              <a:srgbClr val="00C853"/>
            </a:solidFill>
            <a:round/>
          </a:ln>
        </p:spPr>
        <p:txBody>
          <a:bodyPr lIns="9360" tIns="9360" rIns="9360" bIns="936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96584830-6106-6461-2187-4AF1480FB2E6}"/>
              </a:ext>
            </a:extLst>
          </p:cNvPr>
          <p:cNvSpPr txBox="1"/>
          <p:nvPr/>
        </p:nvSpPr>
        <p:spPr>
          <a:xfrm>
            <a:off x="1117080" y="3426840"/>
            <a:ext cx="1423467" cy="20774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altLang="zh-CN" sz="1350" b="0" u="none" strike="noStrike" dirty="0">
                <a:solidFill>
                  <a:srgbClr val="00C853"/>
                </a:solidFill>
                <a:effectLst/>
                <a:uFillTx/>
                <a:latin typeface="NotoSansSC"/>
                <a:ea typeface="NotoSansSC"/>
              </a:rPr>
              <a:t>Skills</a:t>
            </a:r>
            <a:r>
              <a:rPr lang="zh-CN" sz="1350" b="0" u="none" strike="noStrike" dirty="0">
                <a:solidFill>
                  <a:srgbClr val="00C853"/>
                </a:solidFill>
                <a:effectLst/>
                <a:uFillTx/>
                <a:latin typeface="NotoSansSC"/>
                <a:ea typeface="NotoSansSC"/>
              </a:rPr>
              <a:t> </a:t>
            </a:r>
            <a:r>
              <a:rPr lang="zh-CN" altLang="en-US" sz="1350" b="0" u="none" strike="noStrike" dirty="0">
                <a:solidFill>
                  <a:srgbClr val="00C853"/>
                </a:solidFill>
                <a:effectLst/>
                <a:uFillTx/>
                <a:latin typeface="NotoSansSC"/>
                <a:ea typeface="Roboto"/>
              </a:rPr>
              <a:t>固化样板流程</a:t>
            </a:r>
            <a:endParaRPr lang="en-US" sz="1350" b="0" u="none" strike="noStrike" dirty="0">
              <a:solidFill>
                <a:srgbClr val="000000"/>
              </a:solidFill>
              <a:effectLst/>
              <a:uFillTx/>
              <a:latin typeface="NotoSansSC"/>
            </a:endParaRP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E00D7F08-8243-35AD-CE91-3D7A50EF379D}"/>
              </a:ext>
            </a:extLst>
          </p:cNvPr>
          <p:cNvSpPr txBox="1"/>
          <p:nvPr/>
        </p:nvSpPr>
        <p:spPr>
          <a:xfrm>
            <a:off x="659880" y="3905640"/>
            <a:ext cx="3238066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 dirty="0">
                <a:solidFill>
                  <a:srgbClr val="4B5563"/>
                </a:solidFill>
                <a:effectLst/>
                <a:uFillTx/>
                <a:latin typeface="NotoSansSC"/>
                <a:ea typeface="NotoSansSC"/>
              </a:rPr>
              <a:t>构建</a:t>
            </a:r>
            <a:r>
              <a:rPr lang="en-US" altLang="zh-CN" sz="1050" b="0" u="none" strike="noStrike" dirty="0">
                <a:solidFill>
                  <a:srgbClr val="4B5563"/>
                </a:solidFill>
                <a:effectLst/>
                <a:uFillTx/>
                <a:latin typeface="NotoSansSC"/>
                <a:ea typeface="NotoSansSC"/>
              </a:rPr>
              <a:t> GAS-</a:t>
            </a:r>
            <a:r>
              <a:rPr lang="en-US" altLang="zh-CN" sz="1050" b="0" u="none" strike="noStrike" dirty="0" err="1">
                <a:solidFill>
                  <a:srgbClr val="4B5563"/>
                </a:solidFill>
                <a:effectLst/>
                <a:uFillTx/>
                <a:latin typeface="NotoSansSC"/>
                <a:ea typeface="NotoSansSC"/>
              </a:rPr>
              <a:t>AbleTask</a:t>
            </a:r>
            <a:r>
              <a:rPr lang="en-US" altLang="zh-CN" sz="1050" b="0" u="none" strike="noStrike" dirty="0">
                <a:solidFill>
                  <a:srgbClr val="4B5563"/>
                </a:solidFill>
                <a:effectLst/>
                <a:uFillTx/>
                <a:latin typeface="NotoSansSC"/>
                <a:ea typeface="NotoSansSC"/>
              </a:rPr>
              <a:t>-</a:t>
            </a:r>
            <a:r>
              <a:rPr lang="en-US" altLang="zh-CN" sz="1050" b="0" u="none" strike="noStrike" dirty="0" err="1">
                <a:solidFill>
                  <a:srgbClr val="4B5563"/>
                </a:solidFill>
                <a:effectLst/>
                <a:uFillTx/>
                <a:latin typeface="NotoSansSC"/>
                <a:ea typeface="NotoSansSC"/>
              </a:rPr>
              <a:t>Gnerate</a:t>
            </a:r>
            <a:r>
              <a:rPr lang="zh-CN" altLang="en-US" sz="1050" b="0" u="none" strike="noStrike" dirty="0">
                <a:solidFill>
                  <a:srgbClr val="4B5563"/>
                </a:solidFill>
                <a:effectLst/>
                <a:uFillTx/>
                <a:latin typeface="NotoSansSC"/>
                <a:ea typeface="NotoSansSC"/>
              </a:rPr>
              <a:t>、</a:t>
            </a:r>
            <a:r>
              <a:rPr lang="en-US" altLang="zh-CN" sz="1050" b="0" u="none" strike="noStrike" dirty="0" err="1">
                <a:solidFill>
                  <a:srgbClr val="4B5563"/>
                </a:solidFill>
                <a:effectLst/>
                <a:uFillTx/>
                <a:latin typeface="NotoSansSC"/>
                <a:ea typeface="NotoSansSC"/>
              </a:rPr>
              <a:t>moe</a:t>
            </a:r>
            <a:r>
              <a:rPr lang="en-US" altLang="zh-CN" sz="1050" b="0" u="none" strike="noStrike" dirty="0">
                <a:solidFill>
                  <a:srgbClr val="4B5563"/>
                </a:solidFill>
                <a:effectLst/>
                <a:uFillTx/>
                <a:latin typeface="NotoSansSC"/>
                <a:ea typeface="NotoSansSC"/>
              </a:rPr>
              <a:t>-status-writer</a:t>
            </a:r>
            <a:r>
              <a:rPr lang="zh-CN" altLang="en-US" sz="1050" b="0" u="none" strike="noStrike" dirty="0">
                <a:solidFill>
                  <a:srgbClr val="4B5563"/>
                </a:solidFill>
                <a:effectLst/>
                <a:uFillTx/>
                <a:latin typeface="NotoSansSC"/>
                <a:ea typeface="NotoSansSC"/>
              </a:rPr>
              <a:t>等 </a:t>
            </a:r>
            <a:r>
              <a:rPr lang="en-US" altLang="zh-CN" sz="1050" b="0" u="none" strike="noStrike" dirty="0">
                <a:solidFill>
                  <a:srgbClr val="4B5563"/>
                </a:solidFill>
                <a:effectLst/>
                <a:uFillTx/>
                <a:latin typeface="NotoSansSC"/>
                <a:ea typeface="NotoSansSC"/>
              </a:rPr>
              <a:t>Skills</a:t>
            </a:r>
            <a:r>
              <a:rPr lang="zh-CN" altLang="en-US" sz="1050" b="0" u="none" strike="noStrike" dirty="0">
                <a:solidFill>
                  <a:srgbClr val="4B5563"/>
                </a:solidFill>
                <a:effectLst/>
                <a:uFillTx/>
                <a:latin typeface="NotoSansSC"/>
                <a:ea typeface="NotoSansSC"/>
              </a:rPr>
              <a:t>，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任意多边形: 形状 76">
            <a:extLst>
              <a:ext uri="{FF2B5EF4-FFF2-40B4-BE49-F238E27FC236}">
                <a16:creationId xmlns:a16="http://schemas.microsoft.com/office/drawing/2014/main" id="{33DCFAED-0903-7576-F486-7FDBEFEA28D9}"/>
              </a:ext>
            </a:extLst>
          </p:cNvPr>
          <p:cNvSpPr/>
          <p:nvPr/>
        </p:nvSpPr>
        <p:spPr>
          <a:xfrm>
            <a:off x="688320" y="4511520"/>
            <a:ext cx="89280" cy="64080"/>
          </a:xfrm>
          <a:custGeom>
            <a:avLst/>
            <a:gdLst/>
            <a:ahLst/>
            <a:cxnLst/>
            <a:rect l="0" t="0" r="r" b="b"/>
            <a:pathLst>
              <a:path w="248" h="178" fill="none">
                <a:moveTo>
                  <a:pt x="0" y="107"/>
                </a:moveTo>
                <a:lnTo>
                  <a:pt x="71" y="178"/>
                </a:lnTo>
                <a:lnTo>
                  <a:pt x="248" y="0"/>
                </a:lnTo>
              </a:path>
            </a:pathLst>
          </a:custGeom>
          <a:ln w="12600" cap="rnd">
            <a:solidFill>
              <a:srgbClr val="00C853"/>
            </a:solidFill>
            <a:round/>
          </a:ln>
        </p:spPr>
        <p:txBody>
          <a:bodyPr lIns="6120" tIns="6120" rIns="6120" bIns="612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A481B5F4-5A99-CD4A-5E04-447D31EC0A38}"/>
              </a:ext>
            </a:extLst>
          </p:cNvPr>
          <p:cNvSpPr txBox="1"/>
          <p:nvPr/>
        </p:nvSpPr>
        <p:spPr>
          <a:xfrm>
            <a:off x="659880" y="4124880"/>
            <a:ext cx="1077218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sz="1050" b="0" u="none" strike="noStrike" dirty="0">
                <a:solidFill>
                  <a:srgbClr val="4B5563"/>
                </a:solidFill>
                <a:effectLst/>
                <a:uFillTx/>
                <a:latin typeface="NotoSansSC"/>
                <a:ea typeface="NotoSansSC"/>
              </a:rPr>
              <a:t>固化为标准流程</a:t>
            </a:r>
            <a:r>
              <a:rPr lang="zh-CN" sz="1050" b="0" u="none" strike="noStrike" dirty="0">
                <a:solidFill>
                  <a:srgbClr val="4B5563"/>
                </a:solidFill>
                <a:effectLst/>
                <a:uFillTx/>
                <a:latin typeface="NotoSansSC"/>
                <a:ea typeface="NotoSansSC"/>
              </a:rPr>
              <a:t>。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任意多边形: 形状 78">
            <a:extLst>
              <a:ext uri="{FF2B5EF4-FFF2-40B4-BE49-F238E27FC236}">
                <a16:creationId xmlns:a16="http://schemas.microsoft.com/office/drawing/2014/main" id="{18815E8D-F885-6C0A-210A-BF69E69B400B}"/>
              </a:ext>
            </a:extLst>
          </p:cNvPr>
          <p:cNvSpPr/>
          <p:nvPr/>
        </p:nvSpPr>
        <p:spPr>
          <a:xfrm>
            <a:off x="688320" y="4759200"/>
            <a:ext cx="89280" cy="64080"/>
          </a:xfrm>
          <a:custGeom>
            <a:avLst/>
            <a:gdLst/>
            <a:ahLst/>
            <a:cxnLst/>
            <a:rect l="0" t="0" r="r" b="b"/>
            <a:pathLst>
              <a:path w="248" h="178" fill="none">
                <a:moveTo>
                  <a:pt x="0" y="107"/>
                </a:moveTo>
                <a:lnTo>
                  <a:pt x="71" y="178"/>
                </a:lnTo>
                <a:lnTo>
                  <a:pt x="248" y="0"/>
                </a:lnTo>
              </a:path>
            </a:pathLst>
          </a:custGeom>
          <a:ln w="12600" cap="rnd">
            <a:solidFill>
              <a:srgbClr val="00C853"/>
            </a:solidFill>
            <a:round/>
          </a:ln>
        </p:spPr>
        <p:txBody>
          <a:bodyPr lIns="6120" tIns="6120" rIns="6120" bIns="612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E4601DC6-C5AB-1CB3-1A9C-49F78BD4EAAA}"/>
              </a:ext>
            </a:extLst>
          </p:cNvPr>
          <p:cNvSpPr txBox="1"/>
          <p:nvPr/>
        </p:nvSpPr>
        <p:spPr>
          <a:xfrm>
            <a:off x="888480" y="4440600"/>
            <a:ext cx="923330" cy="1384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sz="900" b="0" u="none" strike="noStrike" dirty="0">
                <a:solidFill>
                  <a:srgbClr val="6B7280"/>
                </a:solidFill>
                <a:effectLst/>
                <a:uFillTx/>
                <a:latin typeface="NotoSansSC"/>
                <a:ea typeface="NotoSansSC"/>
              </a:rPr>
              <a:t>一键生成代码结构</a:t>
            </a:r>
            <a:endParaRPr lang="en-US" sz="9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F9E68A41-8BC8-54E2-5D24-898E3E905B77}"/>
              </a:ext>
            </a:extLst>
          </p:cNvPr>
          <p:cNvSpPr txBox="1"/>
          <p:nvPr/>
        </p:nvSpPr>
        <p:spPr>
          <a:xfrm>
            <a:off x="888480" y="4688280"/>
            <a:ext cx="1243930" cy="1384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sz="900" dirty="0">
                <a:solidFill>
                  <a:srgbClr val="6B7280"/>
                </a:solidFill>
                <a:latin typeface="NotoSansSC"/>
              </a:rPr>
              <a:t>避免手动 </a:t>
            </a:r>
            <a:r>
              <a:rPr lang="en-US" altLang="zh-CN" sz="900" dirty="0">
                <a:solidFill>
                  <a:srgbClr val="6B7280"/>
                </a:solidFill>
                <a:latin typeface="NotoSansSC"/>
              </a:rPr>
              <a:t>Copy-Paste</a:t>
            </a:r>
            <a:r>
              <a:rPr lang="zh-CN" altLang="en-US" sz="900" dirty="0">
                <a:solidFill>
                  <a:srgbClr val="6B7280"/>
                </a:solidFill>
                <a:latin typeface="NotoSansSC"/>
              </a:rPr>
              <a:t>错误</a:t>
            </a:r>
            <a:endParaRPr lang="en-US" sz="9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82" name="图片 81">
            <a:extLst>
              <a:ext uri="{FF2B5EF4-FFF2-40B4-BE49-F238E27FC236}">
                <a16:creationId xmlns:a16="http://schemas.microsoft.com/office/drawing/2014/main" id="{92B48F24-3AB2-9EC2-DC82-63CC986B1A9B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428400" y="1066680"/>
            <a:ext cx="3561840" cy="1561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3" name="任意多边形: 形状 82">
            <a:extLst>
              <a:ext uri="{FF2B5EF4-FFF2-40B4-BE49-F238E27FC236}">
                <a16:creationId xmlns:a16="http://schemas.microsoft.com/office/drawing/2014/main" id="{C6191ED7-B9C9-7BE3-38AA-9D3D568CC755}"/>
              </a:ext>
            </a:extLst>
          </p:cNvPr>
          <p:cNvSpPr/>
          <p:nvPr/>
        </p:nvSpPr>
        <p:spPr>
          <a:xfrm>
            <a:off x="656640" y="1333440"/>
            <a:ext cx="476640" cy="228960"/>
          </a:xfrm>
          <a:custGeom>
            <a:avLst/>
            <a:gdLst/>
            <a:ahLst/>
            <a:cxnLst/>
            <a:rect l="0" t="0" r="r" b="b"/>
            <a:pathLst>
              <a:path w="1324" h="636">
                <a:moveTo>
                  <a:pt x="0" y="317"/>
                </a:moveTo>
                <a:cubicBezTo>
                  <a:pt x="0" y="296"/>
                  <a:pt x="2" y="276"/>
                  <a:pt x="6" y="255"/>
                </a:cubicBezTo>
                <a:cubicBezTo>
                  <a:pt x="10" y="235"/>
                  <a:pt x="16" y="215"/>
                  <a:pt x="24" y="196"/>
                </a:cubicBezTo>
                <a:cubicBezTo>
                  <a:pt x="32" y="176"/>
                  <a:pt x="42" y="158"/>
                  <a:pt x="54" y="141"/>
                </a:cubicBezTo>
                <a:cubicBezTo>
                  <a:pt x="65" y="123"/>
                  <a:pt x="78" y="107"/>
                  <a:pt x="93" y="93"/>
                </a:cubicBezTo>
                <a:cubicBezTo>
                  <a:pt x="108" y="78"/>
                  <a:pt x="124" y="65"/>
                  <a:pt x="141" y="53"/>
                </a:cubicBezTo>
                <a:cubicBezTo>
                  <a:pt x="159" y="42"/>
                  <a:pt x="177" y="32"/>
                  <a:pt x="196" y="24"/>
                </a:cubicBezTo>
                <a:cubicBezTo>
                  <a:pt x="215" y="16"/>
                  <a:pt x="235" y="10"/>
                  <a:pt x="256" y="6"/>
                </a:cubicBezTo>
                <a:cubicBezTo>
                  <a:pt x="276" y="2"/>
                  <a:pt x="297" y="0"/>
                  <a:pt x="318" y="0"/>
                </a:cubicBezTo>
                <a:lnTo>
                  <a:pt x="1006" y="0"/>
                </a:lnTo>
                <a:cubicBezTo>
                  <a:pt x="1026" y="0"/>
                  <a:pt x="1047" y="2"/>
                  <a:pt x="1067" y="6"/>
                </a:cubicBezTo>
                <a:cubicBezTo>
                  <a:pt x="1088" y="10"/>
                  <a:pt x="1108" y="16"/>
                  <a:pt x="1127" y="24"/>
                </a:cubicBezTo>
                <a:cubicBezTo>
                  <a:pt x="1146" y="32"/>
                  <a:pt x="1165" y="42"/>
                  <a:pt x="1182" y="53"/>
                </a:cubicBezTo>
                <a:cubicBezTo>
                  <a:pt x="1199" y="65"/>
                  <a:pt x="1215" y="78"/>
                  <a:pt x="1230" y="93"/>
                </a:cubicBezTo>
                <a:cubicBezTo>
                  <a:pt x="1245" y="107"/>
                  <a:pt x="1258" y="123"/>
                  <a:pt x="1271" y="141"/>
                </a:cubicBezTo>
                <a:cubicBezTo>
                  <a:pt x="1282" y="158"/>
                  <a:pt x="1292" y="176"/>
                  <a:pt x="1300" y="196"/>
                </a:cubicBezTo>
                <a:cubicBezTo>
                  <a:pt x="1308" y="215"/>
                  <a:pt x="1314" y="235"/>
                  <a:pt x="1318" y="255"/>
                </a:cubicBezTo>
                <a:cubicBezTo>
                  <a:pt x="1322" y="276"/>
                  <a:pt x="1324" y="296"/>
                  <a:pt x="1324" y="317"/>
                </a:cubicBezTo>
                <a:cubicBezTo>
                  <a:pt x="1324" y="338"/>
                  <a:pt x="1322" y="359"/>
                  <a:pt x="1318" y="379"/>
                </a:cubicBezTo>
                <a:cubicBezTo>
                  <a:pt x="1314" y="400"/>
                  <a:pt x="1308" y="420"/>
                  <a:pt x="1300" y="440"/>
                </a:cubicBezTo>
                <a:cubicBezTo>
                  <a:pt x="1292" y="459"/>
                  <a:pt x="1282" y="477"/>
                  <a:pt x="1271" y="495"/>
                </a:cubicBezTo>
                <a:cubicBezTo>
                  <a:pt x="1258" y="512"/>
                  <a:pt x="1245" y="528"/>
                  <a:pt x="1230" y="543"/>
                </a:cubicBezTo>
                <a:cubicBezTo>
                  <a:pt x="1215" y="557"/>
                  <a:pt x="1199" y="571"/>
                  <a:pt x="1182" y="582"/>
                </a:cubicBezTo>
                <a:cubicBezTo>
                  <a:pt x="1165" y="594"/>
                  <a:pt x="1146" y="604"/>
                  <a:pt x="1127" y="611"/>
                </a:cubicBezTo>
                <a:cubicBezTo>
                  <a:pt x="1108" y="619"/>
                  <a:pt x="1088" y="625"/>
                  <a:pt x="1067" y="630"/>
                </a:cubicBezTo>
                <a:cubicBezTo>
                  <a:pt x="1047" y="634"/>
                  <a:pt x="1026" y="636"/>
                  <a:pt x="1006" y="636"/>
                </a:cubicBezTo>
                <a:lnTo>
                  <a:pt x="318" y="636"/>
                </a:lnTo>
                <a:cubicBezTo>
                  <a:pt x="297" y="636"/>
                  <a:pt x="276" y="634"/>
                  <a:pt x="256" y="630"/>
                </a:cubicBezTo>
                <a:cubicBezTo>
                  <a:pt x="235" y="625"/>
                  <a:pt x="215" y="619"/>
                  <a:pt x="196" y="611"/>
                </a:cubicBezTo>
                <a:cubicBezTo>
                  <a:pt x="177" y="604"/>
                  <a:pt x="159" y="594"/>
                  <a:pt x="141" y="582"/>
                </a:cubicBezTo>
                <a:cubicBezTo>
                  <a:pt x="124" y="571"/>
                  <a:pt x="108" y="557"/>
                  <a:pt x="93" y="543"/>
                </a:cubicBezTo>
                <a:cubicBezTo>
                  <a:pt x="78" y="528"/>
                  <a:pt x="65" y="512"/>
                  <a:pt x="54" y="495"/>
                </a:cubicBezTo>
                <a:cubicBezTo>
                  <a:pt x="42" y="477"/>
                  <a:pt x="32" y="459"/>
                  <a:pt x="24" y="440"/>
                </a:cubicBezTo>
                <a:cubicBezTo>
                  <a:pt x="16" y="420"/>
                  <a:pt x="10" y="400"/>
                  <a:pt x="6" y="379"/>
                </a:cubicBezTo>
                <a:cubicBezTo>
                  <a:pt x="2" y="359"/>
                  <a:pt x="0" y="338"/>
                  <a:pt x="0" y="317"/>
                </a:cubicBezTo>
                <a:close/>
              </a:path>
            </a:pathLst>
          </a:custGeom>
          <a:solidFill>
            <a:srgbClr val="FEF2F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F06B9B19-72CE-9D38-5848-EFAA5B56C3A8}"/>
              </a:ext>
            </a:extLst>
          </p:cNvPr>
          <p:cNvSpPr txBox="1"/>
          <p:nvPr/>
        </p:nvSpPr>
        <p:spPr>
          <a:xfrm>
            <a:off x="774360" y="1363680"/>
            <a:ext cx="239760" cy="16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00" b="0" u="none" strike="noStrike">
                <a:solidFill>
                  <a:srgbClr val="FF5722"/>
                </a:solidFill>
                <a:effectLst/>
                <a:uFillTx/>
                <a:latin typeface="NotoSansSC"/>
                <a:ea typeface="NotoSansSC"/>
              </a:rPr>
              <a:t>痛点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FEAC201D-D2BE-298B-6078-48ED256A3FD0}"/>
              </a:ext>
            </a:extLst>
          </p:cNvPr>
          <p:cNvSpPr txBox="1"/>
          <p:nvPr/>
        </p:nvSpPr>
        <p:spPr>
          <a:xfrm>
            <a:off x="659880" y="1672920"/>
            <a:ext cx="1154162" cy="23083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sz="1500" dirty="0">
                <a:solidFill>
                  <a:srgbClr val="1F2937"/>
                </a:solidFill>
                <a:latin typeface="NotoSansSC"/>
              </a:rPr>
              <a:t>样板代码堆积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NotoSansSC"/>
            </a:endParaRP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558AE8DB-34F6-AC2C-EBCA-DBB622CCABB6}"/>
              </a:ext>
            </a:extLst>
          </p:cNvPr>
          <p:cNvSpPr txBox="1"/>
          <p:nvPr/>
        </p:nvSpPr>
        <p:spPr>
          <a:xfrm>
            <a:off x="659880" y="2019600"/>
            <a:ext cx="2019784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sz="1050" dirty="0">
                <a:solidFill>
                  <a:srgbClr val="6B7280"/>
                </a:solidFill>
                <a:latin typeface="NotoSansSC"/>
              </a:rPr>
              <a:t>重复、耗时、开发枯燥且易出错。</a:t>
            </a:r>
            <a:endParaRPr lang="en-US" sz="1050" dirty="0">
              <a:solidFill>
                <a:srgbClr val="6B7280"/>
              </a:solidFill>
              <a:latin typeface="NotoSansSC"/>
            </a:endParaRPr>
          </a:p>
        </p:txBody>
      </p:sp>
      <p:pic>
        <p:nvPicPr>
          <p:cNvPr id="8" name="图片 7"/>
          <p:cNvPicPr/>
          <p:nvPr/>
        </p:nvPicPr>
        <p:blipFill>
          <a:blip r:embed="rId12"/>
          <a:stretch/>
        </p:blipFill>
        <p:spPr>
          <a:xfrm>
            <a:off x="3227760" y="1097720"/>
            <a:ext cx="771120" cy="761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" name="图片 28"/>
          <p:cNvPicPr/>
          <p:nvPr/>
        </p:nvPicPr>
        <p:blipFill>
          <a:blip r:embed="rId13"/>
          <a:stretch/>
        </p:blipFill>
        <p:spPr>
          <a:xfrm>
            <a:off x="5952960" y="2943360"/>
            <a:ext cx="285480" cy="285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" name="任意多边形: 形状 29"/>
          <p:cNvSpPr/>
          <p:nvPr/>
        </p:nvSpPr>
        <p:spPr>
          <a:xfrm>
            <a:off x="6040080" y="3014640"/>
            <a:ext cx="111600" cy="142920"/>
          </a:xfrm>
          <a:custGeom>
            <a:avLst/>
            <a:gdLst/>
            <a:ahLst/>
            <a:cxnLst/>
            <a:rect l="0" t="0" r="r" b="b"/>
            <a:pathLst>
              <a:path w="310" h="397" fill="none">
                <a:moveTo>
                  <a:pt x="310" y="243"/>
                </a:moveTo>
                <a:lnTo>
                  <a:pt x="156" y="397"/>
                </a:lnTo>
                <a:moveTo>
                  <a:pt x="156" y="397"/>
                </a:moveTo>
                <a:lnTo>
                  <a:pt x="0" y="243"/>
                </a:lnTo>
                <a:moveTo>
                  <a:pt x="156" y="397"/>
                </a:moveTo>
                <a:lnTo>
                  <a:pt x="156" y="0"/>
                </a:lnTo>
              </a:path>
            </a:pathLst>
          </a:custGeom>
          <a:ln w="15840" cap="rnd">
            <a:solidFill>
              <a:srgbClr val="9CA3AF"/>
            </a:solidFill>
            <a:round/>
          </a:ln>
        </p:spPr>
        <p:txBody>
          <a:bodyPr lIns="7920" tIns="7920" rIns="7920" bIns="792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9" name="图片 48"/>
          <p:cNvPicPr/>
          <p:nvPr/>
        </p:nvPicPr>
        <p:blipFill>
          <a:blip r:embed="rId14"/>
          <a:stretch/>
        </p:blipFill>
        <p:spPr>
          <a:xfrm>
            <a:off x="9810720" y="2943360"/>
            <a:ext cx="285480" cy="285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" name="任意多边形: 形状 49"/>
          <p:cNvSpPr/>
          <p:nvPr/>
        </p:nvSpPr>
        <p:spPr>
          <a:xfrm>
            <a:off x="9897840" y="3014640"/>
            <a:ext cx="111600" cy="142920"/>
          </a:xfrm>
          <a:custGeom>
            <a:avLst/>
            <a:gdLst/>
            <a:ahLst/>
            <a:cxnLst/>
            <a:rect l="0" t="0" r="r" b="b"/>
            <a:pathLst>
              <a:path w="310" h="397" fill="none">
                <a:moveTo>
                  <a:pt x="310" y="243"/>
                </a:moveTo>
                <a:lnTo>
                  <a:pt x="155" y="397"/>
                </a:lnTo>
                <a:moveTo>
                  <a:pt x="155" y="397"/>
                </a:moveTo>
                <a:lnTo>
                  <a:pt x="0" y="243"/>
                </a:lnTo>
                <a:moveTo>
                  <a:pt x="155" y="397"/>
                </a:moveTo>
                <a:lnTo>
                  <a:pt x="155" y="0"/>
                </a:lnTo>
              </a:path>
            </a:pathLst>
          </a:custGeom>
          <a:ln w="15840" cap="rnd">
            <a:solidFill>
              <a:srgbClr val="9CA3AF"/>
            </a:solidFill>
            <a:round/>
          </a:ln>
        </p:spPr>
        <p:txBody>
          <a:bodyPr lIns="7920" tIns="7920" rIns="7920" bIns="792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70" name="图片 69">
            <a:extLst>
              <a:ext uri="{FF2B5EF4-FFF2-40B4-BE49-F238E27FC236}">
                <a16:creationId xmlns:a16="http://schemas.microsoft.com/office/drawing/2014/main" id="{402ED352-0863-F0F8-27BA-A42497DC93B7}"/>
              </a:ext>
            </a:extLst>
          </p:cNvPr>
          <p:cNvPicPr/>
          <p:nvPr/>
        </p:nvPicPr>
        <p:blipFill>
          <a:blip r:embed="rId13"/>
          <a:stretch/>
        </p:blipFill>
        <p:spPr>
          <a:xfrm>
            <a:off x="2066400" y="2953080"/>
            <a:ext cx="285480" cy="285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" name="任意多边形: 形状 70">
            <a:extLst>
              <a:ext uri="{FF2B5EF4-FFF2-40B4-BE49-F238E27FC236}">
                <a16:creationId xmlns:a16="http://schemas.microsoft.com/office/drawing/2014/main" id="{A305B017-F5B3-2B34-05B6-028A58E4217F}"/>
              </a:ext>
            </a:extLst>
          </p:cNvPr>
          <p:cNvSpPr/>
          <p:nvPr/>
        </p:nvSpPr>
        <p:spPr>
          <a:xfrm>
            <a:off x="2153520" y="3024360"/>
            <a:ext cx="111600" cy="142920"/>
          </a:xfrm>
          <a:custGeom>
            <a:avLst/>
            <a:gdLst/>
            <a:ahLst/>
            <a:cxnLst/>
            <a:rect l="0" t="0" r="r" b="b"/>
            <a:pathLst>
              <a:path w="310" h="397" fill="none">
                <a:moveTo>
                  <a:pt x="310" y="243"/>
                </a:moveTo>
                <a:lnTo>
                  <a:pt x="156" y="397"/>
                </a:lnTo>
                <a:moveTo>
                  <a:pt x="156" y="397"/>
                </a:moveTo>
                <a:lnTo>
                  <a:pt x="0" y="243"/>
                </a:lnTo>
                <a:moveTo>
                  <a:pt x="156" y="397"/>
                </a:moveTo>
                <a:lnTo>
                  <a:pt x="156" y="0"/>
                </a:lnTo>
              </a:path>
            </a:pathLst>
          </a:custGeom>
          <a:ln w="15840" cap="rnd">
            <a:solidFill>
              <a:srgbClr val="9CA3AF"/>
            </a:solidFill>
            <a:round/>
          </a:ln>
        </p:spPr>
        <p:txBody>
          <a:bodyPr lIns="7920" tIns="7920" rIns="7920" bIns="792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: 形状 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0F2F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" name="图片 4"/>
          <p:cNvPicPr/>
          <p:nvPr/>
        </p:nvPicPr>
        <p:blipFill>
          <a:blip r:embed="rId2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" name="图片 5"/>
          <p:cNvPicPr/>
          <p:nvPr/>
        </p:nvPicPr>
        <p:blipFill>
          <a:blip r:embed="rId3"/>
          <a:stretch/>
        </p:blipFill>
        <p:spPr>
          <a:xfrm>
            <a:off x="0" y="0"/>
            <a:ext cx="12191760" cy="609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" name="任意多边形: 形状 6"/>
          <p:cNvSpPr/>
          <p:nvPr/>
        </p:nvSpPr>
        <p:spPr>
          <a:xfrm>
            <a:off x="380880" y="152280"/>
            <a:ext cx="76320" cy="304920"/>
          </a:xfrm>
          <a:custGeom>
            <a:avLst/>
            <a:gdLst/>
            <a:ahLst/>
            <a:cxnLst/>
            <a:rect l="0" t="0" r="r" b="b"/>
            <a:pathLst>
              <a:path w="212" h="847">
                <a:moveTo>
                  <a:pt x="0" y="794"/>
                </a:moveTo>
                <a:lnTo>
                  <a:pt x="0" y="53"/>
                </a:lnTo>
                <a:cubicBezTo>
                  <a:pt x="0" y="46"/>
                  <a:pt x="1" y="39"/>
                  <a:pt x="4" y="32"/>
                </a:cubicBezTo>
                <a:cubicBezTo>
                  <a:pt x="7" y="26"/>
                  <a:pt x="10" y="20"/>
                  <a:pt x="15" y="15"/>
                </a:cubicBezTo>
                <a:cubicBezTo>
                  <a:pt x="20" y="10"/>
                  <a:pt x="26" y="7"/>
                  <a:pt x="32" y="4"/>
                </a:cubicBezTo>
                <a:cubicBezTo>
                  <a:pt x="39" y="1"/>
                  <a:pt x="46" y="0"/>
                  <a:pt x="53" y="0"/>
                </a:cubicBezTo>
                <a:lnTo>
                  <a:pt x="160" y="0"/>
                </a:lnTo>
                <a:cubicBezTo>
                  <a:pt x="167" y="0"/>
                  <a:pt x="173" y="1"/>
                  <a:pt x="180" y="4"/>
                </a:cubicBezTo>
                <a:cubicBezTo>
                  <a:pt x="186" y="7"/>
                  <a:pt x="192" y="10"/>
                  <a:pt x="197" y="15"/>
                </a:cubicBezTo>
                <a:cubicBezTo>
                  <a:pt x="202" y="20"/>
                  <a:pt x="206" y="26"/>
                  <a:pt x="208" y="32"/>
                </a:cubicBezTo>
                <a:cubicBezTo>
                  <a:pt x="211" y="39"/>
                  <a:pt x="212" y="46"/>
                  <a:pt x="212" y="53"/>
                </a:cubicBezTo>
                <a:lnTo>
                  <a:pt x="212" y="794"/>
                </a:lnTo>
                <a:cubicBezTo>
                  <a:pt x="212" y="801"/>
                  <a:pt x="211" y="807"/>
                  <a:pt x="208" y="814"/>
                </a:cubicBezTo>
                <a:cubicBezTo>
                  <a:pt x="206" y="820"/>
                  <a:pt x="202" y="826"/>
                  <a:pt x="197" y="831"/>
                </a:cubicBezTo>
                <a:cubicBezTo>
                  <a:pt x="192" y="836"/>
                  <a:pt x="186" y="840"/>
                  <a:pt x="180" y="842"/>
                </a:cubicBezTo>
                <a:cubicBezTo>
                  <a:pt x="173" y="845"/>
                  <a:pt x="167" y="847"/>
                  <a:pt x="160" y="847"/>
                </a:cubicBezTo>
                <a:lnTo>
                  <a:pt x="53" y="847"/>
                </a:lnTo>
                <a:cubicBezTo>
                  <a:pt x="46" y="847"/>
                  <a:pt x="39" y="845"/>
                  <a:pt x="32" y="842"/>
                </a:cubicBezTo>
                <a:cubicBezTo>
                  <a:pt x="26" y="840"/>
                  <a:pt x="20" y="836"/>
                  <a:pt x="15" y="831"/>
                </a:cubicBezTo>
                <a:cubicBezTo>
                  <a:pt x="10" y="826"/>
                  <a:pt x="7" y="820"/>
                  <a:pt x="4" y="814"/>
                </a:cubicBezTo>
                <a:cubicBezTo>
                  <a:pt x="1" y="807"/>
                  <a:pt x="0" y="801"/>
                  <a:pt x="0" y="794"/>
                </a:cubicBezTo>
                <a:close/>
              </a:path>
            </a:pathLst>
          </a:custGeom>
          <a:solidFill>
            <a:srgbClr val="0052D9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09480" y="155520"/>
            <a:ext cx="4239000" cy="33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800" b="0" u="none" strike="noStrike">
                <a:solidFill>
                  <a:srgbClr val="1F2937"/>
                </a:solidFill>
                <a:effectLst/>
                <a:uFillTx/>
                <a:latin typeface="NotoSansSC"/>
                <a:ea typeface="NotoSansSC"/>
              </a:rPr>
              <a:t>战斗</a:t>
            </a: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NotoSansSC"/>
                <a:ea typeface="NotoSansSC"/>
              </a:rPr>
              <a:t>Dev Agent vs </a:t>
            </a:r>
            <a:r>
              <a:rPr lang="zh-CN" sz="1800" b="0" u="none" strike="noStrike">
                <a:solidFill>
                  <a:srgbClr val="1F2937"/>
                </a:solidFill>
                <a:effectLst/>
                <a:uFillTx/>
                <a:latin typeface="NotoSansSC"/>
                <a:ea typeface="NotoSansSC"/>
              </a:rPr>
              <a:t>默认</a:t>
            </a: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NotoSansSC"/>
                <a:ea typeface="NotoSansSC"/>
              </a:rPr>
              <a:t>Agent </a:t>
            </a:r>
            <a:r>
              <a:rPr lang="zh-CN" sz="1800" b="0" u="none" strike="noStrike">
                <a:solidFill>
                  <a:srgbClr val="1F2937"/>
                </a:solidFill>
                <a:effectLst/>
                <a:uFillTx/>
                <a:latin typeface="NotoSansSC"/>
                <a:ea typeface="NotoSansSC"/>
              </a:rPr>
              <a:t>对比分析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9" name="图片 8"/>
          <p:cNvPicPr/>
          <p:nvPr/>
        </p:nvPicPr>
        <p:blipFill>
          <a:blip r:embed="rId4"/>
          <a:stretch/>
        </p:blipFill>
        <p:spPr>
          <a:xfrm>
            <a:off x="9753480" y="0"/>
            <a:ext cx="2437920" cy="609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" name="图片 9"/>
          <p:cNvPicPr/>
          <p:nvPr/>
        </p:nvPicPr>
        <p:blipFill>
          <a:blip r:embed="rId5"/>
          <a:stretch/>
        </p:blipFill>
        <p:spPr>
          <a:xfrm>
            <a:off x="304920" y="914400"/>
            <a:ext cx="5638320" cy="4762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" name="图片 10"/>
          <p:cNvPicPr/>
          <p:nvPr/>
        </p:nvPicPr>
        <p:blipFill>
          <a:blip r:embed="rId6"/>
          <a:stretch/>
        </p:blipFill>
        <p:spPr>
          <a:xfrm>
            <a:off x="314280" y="923760"/>
            <a:ext cx="5619240" cy="77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" name="任意多边形: 形状 11"/>
          <p:cNvSpPr/>
          <p:nvPr/>
        </p:nvSpPr>
        <p:spPr>
          <a:xfrm>
            <a:off x="542880" y="1161720"/>
            <a:ext cx="152640" cy="172080"/>
          </a:xfrm>
          <a:custGeom>
            <a:avLst/>
            <a:gdLst/>
            <a:ahLst/>
            <a:cxnLst/>
            <a:rect l="0" t="0" r="r" b="b"/>
            <a:pathLst>
              <a:path w="424" h="478" fill="none">
                <a:moveTo>
                  <a:pt x="238" y="186"/>
                </a:moveTo>
                <a:lnTo>
                  <a:pt x="238" y="0"/>
                </a:lnTo>
                <a:lnTo>
                  <a:pt x="0" y="291"/>
                </a:lnTo>
                <a:lnTo>
                  <a:pt x="185" y="291"/>
                </a:lnTo>
                <a:lnTo>
                  <a:pt x="185" y="478"/>
                </a:lnTo>
                <a:lnTo>
                  <a:pt x="424" y="186"/>
                </a:lnTo>
                <a:lnTo>
                  <a:pt x="238" y="186"/>
                </a:lnTo>
              </a:path>
            </a:pathLst>
          </a:custGeom>
          <a:ln w="18720" cap="rnd">
            <a:solidFill>
              <a:srgbClr val="0052D9"/>
            </a:solidFill>
            <a:round/>
          </a:ln>
        </p:spPr>
        <p:txBody>
          <a:bodyPr lIns="9360" tIns="9360" rIns="9360" bIns="936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1010960" y="230400"/>
            <a:ext cx="839880" cy="16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00" b="0" u="none" strike="noStrike">
                <a:solidFill>
                  <a:srgbClr val="9CA3AF"/>
                </a:solidFill>
                <a:effectLst/>
                <a:uFillTx/>
                <a:latin typeface="NotoSansSC"/>
                <a:ea typeface="NotoSansSC"/>
              </a:rPr>
              <a:t>性能与成本评估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809640" y="1120320"/>
            <a:ext cx="1405080" cy="27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500" b="0" u="none" strike="noStrike" dirty="0">
                <a:solidFill>
                  <a:srgbClr val="0052D9"/>
                </a:solidFill>
                <a:effectLst/>
                <a:uFillTx/>
                <a:latin typeface="NotoSansSC"/>
                <a:ea typeface="NotoSansSC"/>
              </a:rPr>
              <a:t>战斗 </a:t>
            </a:r>
            <a:r>
              <a:rPr lang="en-US" sz="1500" b="0" u="none" strike="noStrike" dirty="0">
                <a:solidFill>
                  <a:srgbClr val="0052D9"/>
                </a:solidFill>
                <a:effectLst/>
                <a:uFillTx/>
                <a:latin typeface="NotoSansSC"/>
                <a:ea typeface="NotoSansSC"/>
              </a:rPr>
              <a:t>Dev Agent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5" name="图片 14"/>
          <p:cNvPicPr/>
          <p:nvPr/>
        </p:nvPicPr>
        <p:blipFill>
          <a:blip r:embed="rId7"/>
          <a:stretch/>
        </p:blipFill>
        <p:spPr>
          <a:xfrm>
            <a:off x="504720" y="1886040"/>
            <a:ext cx="1666440" cy="894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" name="文本框 15"/>
          <p:cNvSpPr txBox="1"/>
          <p:nvPr/>
        </p:nvSpPr>
        <p:spPr>
          <a:xfrm>
            <a:off x="504720" y="1429200"/>
            <a:ext cx="1680120" cy="19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6B7280"/>
                </a:solidFill>
                <a:effectLst/>
                <a:uFillTx/>
                <a:latin typeface="NotoSansSC"/>
                <a:ea typeface="NotoSansSC"/>
              </a:rPr>
              <a:t>基于知识库索引的精准查询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28560" y="2011320"/>
            <a:ext cx="618840" cy="16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NotoSansSC"/>
                <a:ea typeface="NotoSansSC"/>
              </a:rPr>
              <a:t>Token </a:t>
            </a:r>
            <a:r>
              <a:rPr lang="zh-CN" sz="900" b="0" u="none" strike="noStrike">
                <a:solidFill>
                  <a:srgbClr val="6B7280"/>
                </a:solidFill>
                <a:effectLst/>
                <a:uFillTx/>
                <a:latin typeface="NotoSansSC"/>
                <a:ea typeface="NotoSansSC"/>
              </a:rPr>
              <a:t>消耗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任意多边形: 形状 17"/>
          <p:cNvSpPr/>
          <p:nvPr/>
        </p:nvSpPr>
        <p:spPr>
          <a:xfrm>
            <a:off x="628560" y="2504880"/>
            <a:ext cx="724320" cy="152640"/>
          </a:xfrm>
          <a:custGeom>
            <a:avLst/>
            <a:gdLst/>
            <a:ahLst/>
            <a:cxnLst/>
            <a:rect l="0" t="0" r="r" b="b"/>
            <a:pathLst>
              <a:path w="2012" h="424">
                <a:moveTo>
                  <a:pt x="0" y="319"/>
                </a:moveTo>
                <a:lnTo>
                  <a:pt x="0" y="107"/>
                </a:lnTo>
                <a:cubicBezTo>
                  <a:pt x="0" y="93"/>
                  <a:pt x="2" y="79"/>
                  <a:pt x="8" y="66"/>
                </a:cubicBezTo>
                <a:cubicBezTo>
                  <a:pt x="13" y="53"/>
                  <a:pt x="21" y="42"/>
                  <a:pt x="31" y="32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1906" y="0"/>
                </a:lnTo>
                <a:cubicBezTo>
                  <a:pt x="1920" y="0"/>
                  <a:pt x="1933" y="3"/>
                  <a:pt x="1946" y="8"/>
                </a:cubicBezTo>
                <a:cubicBezTo>
                  <a:pt x="1959" y="13"/>
                  <a:pt x="1971" y="21"/>
                  <a:pt x="1981" y="32"/>
                </a:cubicBezTo>
                <a:cubicBezTo>
                  <a:pt x="1991" y="42"/>
                  <a:pt x="1998" y="53"/>
                  <a:pt x="2004" y="66"/>
                </a:cubicBezTo>
                <a:cubicBezTo>
                  <a:pt x="2009" y="79"/>
                  <a:pt x="2012" y="93"/>
                  <a:pt x="2012" y="107"/>
                </a:cubicBezTo>
                <a:lnTo>
                  <a:pt x="2012" y="319"/>
                </a:lnTo>
                <a:cubicBezTo>
                  <a:pt x="2012" y="333"/>
                  <a:pt x="2009" y="346"/>
                  <a:pt x="2004" y="359"/>
                </a:cubicBezTo>
                <a:cubicBezTo>
                  <a:pt x="1998" y="372"/>
                  <a:pt x="1991" y="383"/>
                  <a:pt x="1981" y="393"/>
                </a:cubicBezTo>
                <a:cubicBezTo>
                  <a:pt x="1971" y="403"/>
                  <a:pt x="1959" y="411"/>
                  <a:pt x="1946" y="416"/>
                </a:cubicBezTo>
                <a:cubicBezTo>
                  <a:pt x="1933" y="422"/>
                  <a:pt x="1920" y="424"/>
                  <a:pt x="1906" y="424"/>
                </a:cubicBezTo>
                <a:lnTo>
                  <a:pt x="106" y="424"/>
                </a:lnTo>
                <a:cubicBezTo>
                  <a:pt x="92" y="424"/>
                  <a:pt x="78" y="422"/>
                  <a:pt x="65" y="416"/>
                </a:cubicBezTo>
                <a:cubicBezTo>
                  <a:pt x="52" y="411"/>
                  <a:pt x="41" y="403"/>
                  <a:pt x="31" y="393"/>
                </a:cubicBezTo>
                <a:cubicBezTo>
                  <a:pt x="21" y="383"/>
                  <a:pt x="13" y="372"/>
                  <a:pt x="8" y="359"/>
                </a:cubicBezTo>
                <a:cubicBezTo>
                  <a:pt x="2" y="346"/>
                  <a:pt x="0" y="333"/>
                  <a:pt x="0" y="319"/>
                </a:cubicBezTo>
                <a:close/>
              </a:path>
            </a:pathLst>
          </a:custGeom>
          <a:solidFill>
            <a:srgbClr val="F0FDF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628560" y="2206080"/>
            <a:ext cx="44568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00" b="0" u="none" strike="noStrike">
                <a:solidFill>
                  <a:srgbClr val="1F2937"/>
                </a:solidFill>
                <a:effectLst/>
                <a:uFillTx/>
                <a:latin typeface="NotoSansSC"/>
                <a:ea typeface="NotoSansSC"/>
              </a:rPr>
              <a:t>~67K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0" name="图片 19"/>
          <p:cNvPicPr/>
          <p:nvPr/>
        </p:nvPicPr>
        <p:blipFill>
          <a:blip r:embed="rId8"/>
          <a:stretch/>
        </p:blipFill>
        <p:spPr>
          <a:xfrm>
            <a:off x="2286000" y="1886040"/>
            <a:ext cx="1676160" cy="894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" name="文本框 20"/>
          <p:cNvSpPr txBox="1"/>
          <p:nvPr/>
        </p:nvSpPr>
        <p:spPr>
          <a:xfrm>
            <a:off x="666720" y="2506680"/>
            <a:ext cx="653760" cy="16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00" b="0" u="none" strike="noStrike">
                <a:solidFill>
                  <a:srgbClr val="16A34A"/>
                </a:solidFill>
                <a:effectLst/>
                <a:uFillTx/>
                <a:latin typeface="NotoSansSC"/>
                <a:ea typeface="NotoSansSC"/>
              </a:rPr>
              <a:t>↓ 节省 60%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2413080" y="2011320"/>
            <a:ext cx="479880" cy="16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NotoSansSC"/>
                <a:ea typeface="NotoSansSC"/>
              </a:rPr>
              <a:t>API </a:t>
            </a:r>
            <a:r>
              <a:rPr lang="zh-CN" sz="900" b="0" u="none" strike="noStrike">
                <a:solidFill>
                  <a:srgbClr val="6B7280"/>
                </a:solidFill>
                <a:effectLst/>
                <a:uFillTx/>
                <a:latin typeface="NotoSansSC"/>
                <a:ea typeface="NotoSansSC"/>
              </a:rPr>
              <a:t>调用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2413080" y="2190960"/>
            <a:ext cx="559800" cy="19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1F2937"/>
                </a:solidFill>
                <a:effectLst/>
                <a:uFillTx/>
                <a:latin typeface="NotoSansSC"/>
                <a:ea typeface="NotoSansSC"/>
              </a:rPr>
              <a:t>精准查询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4" name="图片 23"/>
          <p:cNvPicPr/>
          <p:nvPr/>
        </p:nvPicPr>
        <p:blipFill>
          <a:blip r:embed="rId9"/>
          <a:stretch/>
        </p:blipFill>
        <p:spPr>
          <a:xfrm>
            <a:off x="4076640" y="1886040"/>
            <a:ext cx="1666440" cy="894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" name="文本框 24"/>
          <p:cNvSpPr txBox="1"/>
          <p:nvPr/>
        </p:nvSpPr>
        <p:spPr>
          <a:xfrm>
            <a:off x="2413080" y="2422440"/>
            <a:ext cx="69984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750" b="0" u="none" strike="noStrike">
                <a:solidFill>
                  <a:srgbClr val="9CA3AF"/>
                </a:solidFill>
                <a:effectLst/>
                <a:uFillTx/>
                <a:latin typeface="NotoSansSC"/>
                <a:ea typeface="NotoSansSC"/>
              </a:rPr>
              <a:t>impl.json </a:t>
            </a:r>
            <a:r>
              <a:rPr lang="zh-CN" sz="750" b="0" u="none" strike="noStrike">
                <a:solidFill>
                  <a:srgbClr val="9CA3AF"/>
                </a:solidFill>
                <a:effectLst/>
                <a:uFillTx/>
                <a:latin typeface="NotoSansSC"/>
                <a:ea typeface="NotoSansSC"/>
              </a:rPr>
              <a:t>直读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4197240" y="2011320"/>
            <a:ext cx="479880" cy="16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00" b="0" u="none" strike="noStrike">
                <a:solidFill>
                  <a:srgbClr val="6B7280"/>
                </a:solidFill>
                <a:effectLst/>
                <a:uFillTx/>
                <a:latin typeface="NotoSansSC"/>
                <a:ea typeface="NotoSansSC"/>
              </a:rPr>
              <a:t>处理耗时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4197240" y="2206080"/>
            <a:ext cx="64656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00" b="0" u="none" strike="noStrike">
                <a:solidFill>
                  <a:srgbClr val="1F2937"/>
                </a:solidFill>
                <a:effectLst/>
                <a:uFillTx/>
                <a:latin typeface="NotoSansSC"/>
                <a:ea typeface="NotoSansSC"/>
              </a:rPr>
              <a:t>1m 40s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8" name="图片 27"/>
          <p:cNvPicPr/>
          <p:nvPr/>
        </p:nvPicPr>
        <p:blipFill>
          <a:blip r:embed="rId10"/>
          <a:stretch/>
        </p:blipFill>
        <p:spPr>
          <a:xfrm>
            <a:off x="504720" y="2933640"/>
            <a:ext cx="2561760" cy="2542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" name="文本框 28"/>
          <p:cNvSpPr txBox="1"/>
          <p:nvPr/>
        </p:nvSpPr>
        <p:spPr>
          <a:xfrm>
            <a:off x="4197240" y="2517480"/>
            <a:ext cx="57780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750" b="0" u="none" strike="noStrike">
                <a:solidFill>
                  <a:srgbClr val="9CA3AF"/>
                </a:solidFill>
                <a:effectLst/>
                <a:uFillTx/>
                <a:latin typeface="NotoSansSC"/>
                <a:ea typeface="NotoSansSC"/>
              </a:rPr>
              <a:t>含 </a:t>
            </a:r>
            <a:r>
              <a:rPr lang="en-US" sz="750" b="0" u="none" strike="noStrike">
                <a:solidFill>
                  <a:srgbClr val="9CA3AF"/>
                </a:solidFill>
                <a:effectLst/>
                <a:uFillTx/>
                <a:latin typeface="NotoSansSC"/>
                <a:ea typeface="NotoSansSC"/>
              </a:rPr>
              <a:t>Subagent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1" name="图片 30"/>
          <p:cNvPicPr/>
          <p:nvPr/>
        </p:nvPicPr>
        <p:blipFill>
          <a:blip r:embed="rId11"/>
          <a:stretch/>
        </p:blipFill>
        <p:spPr>
          <a:xfrm>
            <a:off x="3181320" y="2933640"/>
            <a:ext cx="2561760" cy="2542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" name="文本框 31"/>
          <p:cNvSpPr txBox="1"/>
          <p:nvPr/>
        </p:nvSpPr>
        <p:spPr>
          <a:xfrm>
            <a:off x="1380960" y="3021120"/>
            <a:ext cx="847440" cy="16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00" b="0" u="none" strike="noStrike">
                <a:solidFill>
                  <a:srgbClr val="9CA3AF"/>
                </a:solidFill>
                <a:effectLst/>
                <a:uFillTx/>
                <a:latin typeface="NotoSansSC"/>
                <a:ea typeface="NotoSansSC"/>
              </a:rPr>
              <a:t>Token </a:t>
            </a:r>
            <a:r>
              <a:rPr lang="zh-CN" sz="900" b="0" u="none" strike="noStrike">
                <a:solidFill>
                  <a:srgbClr val="9CA3AF"/>
                </a:solidFill>
                <a:effectLst/>
                <a:uFillTx/>
                <a:latin typeface="NotoSansSC"/>
                <a:ea typeface="NotoSansSC"/>
              </a:rPr>
              <a:t>消耗趋势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任意多边形: 形状 33"/>
          <p:cNvSpPr/>
          <p:nvPr/>
        </p:nvSpPr>
        <p:spPr>
          <a:xfrm>
            <a:off x="5257440" y="914040"/>
            <a:ext cx="686160" cy="228960"/>
          </a:xfrm>
          <a:custGeom>
            <a:avLst/>
            <a:gdLst/>
            <a:ahLst/>
            <a:cxnLst/>
            <a:rect l="0" t="0" r="r" b="b"/>
            <a:pathLst>
              <a:path w="1906" h="636">
                <a:moveTo>
                  <a:pt x="1710" y="25"/>
                </a:moveTo>
                <a:cubicBezTo>
                  <a:pt x="1749" y="41"/>
                  <a:pt x="1784" y="64"/>
                  <a:pt x="1814" y="93"/>
                </a:cubicBezTo>
                <a:cubicBezTo>
                  <a:pt x="1843" y="123"/>
                  <a:pt x="1866" y="158"/>
                  <a:pt x="1882" y="196"/>
                </a:cubicBezTo>
                <a:cubicBezTo>
                  <a:pt x="1898" y="235"/>
                  <a:pt x="1906" y="276"/>
                  <a:pt x="1906" y="319"/>
                </a:cubicBezTo>
                <a:lnTo>
                  <a:pt x="1906" y="636"/>
                </a:lnTo>
                <a:lnTo>
                  <a:pt x="212" y="636"/>
                </a:lnTo>
                <a:cubicBezTo>
                  <a:pt x="198" y="636"/>
                  <a:pt x="185" y="635"/>
                  <a:pt x="171" y="632"/>
                </a:cubicBezTo>
                <a:cubicBezTo>
                  <a:pt x="157" y="630"/>
                  <a:pt x="144" y="626"/>
                  <a:pt x="131" y="620"/>
                </a:cubicBezTo>
                <a:cubicBezTo>
                  <a:pt x="118" y="615"/>
                  <a:pt x="106" y="609"/>
                  <a:pt x="95" y="601"/>
                </a:cubicBezTo>
                <a:cubicBezTo>
                  <a:pt x="83" y="593"/>
                  <a:pt x="72" y="584"/>
                  <a:pt x="62" y="575"/>
                </a:cubicBezTo>
                <a:cubicBezTo>
                  <a:pt x="53" y="565"/>
                  <a:pt x="44" y="554"/>
                  <a:pt x="36" y="542"/>
                </a:cubicBezTo>
                <a:cubicBezTo>
                  <a:pt x="28" y="531"/>
                  <a:pt x="22" y="519"/>
                  <a:pt x="17" y="506"/>
                </a:cubicBezTo>
                <a:cubicBezTo>
                  <a:pt x="11" y="493"/>
                  <a:pt x="7" y="480"/>
                  <a:pt x="5" y="466"/>
                </a:cubicBezTo>
                <a:cubicBezTo>
                  <a:pt x="2" y="452"/>
                  <a:pt x="0" y="439"/>
                  <a:pt x="0" y="425"/>
                </a:cubicBezTo>
                <a:lnTo>
                  <a:pt x="0" y="0"/>
                </a:lnTo>
                <a:lnTo>
                  <a:pt x="1589" y="0"/>
                </a:lnTo>
                <a:cubicBezTo>
                  <a:pt x="1631" y="1"/>
                  <a:pt x="1672" y="9"/>
                  <a:pt x="1710" y="25"/>
                </a:cubicBezTo>
                <a:close/>
              </a:path>
            </a:pathLst>
          </a:custGeom>
          <a:solidFill>
            <a:srgbClr val="0052D9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4176720" y="3021120"/>
            <a:ext cx="599760" cy="16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00" b="0" u="none" strike="noStrike">
                <a:solidFill>
                  <a:srgbClr val="9CA3AF"/>
                </a:solidFill>
                <a:effectLst/>
                <a:uFillTx/>
                <a:latin typeface="NotoSansSC"/>
                <a:ea typeface="NotoSansSC"/>
              </a:rPr>
              <a:t>工作流逻辑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6" name="图片 35"/>
          <p:cNvPicPr/>
          <p:nvPr/>
        </p:nvPicPr>
        <p:blipFill>
          <a:blip r:embed="rId12"/>
          <a:stretch/>
        </p:blipFill>
        <p:spPr>
          <a:xfrm>
            <a:off x="6248520" y="914400"/>
            <a:ext cx="5638320" cy="4762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7" name="图片 36"/>
          <p:cNvPicPr/>
          <p:nvPr/>
        </p:nvPicPr>
        <p:blipFill>
          <a:blip r:embed="rId13"/>
          <a:stretch/>
        </p:blipFill>
        <p:spPr>
          <a:xfrm>
            <a:off x="6257880" y="923760"/>
            <a:ext cx="5619240" cy="77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" name="任意多边形: 形状 37"/>
          <p:cNvSpPr/>
          <p:nvPr/>
        </p:nvSpPr>
        <p:spPr>
          <a:xfrm>
            <a:off x="6476760" y="1161720"/>
            <a:ext cx="171720" cy="172080"/>
          </a:xfrm>
          <a:custGeom>
            <a:avLst/>
            <a:gdLst/>
            <a:ahLst/>
            <a:cxnLst/>
            <a:rect l="0" t="0" r="r" b="b"/>
            <a:pathLst>
              <a:path w="477" h="478" fill="none">
                <a:moveTo>
                  <a:pt x="179" y="372"/>
                </a:moveTo>
                <a:lnTo>
                  <a:pt x="159" y="451"/>
                </a:lnTo>
                <a:lnTo>
                  <a:pt x="132" y="478"/>
                </a:lnTo>
                <a:lnTo>
                  <a:pt x="345" y="478"/>
                </a:lnTo>
                <a:lnTo>
                  <a:pt x="318" y="451"/>
                </a:lnTo>
                <a:lnTo>
                  <a:pt x="298" y="372"/>
                </a:lnTo>
                <a:moveTo>
                  <a:pt x="0" y="265"/>
                </a:moveTo>
                <a:lnTo>
                  <a:pt x="477" y="265"/>
                </a:lnTo>
                <a:moveTo>
                  <a:pt x="53" y="372"/>
                </a:moveTo>
                <a:lnTo>
                  <a:pt x="424" y="372"/>
                </a:lnTo>
                <a:cubicBezTo>
                  <a:pt x="432" y="372"/>
                  <a:pt x="438" y="370"/>
                  <a:pt x="445" y="368"/>
                </a:cubicBezTo>
                <a:cubicBezTo>
                  <a:pt x="451" y="365"/>
                  <a:pt x="457" y="361"/>
                  <a:pt x="462" y="356"/>
                </a:cubicBezTo>
                <a:cubicBezTo>
                  <a:pt x="467" y="351"/>
                  <a:pt x="471" y="346"/>
                  <a:pt x="473" y="338"/>
                </a:cubicBezTo>
                <a:cubicBezTo>
                  <a:pt x="476" y="332"/>
                  <a:pt x="477" y="325"/>
                  <a:pt x="477" y="318"/>
                </a:cubicBezTo>
                <a:lnTo>
                  <a:pt x="477" y="53"/>
                </a:lnTo>
                <a:cubicBezTo>
                  <a:pt x="477" y="46"/>
                  <a:pt x="476" y="40"/>
                  <a:pt x="473" y="33"/>
                </a:cubicBezTo>
                <a:cubicBezTo>
                  <a:pt x="471" y="27"/>
                  <a:pt x="467" y="21"/>
                  <a:pt x="462" y="16"/>
                </a:cubicBezTo>
                <a:cubicBezTo>
                  <a:pt x="457" y="11"/>
                  <a:pt x="451" y="7"/>
                  <a:pt x="445" y="4"/>
                </a:cubicBezTo>
                <a:cubicBezTo>
                  <a:pt x="438" y="2"/>
                  <a:pt x="432" y="0"/>
                  <a:pt x="424" y="0"/>
                </a:cubicBezTo>
                <a:lnTo>
                  <a:pt x="53" y="0"/>
                </a:lnTo>
                <a:cubicBezTo>
                  <a:pt x="46" y="0"/>
                  <a:pt x="39" y="2"/>
                  <a:pt x="33" y="4"/>
                </a:cubicBezTo>
                <a:cubicBezTo>
                  <a:pt x="26" y="7"/>
                  <a:pt x="21" y="11"/>
                  <a:pt x="16" y="16"/>
                </a:cubicBezTo>
                <a:cubicBezTo>
                  <a:pt x="11" y="21"/>
                  <a:pt x="7" y="27"/>
                  <a:pt x="4" y="33"/>
                </a:cubicBezTo>
                <a:cubicBezTo>
                  <a:pt x="2" y="40"/>
                  <a:pt x="0" y="46"/>
                  <a:pt x="0" y="53"/>
                </a:cubicBezTo>
                <a:lnTo>
                  <a:pt x="0" y="318"/>
                </a:lnTo>
                <a:cubicBezTo>
                  <a:pt x="0" y="325"/>
                  <a:pt x="2" y="332"/>
                  <a:pt x="4" y="338"/>
                </a:cubicBezTo>
                <a:cubicBezTo>
                  <a:pt x="7" y="346"/>
                  <a:pt x="11" y="351"/>
                  <a:pt x="16" y="356"/>
                </a:cubicBezTo>
                <a:cubicBezTo>
                  <a:pt x="21" y="361"/>
                  <a:pt x="26" y="365"/>
                  <a:pt x="33" y="368"/>
                </a:cubicBezTo>
                <a:cubicBezTo>
                  <a:pt x="39" y="370"/>
                  <a:pt x="46" y="372"/>
                  <a:pt x="53" y="372"/>
                </a:cubicBezTo>
              </a:path>
            </a:pathLst>
          </a:custGeom>
          <a:ln w="18720" cap="rnd">
            <a:solidFill>
              <a:srgbClr val="9CA3AF"/>
            </a:solidFill>
            <a:round/>
          </a:ln>
        </p:spPr>
        <p:txBody>
          <a:bodyPr lIns="9360" tIns="9360" rIns="9360" bIns="936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5371920" y="954000"/>
            <a:ext cx="461665" cy="1384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sz="900" b="0" u="none" strike="noStrike" dirty="0">
                <a:solidFill>
                  <a:srgbClr val="FFFFFF"/>
                </a:solidFill>
                <a:effectLst/>
                <a:uFillTx/>
                <a:latin typeface="NotoSansSC"/>
                <a:ea typeface="NotoSansSC"/>
              </a:rPr>
              <a:t>最佳实践</a:t>
            </a:r>
            <a:endParaRPr lang="en-US" sz="9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6753240" y="1120320"/>
            <a:ext cx="1012320" cy="27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500" b="0" u="none" strike="noStrike" dirty="0">
                <a:solidFill>
                  <a:srgbClr val="374151"/>
                </a:solidFill>
                <a:effectLst/>
                <a:uFillTx/>
                <a:latin typeface="NotoSansSC"/>
                <a:ea typeface="NotoSansSC"/>
              </a:rPr>
              <a:t>默认 </a:t>
            </a:r>
            <a:r>
              <a:rPr lang="en-US" sz="1500" b="0" u="none" strike="noStrike" dirty="0">
                <a:solidFill>
                  <a:srgbClr val="374151"/>
                </a:solidFill>
                <a:effectLst/>
                <a:uFillTx/>
                <a:latin typeface="NotoSansSC"/>
                <a:ea typeface="NotoSansSC"/>
              </a:rPr>
              <a:t>Agent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1" name="图片 40"/>
          <p:cNvPicPr/>
          <p:nvPr/>
        </p:nvPicPr>
        <p:blipFill>
          <a:blip r:embed="rId14"/>
          <a:stretch/>
        </p:blipFill>
        <p:spPr>
          <a:xfrm>
            <a:off x="6448320" y="1886040"/>
            <a:ext cx="1666440" cy="894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" name="文本框 41"/>
          <p:cNvSpPr txBox="1"/>
          <p:nvPr/>
        </p:nvSpPr>
        <p:spPr>
          <a:xfrm>
            <a:off x="6448320" y="1429200"/>
            <a:ext cx="1680120" cy="19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6B7280"/>
                </a:solidFill>
                <a:effectLst/>
                <a:uFillTx/>
                <a:latin typeface="NotoSansSC"/>
                <a:ea typeface="NotoSansSC"/>
              </a:rPr>
              <a:t>基于通用逻辑的探索式查找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6572160" y="2011320"/>
            <a:ext cx="618840" cy="16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NotoSansSC"/>
                <a:ea typeface="NotoSansSC"/>
              </a:rPr>
              <a:t>Token </a:t>
            </a:r>
            <a:r>
              <a:rPr lang="zh-CN" sz="900" b="0" u="none" strike="noStrike">
                <a:solidFill>
                  <a:srgbClr val="6B7280"/>
                </a:solidFill>
                <a:effectLst/>
                <a:uFillTx/>
                <a:latin typeface="NotoSansSC"/>
                <a:ea typeface="NotoSansSC"/>
              </a:rPr>
              <a:t>消耗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任意多边形: 形状 43"/>
          <p:cNvSpPr/>
          <p:nvPr/>
        </p:nvSpPr>
        <p:spPr>
          <a:xfrm>
            <a:off x="6572160" y="2504880"/>
            <a:ext cx="562320" cy="152640"/>
          </a:xfrm>
          <a:custGeom>
            <a:avLst/>
            <a:gdLst/>
            <a:ahLst/>
            <a:cxnLst/>
            <a:rect l="0" t="0" r="r" b="b"/>
            <a:pathLst>
              <a:path w="1562" h="424">
                <a:moveTo>
                  <a:pt x="0" y="319"/>
                </a:moveTo>
                <a:lnTo>
                  <a:pt x="0" y="107"/>
                </a:lnTo>
                <a:cubicBezTo>
                  <a:pt x="0" y="93"/>
                  <a:pt x="2" y="79"/>
                  <a:pt x="8" y="66"/>
                </a:cubicBezTo>
                <a:cubicBezTo>
                  <a:pt x="13" y="53"/>
                  <a:pt x="21" y="42"/>
                  <a:pt x="31" y="32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1456" y="0"/>
                </a:lnTo>
                <a:cubicBezTo>
                  <a:pt x="1470" y="0"/>
                  <a:pt x="1483" y="3"/>
                  <a:pt x="1496" y="8"/>
                </a:cubicBezTo>
                <a:cubicBezTo>
                  <a:pt x="1509" y="13"/>
                  <a:pt x="1521" y="21"/>
                  <a:pt x="1531" y="32"/>
                </a:cubicBezTo>
                <a:cubicBezTo>
                  <a:pt x="1541" y="42"/>
                  <a:pt x="1548" y="53"/>
                  <a:pt x="1554" y="66"/>
                </a:cubicBezTo>
                <a:cubicBezTo>
                  <a:pt x="1559" y="79"/>
                  <a:pt x="1562" y="93"/>
                  <a:pt x="1562" y="107"/>
                </a:cubicBezTo>
                <a:lnTo>
                  <a:pt x="1562" y="319"/>
                </a:lnTo>
                <a:cubicBezTo>
                  <a:pt x="1562" y="333"/>
                  <a:pt x="1559" y="346"/>
                  <a:pt x="1554" y="359"/>
                </a:cubicBezTo>
                <a:cubicBezTo>
                  <a:pt x="1548" y="372"/>
                  <a:pt x="1541" y="383"/>
                  <a:pt x="1531" y="393"/>
                </a:cubicBezTo>
                <a:cubicBezTo>
                  <a:pt x="1521" y="403"/>
                  <a:pt x="1509" y="411"/>
                  <a:pt x="1496" y="416"/>
                </a:cubicBezTo>
                <a:cubicBezTo>
                  <a:pt x="1483" y="422"/>
                  <a:pt x="1470" y="424"/>
                  <a:pt x="1456" y="424"/>
                </a:cubicBezTo>
                <a:lnTo>
                  <a:pt x="106" y="424"/>
                </a:lnTo>
                <a:cubicBezTo>
                  <a:pt x="92" y="424"/>
                  <a:pt x="78" y="422"/>
                  <a:pt x="65" y="416"/>
                </a:cubicBezTo>
                <a:cubicBezTo>
                  <a:pt x="52" y="411"/>
                  <a:pt x="41" y="403"/>
                  <a:pt x="31" y="393"/>
                </a:cubicBezTo>
                <a:cubicBezTo>
                  <a:pt x="21" y="383"/>
                  <a:pt x="13" y="372"/>
                  <a:pt x="8" y="359"/>
                </a:cubicBezTo>
                <a:cubicBezTo>
                  <a:pt x="2" y="346"/>
                  <a:pt x="0" y="333"/>
                  <a:pt x="0" y="319"/>
                </a:cubicBezTo>
                <a:close/>
              </a:path>
            </a:pathLst>
          </a:custGeom>
          <a:solidFill>
            <a:srgbClr val="FFF7E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6572160" y="2206080"/>
            <a:ext cx="55440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00" b="0" u="none" strike="noStrike">
                <a:solidFill>
                  <a:srgbClr val="1F2937"/>
                </a:solidFill>
                <a:effectLst/>
                <a:uFillTx/>
                <a:latin typeface="NotoSansSC"/>
                <a:ea typeface="NotoSansSC"/>
              </a:rPr>
              <a:t>~169K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6" name="图片 45"/>
          <p:cNvPicPr/>
          <p:nvPr/>
        </p:nvPicPr>
        <p:blipFill>
          <a:blip r:embed="rId15"/>
          <a:stretch/>
        </p:blipFill>
        <p:spPr>
          <a:xfrm>
            <a:off x="8229600" y="1886040"/>
            <a:ext cx="1676160" cy="894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" name="文本框 46"/>
          <p:cNvSpPr txBox="1"/>
          <p:nvPr/>
        </p:nvSpPr>
        <p:spPr>
          <a:xfrm>
            <a:off x="6610320" y="2506680"/>
            <a:ext cx="483480" cy="16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00" b="0" u="none" strike="noStrike">
                <a:solidFill>
                  <a:srgbClr val="F97316"/>
                </a:solidFill>
                <a:effectLst/>
                <a:uFillTx/>
                <a:latin typeface="NotoSansSC"/>
                <a:ea typeface="NotoSansSC"/>
              </a:rPr>
              <a:t>↑ 高消耗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8356680" y="2011320"/>
            <a:ext cx="479880" cy="16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NotoSansSC"/>
                <a:ea typeface="NotoSansSC"/>
              </a:rPr>
              <a:t>API </a:t>
            </a:r>
            <a:r>
              <a:rPr lang="zh-CN" sz="900" b="0" u="none" strike="noStrike">
                <a:solidFill>
                  <a:srgbClr val="6B7280"/>
                </a:solidFill>
                <a:effectLst/>
                <a:uFillTx/>
                <a:latin typeface="NotoSansSC"/>
                <a:ea typeface="NotoSansSC"/>
              </a:rPr>
              <a:t>调用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8356680" y="2190960"/>
            <a:ext cx="559800" cy="19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1F2937"/>
                </a:solidFill>
                <a:effectLst/>
                <a:uFillTx/>
                <a:latin typeface="NotoSansSC"/>
                <a:ea typeface="NotoSansSC"/>
              </a:rPr>
              <a:t>冗余查找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0" name="图片 49"/>
          <p:cNvPicPr/>
          <p:nvPr/>
        </p:nvPicPr>
        <p:blipFill>
          <a:blip r:embed="rId16"/>
          <a:stretch/>
        </p:blipFill>
        <p:spPr>
          <a:xfrm>
            <a:off x="10020240" y="1886040"/>
            <a:ext cx="1666440" cy="894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" name="文本框 50"/>
          <p:cNvSpPr txBox="1"/>
          <p:nvPr/>
        </p:nvSpPr>
        <p:spPr>
          <a:xfrm>
            <a:off x="8356680" y="2422440"/>
            <a:ext cx="69984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750" b="0" u="none" strike="noStrike">
                <a:solidFill>
                  <a:srgbClr val="9CA3AF"/>
                </a:solidFill>
                <a:effectLst/>
                <a:uFillTx/>
                <a:latin typeface="NotoSansSC"/>
                <a:ea typeface="NotoSansSC"/>
              </a:rPr>
              <a:t>多次探索性步骤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10140840" y="2011320"/>
            <a:ext cx="479880" cy="16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00" b="0" u="none" strike="noStrike">
                <a:solidFill>
                  <a:srgbClr val="6B7280"/>
                </a:solidFill>
                <a:effectLst/>
                <a:uFillTx/>
                <a:latin typeface="NotoSansSC"/>
                <a:ea typeface="NotoSansSC"/>
              </a:rPr>
              <a:t>处理耗时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10140840" y="2206080"/>
            <a:ext cx="39672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00" b="0" u="none" strike="noStrike">
                <a:solidFill>
                  <a:srgbClr val="1F2937"/>
                </a:solidFill>
                <a:effectLst/>
                <a:uFillTx/>
                <a:latin typeface="NotoSansSC"/>
                <a:ea typeface="NotoSansSC"/>
              </a:rPr>
              <a:t>~1m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4" name="图片 53"/>
          <p:cNvPicPr/>
          <p:nvPr/>
        </p:nvPicPr>
        <p:blipFill>
          <a:blip r:embed="rId10"/>
          <a:stretch/>
        </p:blipFill>
        <p:spPr>
          <a:xfrm>
            <a:off x="6448320" y="2933640"/>
            <a:ext cx="2561760" cy="2542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" name="文本框 54"/>
          <p:cNvSpPr txBox="1"/>
          <p:nvPr/>
        </p:nvSpPr>
        <p:spPr>
          <a:xfrm>
            <a:off x="10140840" y="2517480"/>
            <a:ext cx="39996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750" b="0" u="none" strike="noStrike">
                <a:solidFill>
                  <a:srgbClr val="9CA3AF"/>
                </a:solidFill>
                <a:effectLst/>
                <a:uFillTx/>
                <a:latin typeface="NotoSansSC"/>
                <a:ea typeface="NotoSansSC"/>
              </a:rPr>
              <a:t>速度略快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7" name="图片 56"/>
          <p:cNvPicPr/>
          <p:nvPr/>
        </p:nvPicPr>
        <p:blipFill>
          <a:blip r:embed="rId17"/>
          <a:stretch/>
        </p:blipFill>
        <p:spPr>
          <a:xfrm>
            <a:off x="9124920" y="2933640"/>
            <a:ext cx="2561760" cy="2542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" name="文本框 57"/>
          <p:cNvSpPr txBox="1"/>
          <p:nvPr/>
        </p:nvSpPr>
        <p:spPr>
          <a:xfrm>
            <a:off x="7324560" y="3021120"/>
            <a:ext cx="847440" cy="16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00" b="0" u="none" strike="noStrike">
                <a:solidFill>
                  <a:srgbClr val="9CA3AF"/>
                </a:solidFill>
                <a:effectLst/>
                <a:uFillTx/>
                <a:latin typeface="NotoSansSC"/>
                <a:ea typeface="NotoSansSC"/>
              </a:rPr>
              <a:t>Token </a:t>
            </a:r>
            <a:r>
              <a:rPr lang="zh-CN" sz="900" b="0" u="none" strike="noStrike">
                <a:solidFill>
                  <a:srgbClr val="9CA3AF"/>
                </a:solidFill>
                <a:effectLst/>
                <a:uFillTx/>
                <a:latin typeface="NotoSansSC"/>
                <a:ea typeface="NotoSansSC"/>
              </a:rPr>
              <a:t>消耗趋势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0" name="图片 59"/>
          <p:cNvPicPr/>
          <p:nvPr/>
        </p:nvPicPr>
        <p:blipFill>
          <a:blip r:embed="rId18"/>
          <a:stretch/>
        </p:blipFill>
        <p:spPr>
          <a:xfrm>
            <a:off x="304920" y="5905440"/>
            <a:ext cx="11581920" cy="64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" name="任意多边形: 形状 60"/>
          <p:cNvSpPr/>
          <p:nvPr/>
        </p:nvSpPr>
        <p:spPr>
          <a:xfrm>
            <a:off x="456840" y="6057720"/>
            <a:ext cx="343440" cy="343080"/>
          </a:xfrm>
          <a:custGeom>
            <a:avLst/>
            <a:gdLst/>
            <a:ahLst/>
            <a:cxnLst/>
            <a:rect l="0" t="0" r="r" b="b"/>
            <a:pathLst>
              <a:path w="954" h="953">
                <a:moveTo>
                  <a:pt x="954" y="476"/>
                </a:moveTo>
                <a:cubicBezTo>
                  <a:pt x="954" y="508"/>
                  <a:pt x="951" y="538"/>
                  <a:pt x="945" y="569"/>
                </a:cubicBezTo>
                <a:cubicBezTo>
                  <a:pt x="939" y="600"/>
                  <a:pt x="930" y="630"/>
                  <a:pt x="918" y="659"/>
                </a:cubicBezTo>
                <a:cubicBezTo>
                  <a:pt x="906" y="687"/>
                  <a:pt x="891" y="715"/>
                  <a:pt x="874" y="741"/>
                </a:cubicBezTo>
                <a:cubicBezTo>
                  <a:pt x="856" y="767"/>
                  <a:pt x="837" y="792"/>
                  <a:pt x="815" y="814"/>
                </a:cubicBezTo>
                <a:cubicBezTo>
                  <a:pt x="792" y="836"/>
                  <a:pt x="768" y="856"/>
                  <a:pt x="742" y="873"/>
                </a:cubicBezTo>
                <a:cubicBezTo>
                  <a:pt x="716" y="891"/>
                  <a:pt x="689" y="905"/>
                  <a:pt x="660" y="917"/>
                </a:cubicBezTo>
                <a:cubicBezTo>
                  <a:pt x="631" y="929"/>
                  <a:pt x="601" y="938"/>
                  <a:pt x="571" y="944"/>
                </a:cubicBezTo>
                <a:cubicBezTo>
                  <a:pt x="540" y="950"/>
                  <a:pt x="509" y="953"/>
                  <a:pt x="478" y="953"/>
                </a:cubicBezTo>
                <a:cubicBezTo>
                  <a:pt x="446" y="953"/>
                  <a:pt x="416" y="950"/>
                  <a:pt x="385" y="944"/>
                </a:cubicBezTo>
                <a:cubicBezTo>
                  <a:pt x="354" y="938"/>
                  <a:pt x="324" y="929"/>
                  <a:pt x="295" y="917"/>
                </a:cubicBezTo>
                <a:cubicBezTo>
                  <a:pt x="267" y="905"/>
                  <a:pt x="239" y="891"/>
                  <a:pt x="213" y="873"/>
                </a:cubicBezTo>
                <a:cubicBezTo>
                  <a:pt x="187" y="856"/>
                  <a:pt x="163" y="836"/>
                  <a:pt x="140" y="814"/>
                </a:cubicBezTo>
                <a:cubicBezTo>
                  <a:pt x="118" y="792"/>
                  <a:pt x="98" y="767"/>
                  <a:pt x="81" y="741"/>
                </a:cubicBezTo>
                <a:cubicBezTo>
                  <a:pt x="63" y="715"/>
                  <a:pt x="49" y="687"/>
                  <a:pt x="37" y="659"/>
                </a:cubicBezTo>
                <a:cubicBezTo>
                  <a:pt x="25" y="630"/>
                  <a:pt x="16" y="600"/>
                  <a:pt x="10" y="569"/>
                </a:cubicBezTo>
                <a:cubicBezTo>
                  <a:pt x="4" y="538"/>
                  <a:pt x="0" y="508"/>
                  <a:pt x="0" y="476"/>
                </a:cubicBezTo>
                <a:cubicBezTo>
                  <a:pt x="0" y="445"/>
                  <a:pt x="4" y="414"/>
                  <a:pt x="10" y="383"/>
                </a:cubicBezTo>
                <a:cubicBezTo>
                  <a:pt x="16" y="353"/>
                  <a:pt x="25" y="323"/>
                  <a:pt x="37" y="294"/>
                </a:cubicBezTo>
                <a:cubicBezTo>
                  <a:pt x="49" y="265"/>
                  <a:pt x="63" y="238"/>
                  <a:pt x="81" y="212"/>
                </a:cubicBezTo>
                <a:cubicBezTo>
                  <a:pt x="98" y="186"/>
                  <a:pt x="118" y="162"/>
                  <a:pt x="140" y="139"/>
                </a:cubicBezTo>
                <a:cubicBezTo>
                  <a:pt x="163" y="117"/>
                  <a:pt x="187" y="98"/>
                  <a:pt x="213" y="80"/>
                </a:cubicBezTo>
                <a:cubicBezTo>
                  <a:pt x="239" y="63"/>
                  <a:pt x="267" y="48"/>
                  <a:pt x="295" y="36"/>
                </a:cubicBezTo>
                <a:cubicBezTo>
                  <a:pt x="324" y="24"/>
                  <a:pt x="354" y="15"/>
                  <a:pt x="385" y="9"/>
                </a:cubicBezTo>
                <a:cubicBezTo>
                  <a:pt x="416" y="3"/>
                  <a:pt x="446" y="0"/>
                  <a:pt x="478" y="0"/>
                </a:cubicBezTo>
                <a:cubicBezTo>
                  <a:pt x="509" y="0"/>
                  <a:pt x="540" y="3"/>
                  <a:pt x="571" y="9"/>
                </a:cubicBezTo>
                <a:cubicBezTo>
                  <a:pt x="601" y="15"/>
                  <a:pt x="631" y="24"/>
                  <a:pt x="660" y="36"/>
                </a:cubicBezTo>
                <a:cubicBezTo>
                  <a:pt x="689" y="48"/>
                  <a:pt x="716" y="63"/>
                  <a:pt x="742" y="80"/>
                </a:cubicBezTo>
                <a:cubicBezTo>
                  <a:pt x="768" y="98"/>
                  <a:pt x="792" y="117"/>
                  <a:pt x="815" y="139"/>
                </a:cubicBezTo>
                <a:cubicBezTo>
                  <a:pt x="837" y="162"/>
                  <a:pt x="856" y="186"/>
                  <a:pt x="874" y="212"/>
                </a:cubicBezTo>
                <a:cubicBezTo>
                  <a:pt x="891" y="238"/>
                  <a:pt x="906" y="265"/>
                  <a:pt x="918" y="294"/>
                </a:cubicBezTo>
                <a:cubicBezTo>
                  <a:pt x="930" y="323"/>
                  <a:pt x="939" y="353"/>
                  <a:pt x="945" y="383"/>
                </a:cubicBezTo>
                <a:cubicBezTo>
                  <a:pt x="951" y="414"/>
                  <a:pt x="954" y="445"/>
                  <a:pt x="954" y="476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任意多边形: 形状 61"/>
          <p:cNvSpPr/>
          <p:nvPr/>
        </p:nvSpPr>
        <p:spPr>
          <a:xfrm>
            <a:off x="556920" y="6157800"/>
            <a:ext cx="143280" cy="143280"/>
          </a:xfrm>
          <a:custGeom>
            <a:avLst/>
            <a:gdLst/>
            <a:ahLst/>
            <a:cxnLst/>
            <a:rect l="0" t="0" r="r" b="b"/>
            <a:pathLst>
              <a:path w="398" h="398" fill="none">
                <a:moveTo>
                  <a:pt x="133" y="199"/>
                </a:moveTo>
                <a:lnTo>
                  <a:pt x="177" y="243"/>
                </a:lnTo>
                <a:lnTo>
                  <a:pt x="266" y="155"/>
                </a:lnTo>
                <a:moveTo>
                  <a:pt x="398" y="199"/>
                </a:moveTo>
                <a:cubicBezTo>
                  <a:pt x="398" y="212"/>
                  <a:pt x="397" y="225"/>
                  <a:pt x="394" y="238"/>
                </a:cubicBezTo>
                <a:cubicBezTo>
                  <a:pt x="392" y="251"/>
                  <a:pt x="388" y="263"/>
                  <a:pt x="383" y="275"/>
                </a:cubicBezTo>
                <a:cubicBezTo>
                  <a:pt x="378" y="287"/>
                  <a:pt x="372" y="299"/>
                  <a:pt x="365" y="310"/>
                </a:cubicBezTo>
                <a:cubicBezTo>
                  <a:pt x="358" y="320"/>
                  <a:pt x="349" y="330"/>
                  <a:pt x="340" y="340"/>
                </a:cubicBezTo>
                <a:cubicBezTo>
                  <a:pt x="331" y="349"/>
                  <a:pt x="321" y="357"/>
                  <a:pt x="310" y="364"/>
                </a:cubicBezTo>
                <a:cubicBezTo>
                  <a:pt x="299" y="372"/>
                  <a:pt x="288" y="378"/>
                  <a:pt x="276" y="383"/>
                </a:cubicBezTo>
                <a:cubicBezTo>
                  <a:pt x="264" y="388"/>
                  <a:pt x="251" y="391"/>
                  <a:pt x="238" y="394"/>
                </a:cubicBezTo>
                <a:cubicBezTo>
                  <a:pt x="225" y="396"/>
                  <a:pt x="212" y="398"/>
                  <a:pt x="199" y="398"/>
                </a:cubicBezTo>
                <a:cubicBezTo>
                  <a:pt x="186" y="398"/>
                  <a:pt x="173" y="396"/>
                  <a:pt x="160" y="394"/>
                </a:cubicBezTo>
                <a:cubicBezTo>
                  <a:pt x="147" y="391"/>
                  <a:pt x="135" y="388"/>
                  <a:pt x="123" y="383"/>
                </a:cubicBezTo>
                <a:cubicBezTo>
                  <a:pt x="111" y="378"/>
                  <a:pt x="99" y="372"/>
                  <a:pt x="88" y="364"/>
                </a:cubicBezTo>
                <a:cubicBezTo>
                  <a:pt x="78" y="357"/>
                  <a:pt x="68" y="349"/>
                  <a:pt x="58" y="340"/>
                </a:cubicBezTo>
                <a:cubicBezTo>
                  <a:pt x="49" y="330"/>
                  <a:pt x="41" y="320"/>
                  <a:pt x="34" y="310"/>
                </a:cubicBezTo>
                <a:cubicBezTo>
                  <a:pt x="26" y="299"/>
                  <a:pt x="20" y="287"/>
                  <a:pt x="15" y="275"/>
                </a:cubicBezTo>
                <a:cubicBezTo>
                  <a:pt x="10" y="263"/>
                  <a:pt x="7" y="251"/>
                  <a:pt x="4" y="238"/>
                </a:cubicBezTo>
                <a:cubicBezTo>
                  <a:pt x="2" y="225"/>
                  <a:pt x="0" y="212"/>
                  <a:pt x="0" y="199"/>
                </a:cubicBezTo>
                <a:cubicBezTo>
                  <a:pt x="0" y="186"/>
                  <a:pt x="2" y="173"/>
                  <a:pt x="4" y="161"/>
                </a:cubicBezTo>
                <a:cubicBezTo>
                  <a:pt x="7" y="148"/>
                  <a:pt x="10" y="135"/>
                  <a:pt x="15" y="123"/>
                </a:cubicBezTo>
                <a:cubicBezTo>
                  <a:pt x="20" y="110"/>
                  <a:pt x="27" y="99"/>
                  <a:pt x="34" y="88"/>
                </a:cubicBezTo>
                <a:cubicBezTo>
                  <a:pt x="41" y="77"/>
                  <a:pt x="49" y="67"/>
                  <a:pt x="58" y="58"/>
                </a:cubicBezTo>
                <a:cubicBezTo>
                  <a:pt x="68" y="49"/>
                  <a:pt x="78" y="41"/>
                  <a:pt x="89" y="33"/>
                </a:cubicBezTo>
                <a:cubicBezTo>
                  <a:pt x="99" y="26"/>
                  <a:pt x="111" y="20"/>
                  <a:pt x="123" y="15"/>
                </a:cubicBezTo>
                <a:cubicBezTo>
                  <a:pt x="135" y="10"/>
                  <a:pt x="147" y="6"/>
                  <a:pt x="160" y="4"/>
                </a:cubicBezTo>
                <a:cubicBezTo>
                  <a:pt x="173" y="1"/>
                  <a:pt x="186" y="0"/>
                  <a:pt x="199" y="0"/>
                </a:cubicBezTo>
                <a:cubicBezTo>
                  <a:pt x="212" y="0"/>
                  <a:pt x="225" y="1"/>
                  <a:pt x="238" y="4"/>
                </a:cubicBezTo>
                <a:cubicBezTo>
                  <a:pt x="251" y="6"/>
                  <a:pt x="264" y="10"/>
                  <a:pt x="276" y="15"/>
                </a:cubicBezTo>
                <a:cubicBezTo>
                  <a:pt x="288" y="20"/>
                  <a:pt x="299" y="26"/>
                  <a:pt x="310" y="33"/>
                </a:cubicBezTo>
                <a:cubicBezTo>
                  <a:pt x="321" y="41"/>
                  <a:pt x="331" y="49"/>
                  <a:pt x="340" y="58"/>
                </a:cubicBezTo>
                <a:cubicBezTo>
                  <a:pt x="349" y="67"/>
                  <a:pt x="357" y="77"/>
                  <a:pt x="365" y="88"/>
                </a:cubicBezTo>
                <a:cubicBezTo>
                  <a:pt x="372" y="99"/>
                  <a:pt x="378" y="110"/>
                  <a:pt x="383" y="123"/>
                </a:cubicBezTo>
                <a:cubicBezTo>
                  <a:pt x="388" y="135"/>
                  <a:pt x="392" y="148"/>
                  <a:pt x="394" y="161"/>
                </a:cubicBezTo>
                <a:cubicBezTo>
                  <a:pt x="397" y="173"/>
                  <a:pt x="398" y="186"/>
                  <a:pt x="398" y="199"/>
                </a:cubicBezTo>
              </a:path>
            </a:pathLst>
          </a:custGeom>
          <a:ln w="15840" cap="rnd">
            <a:solidFill>
              <a:srgbClr val="FFFFFF"/>
            </a:solidFill>
            <a:round/>
          </a:ln>
        </p:spPr>
        <p:txBody>
          <a:bodyPr lIns="7920" tIns="7920" rIns="7920" bIns="792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10120320" y="3021120"/>
            <a:ext cx="599760" cy="16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00" b="0" u="none" strike="noStrike">
                <a:solidFill>
                  <a:srgbClr val="9CA3AF"/>
                </a:solidFill>
                <a:effectLst/>
                <a:uFillTx/>
                <a:latin typeface="NotoSansSC"/>
                <a:ea typeface="NotoSansSC"/>
              </a:rPr>
              <a:t>工作流逻辑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914400" y="6122160"/>
            <a:ext cx="450000" cy="24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350" b="0" u="none" strike="noStrike">
                <a:solidFill>
                  <a:srgbClr val="FFFFFF"/>
                </a:solidFill>
                <a:effectLst/>
                <a:uFillTx/>
                <a:latin typeface="NotoSansSC"/>
                <a:ea typeface="NotoSansSC"/>
              </a:rPr>
              <a:t>结论</a:t>
            </a:r>
            <a:r>
              <a:rPr lang="en-US" sz="1350" b="0" u="none" strike="noStrike">
                <a:solidFill>
                  <a:srgbClr val="FFFFFF"/>
                </a:solidFill>
                <a:effectLst/>
                <a:uFillTx/>
                <a:latin typeface="NotoSansSC"/>
                <a:ea typeface="NotoSansSC"/>
              </a:rPr>
              <a:t>: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1428840" y="6142680"/>
            <a:ext cx="3867790" cy="18466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00" b="0" u="none" strike="noStrike" dirty="0">
                <a:solidFill>
                  <a:srgbClr val="EFF6FF"/>
                </a:solidFill>
                <a:effectLst/>
                <a:uFillTx/>
                <a:latin typeface="NotoSansSC"/>
                <a:ea typeface="NotoSansSC"/>
              </a:rPr>
              <a:t>Dev Agent </a:t>
            </a:r>
            <a:r>
              <a:rPr lang="zh-CN" sz="1200" b="0" u="none" strike="noStrike" dirty="0">
                <a:solidFill>
                  <a:srgbClr val="EFF6FF"/>
                </a:solidFill>
                <a:effectLst/>
                <a:uFillTx/>
                <a:latin typeface="NotoSansSC"/>
                <a:ea typeface="NotoSansSC"/>
              </a:rPr>
              <a:t>虽耗时略长（</a:t>
            </a:r>
            <a:r>
              <a:rPr lang="en-US" sz="1200" b="0" u="none" strike="noStrike" dirty="0">
                <a:solidFill>
                  <a:srgbClr val="EFF6FF"/>
                </a:solidFill>
                <a:effectLst/>
                <a:uFillTx/>
                <a:latin typeface="NotoSansSC"/>
                <a:ea typeface="NotoSansSC"/>
              </a:rPr>
              <a:t>+40s</a:t>
            </a:r>
            <a:r>
              <a:rPr lang="zh-CN" sz="1200" b="0" u="none" strike="noStrike" dirty="0">
                <a:solidFill>
                  <a:srgbClr val="EFF6FF"/>
                </a:solidFill>
                <a:effectLst/>
                <a:uFillTx/>
                <a:latin typeface="NotoSansSC"/>
                <a:ea typeface="NotoSansSC"/>
              </a:rPr>
              <a:t>），但 </a:t>
            </a:r>
            <a:r>
              <a:rPr lang="en-US" sz="1200" b="0" u="none" strike="noStrike" dirty="0">
                <a:solidFill>
                  <a:srgbClr val="EFF6FF"/>
                </a:solidFill>
                <a:effectLst/>
                <a:uFillTx/>
                <a:latin typeface="NotoSansSC"/>
                <a:ea typeface="NotoSansSC"/>
              </a:rPr>
              <a:t>API </a:t>
            </a:r>
            <a:r>
              <a:rPr lang="zh-CN" sz="1200" b="0" u="none" strike="noStrike" dirty="0">
                <a:solidFill>
                  <a:srgbClr val="EFF6FF"/>
                </a:solidFill>
                <a:effectLst/>
                <a:uFillTx/>
                <a:latin typeface="NotoSansSC"/>
                <a:ea typeface="NotoSansSC"/>
              </a:rPr>
              <a:t>调用更</a:t>
            </a:r>
            <a:r>
              <a:rPr lang="zh-CN" sz="1200" b="0" u="none" strike="noStrike" dirty="0">
                <a:solidFill>
                  <a:srgbClr val="FF5722"/>
                </a:solidFill>
                <a:effectLst/>
                <a:uFillTx/>
                <a:latin typeface="NotoSansSC"/>
                <a:ea typeface="NotoSansSC"/>
              </a:rPr>
              <a:t>准确可靠</a:t>
            </a:r>
            <a:r>
              <a:rPr lang="zh-CN" sz="1200" b="0" u="none" strike="noStrike" dirty="0">
                <a:solidFill>
                  <a:srgbClr val="EFF6FF"/>
                </a:solidFill>
                <a:effectLst/>
                <a:uFillTx/>
                <a:latin typeface="NotoSansSC"/>
                <a:ea typeface="NotoSansSC"/>
              </a:rPr>
              <a:t>，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6" name="图片 65"/>
          <p:cNvPicPr/>
          <p:nvPr/>
        </p:nvPicPr>
        <p:blipFill>
          <a:blip r:embed="rId19"/>
          <a:stretch/>
        </p:blipFill>
        <p:spPr>
          <a:xfrm>
            <a:off x="5343480" y="6124680"/>
            <a:ext cx="1752120" cy="237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" name="文本框 66"/>
          <p:cNvSpPr txBox="1"/>
          <p:nvPr/>
        </p:nvSpPr>
        <p:spPr>
          <a:xfrm>
            <a:off x="7095960" y="6142680"/>
            <a:ext cx="122004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00" b="0" u="none" strike="noStrike" dirty="0">
                <a:solidFill>
                  <a:srgbClr val="EFF6FF"/>
                </a:solidFill>
                <a:effectLst/>
                <a:uFillTx/>
                <a:latin typeface="NotoSansSC"/>
                <a:ea typeface="NotoSansSC"/>
              </a:rPr>
              <a:t>，综合效能更优。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8" name="图片 67"/>
          <p:cNvPicPr/>
          <p:nvPr/>
        </p:nvPicPr>
        <p:blipFill>
          <a:blip r:embed="rId20"/>
          <a:stretch/>
        </p:blipFill>
        <p:spPr>
          <a:xfrm>
            <a:off x="5791320" y="3114720"/>
            <a:ext cx="609120" cy="609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9" name="图片 68"/>
          <p:cNvPicPr/>
          <p:nvPr/>
        </p:nvPicPr>
        <p:blipFill>
          <a:blip r:embed="rId21"/>
          <a:stretch/>
        </p:blipFill>
        <p:spPr>
          <a:xfrm>
            <a:off x="5867280" y="3191040"/>
            <a:ext cx="45684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" name="文本框 69"/>
          <p:cNvSpPr txBox="1"/>
          <p:nvPr/>
        </p:nvSpPr>
        <p:spPr>
          <a:xfrm>
            <a:off x="5343480" y="6142680"/>
            <a:ext cx="1627690" cy="18466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00" b="0" u="none" strike="noStrike" dirty="0">
                <a:solidFill>
                  <a:srgbClr val="FFFFFF"/>
                </a:solidFill>
                <a:effectLst/>
                <a:uFillTx/>
                <a:latin typeface="NotoSansSC"/>
                <a:ea typeface="NotoSansSC"/>
              </a:rPr>
              <a:t>Token </a:t>
            </a:r>
            <a:r>
              <a:rPr lang="zh-CN" sz="1200" b="0" u="none" strike="noStrike" dirty="0">
                <a:solidFill>
                  <a:srgbClr val="FFFFFF"/>
                </a:solidFill>
                <a:effectLst/>
                <a:uFillTx/>
                <a:latin typeface="NotoSansSC"/>
                <a:ea typeface="NotoSansSC"/>
              </a:rPr>
              <a:t>消耗</a:t>
            </a:r>
            <a:r>
              <a:rPr lang="zh-CN" sz="1200" b="0" u="none" strike="noStrike" dirty="0">
                <a:solidFill>
                  <a:srgbClr val="FF5722"/>
                </a:solidFill>
                <a:effectLst/>
                <a:uFillTx/>
                <a:latin typeface="NotoSansSC"/>
                <a:ea typeface="NotoSansSC"/>
              </a:rPr>
              <a:t>大幅降低 </a:t>
            </a:r>
            <a:r>
              <a:rPr lang="en-US" sz="1200" b="0" u="none" strike="noStrike" dirty="0">
                <a:solidFill>
                  <a:srgbClr val="FFFFFF"/>
                </a:solidFill>
                <a:effectLst/>
                <a:uFillTx/>
                <a:latin typeface="NotoSansSC"/>
                <a:ea typeface="NotoSansSC"/>
              </a:rPr>
              <a:t>60%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文本框 70"/>
          <p:cNvSpPr txBox="1"/>
          <p:nvPr/>
        </p:nvSpPr>
        <p:spPr>
          <a:xfrm>
            <a:off x="6023160" y="3292200"/>
            <a:ext cx="226440" cy="268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40" b="0" u="none" strike="noStrike">
                <a:solidFill>
                  <a:srgbClr val="FFFFFF"/>
                </a:solidFill>
                <a:effectLst/>
                <a:uFillTx/>
                <a:latin typeface="NotoSansSC"/>
                <a:ea typeface="NotoSansSC"/>
              </a:rPr>
              <a:t>VS</a:t>
            </a:r>
            <a:endParaRPr lang="en-US" sz="15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150ADEC-C6E5-6B47-107E-7F0038F35D9D}"/>
              </a:ext>
            </a:extLst>
          </p:cNvPr>
          <p:cNvPicPr>
            <a:picLocks noChangeAspect="1"/>
          </p:cNvPicPr>
          <p:nvPr/>
        </p:nvPicPr>
        <p:blipFill>
          <a:blip r:embed="rId22"/>
          <a:srcRect t="56287"/>
          <a:stretch/>
        </p:blipFill>
        <p:spPr>
          <a:xfrm>
            <a:off x="518015" y="3911760"/>
            <a:ext cx="2535169" cy="784773"/>
          </a:xfrm>
          <a:prstGeom prst="rect">
            <a:avLst/>
          </a:prstGeom>
        </p:spPr>
      </p:pic>
      <p:pic>
        <p:nvPicPr>
          <p:cNvPr id="79" name="图片 78">
            <a:extLst>
              <a:ext uri="{FF2B5EF4-FFF2-40B4-BE49-F238E27FC236}">
                <a16:creationId xmlns:a16="http://schemas.microsoft.com/office/drawing/2014/main" id="{B709A617-3DAA-9C28-7523-333DCD374C3E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149470" y="3509417"/>
            <a:ext cx="2512660" cy="395640"/>
          </a:xfrm>
          <a:prstGeom prst="rect">
            <a:avLst/>
          </a:prstGeom>
        </p:spPr>
      </p:pic>
      <p:pic>
        <p:nvPicPr>
          <p:cNvPr id="81" name="图片 80">
            <a:extLst>
              <a:ext uri="{FF2B5EF4-FFF2-40B4-BE49-F238E27FC236}">
                <a16:creationId xmlns:a16="http://schemas.microsoft.com/office/drawing/2014/main" id="{A948B5F7-7CCA-4426-51DB-797DA67B0BF8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168994" y="3897465"/>
            <a:ext cx="2473613" cy="1057470"/>
          </a:xfrm>
          <a:prstGeom prst="rect">
            <a:avLst/>
          </a:prstGeom>
        </p:spPr>
      </p:pic>
      <p:pic>
        <p:nvPicPr>
          <p:cNvPr id="85" name="图片 84">
            <a:extLst>
              <a:ext uri="{FF2B5EF4-FFF2-40B4-BE49-F238E27FC236}">
                <a16:creationId xmlns:a16="http://schemas.microsoft.com/office/drawing/2014/main" id="{FAF5A2F0-5489-4E90-CEFB-C6CCCA58E5FA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515965" y="3819762"/>
            <a:ext cx="2464630" cy="817956"/>
          </a:xfrm>
          <a:prstGeom prst="rect">
            <a:avLst/>
          </a:prstGeom>
        </p:spPr>
      </p:pic>
      <p:pic>
        <p:nvPicPr>
          <p:cNvPr id="87" name="图片 86">
            <a:extLst>
              <a:ext uri="{FF2B5EF4-FFF2-40B4-BE49-F238E27FC236}">
                <a16:creationId xmlns:a16="http://schemas.microsoft.com/office/drawing/2014/main" id="{8C49A4B7-A441-19A4-54D4-7CB33B502115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222181" y="3395408"/>
            <a:ext cx="2469239" cy="355680"/>
          </a:xfrm>
          <a:prstGeom prst="rect">
            <a:avLst/>
          </a:prstGeom>
        </p:spPr>
      </p:pic>
      <p:pic>
        <p:nvPicPr>
          <p:cNvPr id="89" name="图片 88">
            <a:extLst>
              <a:ext uri="{FF2B5EF4-FFF2-40B4-BE49-F238E27FC236}">
                <a16:creationId xmlns:a16="http://schemas.microsoft.com/office/drawing/2014/main" id="{935F9367-57FF-636A-B519-2330756EA4E2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3337335" y="3773408"/>
            <a:ext cx="2058030" cy="170319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任意多边形: 形状 7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0F2F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73" name="图片 72"/>
          <p:cNvPicPr/>
          <p:nvPr/>
        </p:nvPicPr>
        <p:blipFill>
          <a:blip r:embed="rId2"/>
          <a:stretch/>
        </p:blipFill>
        <p:spPr>
          <a:xfrm>
            <a:off x="9753480" y="0"/>
            <a:ext cx="2437920" cy="2437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4" name="图片 73"/>
          <p:cNvPicPr/>
          <p:nvPr/>
        </p:nvPicPr>
        <p:blipFill>
          <a:blip r:embed="rId3"/>
          <a:stretch/>
        </p:blipFill>
        <p:spPr>
          <a:xfrm>
            <a:off x="0" y="5638680"/>
            <a:ext cx="3657240" cy="1218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" name="任意多边形: 形状 7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76" name="图片 75"/>
          <p:cNvPicPr/>
          <p:nvPr/>
        </p:nvPicPr>
        <p:blipFill>
          <a:blip r:embed="rId4"/>
          <a:stretch/>
        </p:blipFill>
        <p:spPr>
          <a:xfrm>
            <a:off x="0" y="0"/>
            <a:ext cx="12191760" cy="761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任意多边形: 形状 76"/>
          <p:cNvSpPr/>
          <p:nvPr/>
        </p:nvSpPr>
        <p:spPr>
          <a:xfrm>
            <a:off x="380880" y="228240"/>
            <a:ext cx="76320" cy="305280"/>
          </a:xfrm>
          <a:custGeom>
            <a:avLst/>
            <a:gdLst/>
            <a:ahLst/>
            <a:cxnLst/>
            <a:rect l="0" t="0" r="r" b="b"/>
            <a:pathLst>
              <a:path w="212" h="848">
                <a:moveTo>
                  <a:pt x="0" y="795"/>
                </a:moveTo>
                <a:lnTo>
                  <a:pt x="0" y="53"/>
                </a:lnTo>
                <a:cubicBezTo>
                  <a:pt x="0" y="46"/>
                  <a:pt x="1" y="40"/>
                  <a:pt x="4" y="33"/>
                </a:cubicBezTo>
                <a:cubicBezTo>
                  <a:pt x="7" y="27"/>
                  <a:pt x="10" y="21"/>
                  <a:pt x="15" y="16"/>
                </a:cubicBezTo>
                <a:cubicBezTo>
                  <a:pt x="20" y="11"/>
                  <a:pt x="26" y="7"/>
                  <a:pt x="32" y="5"/>
                </a:cubicBezTo>
                <a:cubicBezTo>
                  <a:pt x="39" y="2"/>
                  <a:pt x="46" y="0"/>
                  <a:pt x="53" y="0"/>
                </a:cubicBezTo>
                <a:lnTo>
                  <a:pt x="160" y="0"/>
                </a:lnTo>
                <a:cubicBezTo>
                  <a:pt x="167" y="0"/>
                  <a:pt x="173" y="2"/>
                  <a:pt x="180" y="5"/>
                </a:cubicBezTo>
                <a:cubicBezTo>
                  <a:pt x="186" y="7"/>
                  <a:pt x="192" y="11"/>
                  <a:pt x="197" y="16"/>
                </a:cubicBezTo>
                <a:cubicBezTo>
                  <a:pt x="202" y="21"/>
                  <a:pt x="206" y="27"/>
                  <a:pt x="208" y="33"/>
                </a:cubicBezTo>
                <a:cubicBezTo>
                  <a:pt x="211" y="40"/>
                  <a:pt x="212" y="46"/>
                  <a:pt x="212" y="53"/>
                </a:cubicBezTo>
                <a:lnTo>
                  <a:pt x="212" y="795"/>
                </a:lnTo>
                <a:cubicBezTo>
                  <a:pt x="212" y="802"/>
                  <a:pt x="211" y="809"/>
                  <a:pt x="208" y="816"/>
                </a:cubicBezTo>
                <a:cubicBezTo>
                  <a:pt x="206" y="822"/>
                  <a:pt x="202" y="828"/>
                  <a:pt x="197" y="833"/>
                </a:cubicBezTo>
                <a:cubicBezTo>
                  <a:pt x="192" y="838"/>
                  <a:pt x="186" y="841"/>
                  <a:pt x="180" y="844"/>
                </a:cubicBezTo>
                <a:cubicBezTo>
                  <a:pt x="173" y="847"/>
                  <a:pt x="167" y="848"/>
                  <a:pt x="160" y="848"/>
                </a:cubicBezTo>
                <a:lnTo>
                  <a:pt x="53" y="848"/>
                </a:lnTo>
                <a:cubicBezTo>
                  <a:pt x="46" y="848"/>
                  <a:pt x="39" y="847"/>
                  <a:pt x="32" y="844"/>
                </a:cubicBezTo>
                <a:cubicBezTo>
                  <a:pt x="26" y="841"/>
                  <a:pt x="20" y="838"/>
                  <a:pt x="15" y="833"/>
                </a:cubicBezTo>
                <a:cubicBezTo>
                  <a:pt x="10" y="828"/>
                  <a:pt x="7" y="822"/>
                  <a:pt x="4" y="816"/>
                </a:cubicBezTo>
                <a:cubicBezTo>
                  <a:pt x="1" y="809"/>
                  <a:pt x="0" y="802"/>
                  <a:pt x="0" y="795"/>
                </a:cubicBezTo>
                <a:close/>
              </a:path>
            </a:pathLst>
          </a:custGeom>
          <a:solidFill>
            <a:srgbClr val="0052D9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文本框 77"/>
          <p:cNvSpPr txBox="1"/>
          <p:nvPr/>
        </p:nvSpPr>
        <p:spPr>
          <a:xfrm>
            <a:off x="609480" y="199440"/>
            <a:ext cx="43041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2250" b="0" u="none" strike="noStrike">
                <a:solidFill>
                  <a:srgbClr val="1F2937"/>
                </a:solidFill>
                <a:effectLst/>
                <a:uFillTx/>
                <a:latin typeface="NotoSansSC"/>
                <a:ea typeface="NotoSansSC"/>
              </a:rPr>
              <a:t>战斗</a:t>
            </a:r>
            <a:r>
              <a:rPr lang="en-US" sz="2250" b="0" u="none" strike="noStrike">
                <a:solidFill>
                  <a:srgbClr val="1F2937"/>
                </a:solidFill>
                <a:effectLst/>
                <a:uFillTx/>
                <a:latin typeface="NotoSansSC"/>
                <a:ea typeface="NotoSansSC"/>
              </a:rPr>
              <a:t>Debug Agent </a:t>
            </a:r>
            <a:r>
              <a:rPr lang="zh-CN" sz="2250" b="0" u="none" strike="noStrike">
                <a:solidFill>
                  <a:srgbClr val="1F2937"/>
                </a:solidFill>
                <a:effectLst/>
                <a:uFillTx/>
                <a:latin typeface="NotoSansSC"/>
                <a:ea typeface="NotoSansSC"/>
              </a:rPr>
              <a:t>调试效率对比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任意多边形: 形状 78"/>
          <p:cNvSpPr/>
          <p:nvPr/>
        </p:nvSpPr>
        <p:spPr>
          <a:xfrm>
            <a:off x="304560" y="3619440"/>
            <a:ext cx="57600" cy="57240"/>
          </a:xfrm>
          <a:custGeom>
            <a:avLst/>
            <a:gdLst/>
            <a:ahLst/>
            <a:cxnLst/>
            <a:rect l="0" t="0" r="r" b="b"/>
            <a:pathLst>
              <a:path w="160" h="159">
                <a:moveTo>
                  <a:pt x="160" y="79"/>
                </a:moveTo>
                <a:cubicBezTo>
                  <a:pt x="160" y="90"/>
                  <a:pt x="158" y="100"/>
                  <a:pt x="154" y="109"/>
                </a:cubicBezTo>
                <a:cubicBezTo>
                  <a:pt x="150" y="119"/>
                  <a:pt x="144" y="128"/>
                  <a:pt x="137" y="135"/>
                </a:cubicBezTo>
                <a:cubicBezTo>
                  <a:pt x="129" y="144"/>
                  <a:pt x="121" y="149"/>
                  <a:pt x="111" y="153"/>
                </a:cubicBezTo>
                <a:cubicBezTo>
                  <a:pt x="101" y="157"/>
                  <a:pt x="91" y="159"/>
                  <a:pt x="81" y="159"/>
                </a:cubicBezTo>
                <a:cubicBezTo>
                  <a:pt x="70" y="159"/>
                  <a:pt x="60" y="157"/>
                  <a:pt x="50" y="153"/>
                </a:cubicBezTo>
                <a:cubicBezTo>
                  <a:pt x="40" y="149"/>
                  <a:pt x="32" y="144"/>
                  <a:pt x="24" y="135"/>
                </a:cubicBezTo>
                <a:cubicBezTo>
                  <a:pt x="16" y="128"/>
                  <a:pt x="10" y="119"/>
                  <a:pt x="6" y="109"/>
                </a:cubicBezTo>
                <a:cubicBezTo>
                  <a:pt x="2" y="100"/>
                  <a:pt x="0" y="90"/>
                  <a:pt x="0" y="79"/>
                </a:cubicBezTo>
                <a:cubicBezTo>
                  <a:pt x="0" y="69"/>
                  <a:pt x="2" y="58"/>
                  <a:pt x="6" y="49"/>
                </a:cubicBezTo>
                <a:cubicBezTo>
                  <a:pt x="10" y="39"/>
                  <a:pt x="16" y="30"/>
                  <a:pt x="24" y="23"/>
                </a:cubicBezTo>
                <a:cubicBezTo>
                  <a:pt x="32" y="15"/>
                  <a:pt x="40" y="10"/>
                  <a:pt x="50" y="6"/>
                </a:cubicBezTo>
                <a:cubicBezTo>
                  <a:pt x="60" y="2"/>
                  <a:pt x="70" y="0"/>
                  <a:pt x="81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0"/>
                  <a:pt x="129" y="15"/>
                  <a:pt x="137" y="23"/>
                </a:cubicBezTo>
                <a:cubicBezTo>
                  <a:pt x="144" y="30"/>
                  <a:pt x="150" y="39"/>
                  <a:pt x="154" y="49"/>
                </a:cubicBezTo>
                <a:cubicBezTo>
                  <a:pt x="158" y="58"/>
                  <a:pt x="160" y="69"/>
                  <a:pt x="160" y="79"/>
                </a:cubicBezTo>
                <a:close/>
              </a:path>
            </a:pathLst>
          </a:custGeom>
          <a:solidFill>
            <a:srgbClr val="FF990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文本框 79"/>
          <p:cNvSpPr txBox="1"/>
          <p:nvPr/>
        </p:nvSpPr>
        <p:spPr>
          <a:xfrm>
            <a:off x="10896480" y="284760"/>
            <a:ext cx="9601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00" b="0" u="none" strike="noStrike">
                <a:solidFill>
                  <a:srgbClr val="0052D9"/>
                </a:solidFill>
                <a:effectLst/>
                <a:uFillTx/>
                <a:latin typeface="NotoSansSC"/>
                <a:ea typeface="NotoSansSC"/>
              </a:rPr>
              <a:t>效率提升分析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81" name="图片 80"/>
          <p:cNvPicPr/>
          <p:nvPr/>
        </p:nvPicPr>
        <p:blipFill>
          <a:blip r:embed="rId5"/>
          <a:stretch/>
        </p:blipFill>
        <p:spPr>
          <a:xfrm>
            <a:off x="304920" y="1066680"/>
            <a:ext cx="11581920" cy="2257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2" name="任意多边形: 形状 81"/>
          <p:cNvSpPr/>
          <p:nvPr/>
        </p:nvSpPr>
        <p:spPr>
          <a:xfrm>
            <a:off x="314280" y="1076040"/>
            <a:ext cx="152640" cy="533880"/>
          </a:xfrm>
          <a:custGeom>
            <a:avLst/>
            <a:gdLst/>
            <a:ahLst/>
            <a:cxnLst/>
            <a:rect l="0" t="0" r="r" b="b"/>
            <a:pathLst>
              <a:path w="424" h="1483">
                <a:moveTo>
                  <a:pt x="66" y="67"/>
                </a:moveTo>
                <a:cubicBezTo>
                  <a:pt x="95" y="38"/>
                  <a:pt x="127" y="16"/>
                  <a:pt x="164" y="0"/>
                </a:cubicBezTo>
                <a:lnTo>
                  <a:pt x="424" y="0"/>
                </a:lnTo>
                <a:lnTo>
                  <a:pt x="424" y="1483"/>
                </a:lnTo>
                <a:lnTo>
                  <a:pt x="0" y="1483"/>
                </a:lnTo>
                <a:lnTo>
                  <a:pt x="0" y="164"/>
                </a:lnTo>
                <a:cubicBezTo>
                  <a:pt x="16" y="128"/>
                  <a:pt x="38" y="95"/>
                  <a:pt x="66" y="67"/>
                </a:cubicBezTo>
                <a:close/>
              </a:path>
            </a:pathLst>
          </a:custGeom>
          <a:solidFill>
            <a:srgbClr val="0052D9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任意多边形: 形状 82"/>
          <p:cNvSpPr/>
          <p:nvPr/>
        </p:nvSpPr>
        <p:spPr>
          <a:xfrm>
            <a:off x="466560" y="1076040"/>
            <a:ext cx="152640" cy="533880"/>
          </a:xfrm>
          <a:custGeom>
            <a:avLst/>
            <a:gdLst/>
            <a:ahLst/>
            <a:cxnLst/>
            <a:rect l="0" t="0" r="r" b="b"/>
            <a:pathLst>
              <a:path w="424" h="1483">
                <a:moveTo>
                  <a:pt x="424" y="0"/>
                </a:moveTo>
                <a:lnTo>
                  <a:pt x="424" y="1483"/>
                </a:lnTo>
                <a:lnTo>
                  <a:pt x="0" y="1483"/>
                </a:lnTo>
                <a:lnTo>
                  <a:pt x="0" y="0"/>
                </a:lnTo>
                <a:lnTo>
                  <a:pt x="424" y="0"/>
                </a:lnTo>
                <a:close/>
              </a:path>
            </a:pathLst>
          </a:custGeom>
          <a:solidFill>
            <a:srgbClr val="0052D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任意多边形: 形状 83"/>
          <p:cNvSpPr/>
          <p:nvPr/>
        </p:nvSpPr>
        <p:spPr>
          <a:xfrm>
            <a:off x="618840" y="1076040"/>
            <a:ext cx="153000" cy="533880"/>
          </a:xfrm>
          <a:custGeom>
            <a:avLst/>
            <a:gdLst/>
            <a:ahLst/>
            <a:cxnLst/>
            <a:rect l="0" t="0" r="r" b="b"/>
            <a:pathLst>
              <a:path w="425" h="1483">
                <a:moveTo>
                  <a:pt x="425" y="0"/>
                </a:moveTo>
                <a:lnTo>
                  <a:pt x="425" y="1483"/>
                </a:lnTo>
                <a:lnTo>
                  <a:pt x="0" y="1483"/>
                </a:lnTo>
                <a:lnTo>
                  <a:pt x="0" y="0"/>
                </a:lnTo>
                <a:lnTo>
                  <a:pt x="425" y="0"/>
                </a:lnTo>
                <a:close/>
              </a:path>
            </a:pathLst>
          </a:custGeom>
          <a:solidFill>
            <a:srgbClr val="0053D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任意多边形: 形状 84"/>
          <p:cNvSpPr/>
          <p:nvPr/>
        </p:nvSpPr>
        <p:spPr>
          <a:xfrm>
            <a:off x="771480" y="1076040"/>
            <a:ext cx="152640" cy="533880"/>
          </a:xfrm>
          <a:custGeom>
            <a:avLst/>
            <a:gdLst/>
            <a:ahLst/>
            <a:cxnLst/>
            <a:rect l="0" t="0" r="r" b="b"/>
            <a:pathLst>
              <a:path w="424" h="1483">
                <a:moveTo>
                  <a:pt x="424" y="0"/>
                </a:moveTo>
                <a:lnTo>
                  <a:pt x="424" y="1483"/>
                </a:lnTo>
                <a:lnTo>
                  <a:pt x="0" y="1483"/>
                </a:lnTo>
                <a:lnTo>
                  <a:pt x="0" y="0"/>
                </a:lnTo>
                <a:lnTo>
                  <a:pt x="424" y="0"/>
                </a:lnTo>
                <a:close/>
              </a:path>
            </a:pathLst>
          </a:custGeom>
          <a:solidFill>
            <a:srgbClr val="0053D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任意多边形: 形状 85"/>
          <p:cNvSpPr/>
          <p:nvPr/>
        </p:nvSpPr>
        <p:spPr>
          <a:xfrm>
            <a:off x="923760" y="1076040"/>
            <a:ext cx="152640" cy="533880"/>
          </a:xfrm>
          <a:custGeom>
            <a:avLst/>
            <a:gdLst/>
            <a:ahLst/>
            <a:cxnLst/>
            <a:rect l="0" t="0" r="r" b="b"/>
            <a:pathLst>
              <a:path w="424" h="1483">
                <a:moveTo>
                  <a:pt x="424" y="0"/>
                </a:moveTo>
                <a:lnTo>
                  <a:pt x="424" y="1483"/>
                </a:lnTo>
                <a:lnTo>
                  <a:pt x="0" y="1483"/>
                </a:lnTo>
                <a:lnTo>
                  <a:pt x="0" y="0"/>
                </a:lnTo>
                <a:lnTo>
                  <a:pt x="424" y="0"/>
                </a:lnTo>
                <a:close/>
              </a:path>
            </a:pathLst>
          </a:custGeom>
          <a:solidFill>
            <a:srgbClr val="0053D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任意多边形: 形状 86"/>
          <p:cNvSpPr/>
          <p:nvPr/>
        </p:nvSpPr>
        <p:spPr>
          <a:xfrm>
            <a:off x="1076040" y="1076040"/>
            <a:ext cx="153000" cy="533880"/>
          </a:xfrm>
          <a:custGeom>
            <a:avLst/>
            <a:gdLst/>
            <a:ahLst/>
            <a:cxnLst/>
            <a:rect l="0" t="0" r="r" b="b"/>
            <a:pathLst>
              <a:path w="425" h="1483">
                <a:moveTo>
                  <a:pt x="425" y="0"/>
                </a:moveTo>
                <a:lnTo>
                  <a:pt x="425" y="1483"/>
                </a:lnTo>
                <a:lnTo>
                  <a:pt x="0" y="1483"/>
                </a:lnTo>
                <a:lnTo>
                  <a:pt x="0" y="0"/>
                </a:lnTo>
                <a:lnTo>
                  <a:pt x="425" y="0"/>
                </a:lnTo>
                <a:close/>
              </a:path>
            </a:pathLst>
          </a:custGeom>
          <a:solidFill>
            <a:srgbClr val="0053DC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任意多边形: 形状 87"/>
          <p:cNvSpPr/>
          <p:nvPr/>
        </p:nvSpPr>
        <p:spPr>
          <a:xfrm>
            <a:off x="1228680" y="1076040"/>
            <a:ext cx="152640" cy="533880"/>
          </a:xfrm>
          <a:custGeom>
            <a:avLst/>
            <a:gdLst/>
            <a:ahLst/>
            <a:cxnLst/>
            <a:rect l="0" t="0" r="r" b="b"/>
            <a:pathLst>
              <a:path w="424" h="1483">
                <a:moveTo>
                  <a:pt x="424" y="0"/>
                </a:moveTo>
                <a:lnTo>
                  <a:pt x="424" y="1483"/>
                </a:lnTo>
                <a:lnTo>
                  <a:pt x="0" y="1483"/>
                </a:lnTo>
                <a:lnTo>
                  <a:pt x="0" y="0"/>
                </a:lnTo>
                <a:lnTo>
                  <a:pt x="424" y="0"/>
                </a:lnTo>
                <a:close/>
              </a:path>
            </a:pathLst>
          </a:custGeom>
          <a:solidFill>
            <a:srgbClr val="0054DC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任意多边形: 形状 88"/>
          <p:cNvSpPr/>
          <p:nvPr/>
        </p:nvSpPr>
        <p:spPr>
          <a:xfrm>
            <a:off x="1380960" y="1076040"/>
            <a:ext cx="152640" cy="533880"/>
          </a:xfrm>
          <a:custGeom>
            <a:avLst/>
            <a:gdLst/>
            <a:ahLst/>
            <a:cxnLst/>
            <a:rect l="0" t="0" r="r" b="b"/>
            <a:pathLst>
              <a:path w="424" h="1483">
                <a:moveTo>
                  <a:pt x="424" y="0"/>
                </a:moveTo>
                <a:lnTo>
                  <a:pt x="424" y="1483"/>
                </a:lnTo>
                <a:lnTo>
                  <a:pt x="0" y="1483"/>
                </a:lnTo>
                <a:lnTo>
                  <a:pt x="0" y="0"/>
                </a:lnTo>
                <a:lnTo>
                  <a:pt x="424" y="0"/>
                </a:lnTo>
                <a:close/>
              </a:path>
            </a:pathLst>
          </a:custGeom>
          <a:solidFill>
            <a:srgbClr val="0054D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任意多边形: 形状 89"/>
          <p:cNvSpPr/>
          <p:nvPr/>
        </p:nvSpPr>
        <p:spPr>
          <a:xfrm>
            <a:off x="1533240" y="1076040"/>
            <a:ext cx="153000" cy="533880"/>
          </a:xfrm>
          <a:custGeom>
            <a:avLst/>
            <a:gdLst/>
            <a:ahLst/>
            <a:cxnLst/>
            <a:rect l="0" t="0" r="r" b="b"/>
            <a:pathLst>
              <a:path w="425" h="1483">
                <a:moveTo>
                  <a:pt x="425" y="0"/>
                </a:moveTo>
                <a:lnTo>
                  <a:pt x="425" y="1483"/>
                </a:lnTo>
                <a:lnTo>
                  <a:pt x="0" y="1483"/>
                </a:lnTo>
                <a:lnTo>
                  <a:pt x="0" y="0"/>
                </a:lnTo>
                <a:lnTo>
                  <a:pt x="425" y="0"/>
                </a:lnTo>
                <a:close/>
              </a:path>
            </a:pathLst>
          </a:custGeom>
          <a:solidFill>
            <a:srgbClr val="0054D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任意多边形: 形状 90"/>
          <p:cNvSpPr/>
          <p:nvPr/>
        </p:nvSpPr>
        <p:spPr>
          <a:xfrm>
            <a:off x="1685880" y="1076040"/>
            <a:ext cx="152640" cy="533880"/>
          </a:xfrm>
          <a:custGeom>
            <a:avLst/>
            <a:gdLst/>
            <a:ahLst/>
            <a:cxnLst/>
            <a:rect l="0" t="0" r="r" b="b"/>
            <a:pathLst>
              <a:path w="424" h="1483">
                <a:moveTo>
                  <a:pt x="424" y="0"/>
                </a:moveTo>
                <a:lnTo>
                  <a:pt x="424" y="1483"/>
                </a:lnTo>
                <a:lnTo>
                  <a:pt x="0" y="1483"/>
                </a:lnTo>
                <a:lnTo>
                  <a:pt x="0" y="0"/>
                </a:lnTo>
                <a:lnTo>
                  <a:pt x="424" y="0"/>
                </a:lnTo>
                <a:close/>
              </a:path>
            </a:pathLst>
          </a:custGeom>
          <a:solidFill>
            <a:srgbClr val="0055DE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任意多边形: 形状 91"/>
          <p:cNvSpPr/>
          <p:nvPr/>
        </p:nvSpPr>
        <p:spPr>
          <a:xfrm>
            <a:off x="1838160" y="1076040"/>
            <a:ext cx="152640" cy="533880"/>
          </a:xfrm>
          <a:custGeom>
            <a:avLst/>
            <a:gdLst/>
            <a:ahLst/>
            <a:cxnLst/>
            <a:rect l="0" t="0" r="r" b="b"/>
            <a:pathLst>
              <a:path w="424" h="1483">
                <a:moveTo>
                  <a:pt x="424" y="0"/>
                </a:moveTo>
                <a:lnTo>
                  <a:pt x="424" y="1483"/>
                </a:lnTo>
                <a:lnTo>
                  <a:pt x="0" y="1483"/>
                </a:lnTo>
                <a:lnTo>
                  <a:pt x="0" y="0"/>
                </a:lnTo>
                <a:lnTo>
                  <a:pt x="424" y="0"/>
                </a:lnTo>
                <a:close/>
              </a:path>
            </a:pathLst>
          </a:custGeom>
          <a:solidFill>
            <a:srgbClr val="0055DE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任意多边形: 形状 92"/>
          <p:cNvSpPr/>
          <p:nvPr/>
        </p:nvSpPr>
        <p:spPr>
          <a:xfrm>
            <a:off x="1990440" y="1076040"/>
            <a:ext cx="153000" cy="533880"/>
          </a:xfrm>
          <a:custGeom>
            <a:avLst/>
            <a:gdLst/>
            <a:ahLst/>
            <a:cxnLst/>
            <a:rect l="0" t="0" r="r" b="b"/>
            <a:pathLst>
              <a:path w="425" h="1483">
                <a:moveTo>
                  <a:pt x="425" y="0"/>
                </a:moveTo>
                <a:lnTo>
                  <a:pt x="425" y="1483"/>
                </a:lnTo>
                <a:lnTo>
                  <a:pt x="0" y="1483"/>
                </a:lnTo>
                <a:lnTo>
                  <a:pt x="0" y="0"/>
                </a:lnTo>
                <a:lnTo>
                  <a:pt x="425" y="0"/>
                </a:lnTo>
                <a:close/>
              </a:path>
            </a:pathLst>
          </a:custGeom>
          <a:solidFill>
            <a:srgbClr val="0055D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任意多边形: 形状 93"/>
          <p:cNvSpPr/>
          <p:nvPr/>
        </p:nvSpPr>
        <p:spPr>
          <a:xfrm>
            <a:off x="2143080" y="1076040"/>
            <a:ext cx="152640" cy="533880"/>
          </a:xfrm>
          <a:custGeom>
            <a:avLst/>
            <a:gdLst/>
            <a:ahLst/>
            <a:cxnLst/>
            <a:rect l="0" t="0" r="r" b="b"/>
            <a:pathLst>
              <a:path w="424" h="1483">
                <a:moveTo>
                  <a:pt x="424" y="0"/>
                </a:moveTo>
                <a:lnTo>
                  <a:pt x="424" y="1483"/>
                </a:lnTo>
                <a:lnTo>
                  <a:pt x="0" y="1483"/>
                </a:lnTo>
                <a:lnTo>
                  <a:pt x="0" y="0"/>
                </a:lnTo>
                <a:lnTo>
                  <a:pt x="424" y="0"/>
                </a:lnTo>
                <a:close/>
              </a:path>
            </a:pathLst>
          </a:custGeom>
          <a:solidFill>
            <a:srgbClr val="0055D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任意多边形: 形状 94"/>
          <p:cNvSpPr/>
          <p:nvPr/>
        </p:nvSpPr>
        <p:spPr>
          <a:xfrm>
            <a:off x="2295360" y="1076040"/>
            <a:ext cx="152640" cy="533880"/>
          </a:xfrm>
          <a:custGeom>
            <a:avLst/>
            <a:gdLst/>
            <a:ahLst/>
            <a:cxnLst/>
            <a:rect l="0" t="0" r="r" b="b"/>
            <a:pathLst>
              <a:path w="424" h="1483">
                <a:moveTo>
                  <a:pt x="424" y="0"/>
                </a:moveTo>
                <a:lnTo>
                  <a:pt x="424" y="1483"/>
                </a:lnTo>
                <a:lnTo>
                  <a:pt x="0" y="1483"/>
                </a:lnTo>
                <a:lnTo>
                  <a:pt x="0" y="0"/>
                </a:lnTo>
                <a:lnTo>
                  <a:pt x="424" y="0"/>
                </a:lnTo>
                <a:close/>
              </a:path>
            </a:pathLst>
          </a:custGeom>
          <a:solidFill>
            <a:srgbClr val="0056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任意多边形: 形状 95"/>
          <p:cNvSpPr/>
          <p:nvPr/>
        </p:nvSpPr>
        <p:spPr>
          <a:xfrm>
            <a:off x="2447640" y="1076040"/>
            <a:ext cx="153000" cy="533880"/>
          </a:xfrm>
          <a:custGeom>
            <a:avLst/>
            <a:gdLst/>
            <a:ahLst/>
            <a:cxnLst/>
            <a:rect l="0" t="0" r="r" b="b"/>
            <a:pathLst>
              <a:path w="425" h="1483">
                <a:moveTo>
                  <a:pt x="425" y="0"/>
                </a:moveTo>
                <a:lnTo>
                  <a:pt x="425" y="1483"/>
                </a:lnTo>
                <a:lnTo>
                  <a:pt x="0" y="1483"/>
                </a:lnTo>
                <a:lnTo>
                  <a:pt x="0" y="0"/>
                </a:lnTo>
                <a:lnTo>
                  <a:pt x="425" y="0"/>
                </a:lnTo>
                <a:close/>
              </a:path>
            </a:pathLst>
          </a:custGeom>
          <a:solidFill>
            <a:srgbClr val="0056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任意多边形: 形状 96"/>
          <p:cNvSpPr/>
          <p:nvPr/>
        </p:nvSpPr>
        <p:spPr>
          <a:xfrm>
            <a:off x="2600280" y="1076040"/>
            <a:ext cx="152640" cy="533880"/>
          </a:xfrm>
          <a:custGeom>
            <a:avLst/>
            <a:gdLst/>
            <a:ahLst/>
            <a:cxnLst/>
            <a:rect l="0" t="0" r="r" b="b"/>
            <a:pathLst>
              <a:path w="424" h="1483">
                <a:moveTo>
                  <a:pt x="424" y="0"/>
                </a:moveTo>
                <a:lnTo>
                  <a:pt x="424" y="1483"/>
                </a:lnTo>
                <a:lnTo>
                  <a:pt x="0" y="1483"/>
                </a:lnTo>
                <a:lnTo>
                  <a:pt x="0" y="0"/>
                </a:lnTo>
                <a:lnTo>
                  <a:pt x="424" y="0"/>
                </a:lnTo>
                <a:close/>
              </a:path>
            </a:pathLst>
          </a:custGeom>
          <a:solidFill>
            <a:srgbClr val="0056E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任意多边形: 形状 97"/>
          <p:cNvSpPr/>
          <p:nvPr/>
        </p:nvSpPr>
        <p:spPr>
          <a:xfrm>
            <a:off x="2752560" y="1076040"/>
            <a:ext cx="190080" cy="533880"/>
          </a:xfrm>
          <a:custGeom>
            <a:avLst/>
            <a:gdLst/>
            <a:ahLst/>
            <a:cxnLst/>
            <a:rect l="0" t="0" r="r" b="b"/>
            <a:pathLst>
              <a:path w="528" h="1483">
                <a:moveTo>
                  <a:pt x="0" y="0"/>
                </a:moveTo>
                <a:lnTo>
                  <a:pt x="528" y="0"/>
                </a:lnTo>
                <a:lnTo>
                  <a:pt x="52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0056E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任意多边形: 形状 98"/>
          <p:cNvSpPr/>
          <p:nvPr/>
        </p:nvSpPr>
        <p:spPr>
          <a:xfrm>
            <a:off x="2942280" y="1076040"/>
            <a:ext cx="190440" cy="533880"/>
          </a:xfrm>
          <a:custGeom>
            <a:avLst/>
            <a:gdLst/>
            <a:ahLst/>
            <a:cxnLst/>
            <a:rect l="0" t="0" r="r" b="b"/>
            <a:pathLst>
              <a:path w="529" h="1483">
                <a:moveTo>
                  <a:pt x="0" y="0"/>
                </a:moveTo>
                <a:lnTo>
                  <a:pt x="529" y="0"/>
                </a:lnTo>
                <a:lnTo>
                  <a:pt x="529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0057E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任意多边形: 形状 99"/>
          <p:cNvSpPr/>
          <p:nvPr/>
        </p:nvSpPr>
        <p:spPr>
          <a:xfrm>
            <a:off x="3132360" y="1076040"/>
            <a:ext cx="190080" cy="533880"/>
          </a:xfrm>
          <a:custGeom>
            <a:avLst/>
            <a:gdLst/>
            <a:ahLst/>
            <a:cxnLst/>
            <a:rect l="0" t="0" r="r" b="b"/>
            <a:pathLst>
              <a:path w="528" h="1483">
                <a:moveTo>
                  <a:pt x="0" y="0"/>
                </a:moveTo>
                <a:lnTo>
                  <a:pt x="528" y="0"/>
                </a:lnTo>
                <a:lnTo>
                  <a:pt x="52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0057E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任意多边形: 形状 100"/>
          <p:cNvSpPr/>
          <p:nvPr/>
        </p:nvSpPr>
        <p:spPr>
          <a:xfrm>
            <a:off x="3322080" y="1076040"/>
            <a:ext cx="190440" cy="533880"/>
          </a:xfrm>
          <a:custGeom>
            <a:avLst/>
            <a:gdLst/>
            <a:ahLst/>
            <a:cxnLst/>
            <a:rect l="0" t="0" r="r" b="b"/>
            <a:pathLst>
              <a:path w="529" h="1483">
                <a:moveTo>
                  <a:pt x="0" y="0"/>
                </a:moveTo>
                <a:lnTo>
                  <a:pt x="529" y="0"/>
                </a:lnTo>
                <a:lnTo>
                  <a:pt x="529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0057E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任意多边形: 形状 101"/>
          <p:cNvSpPr/>
          <p:nvPr/>
        </p:nvSpPr>
        <p:spPr>
          <a:xfrm>
            <a:off x="3512160" y="1076040"/>
            <a:ext cx="190440" cy="533880"/>
          </a:xfrm>
          <a:custGeom>
            <a:avLst/>
            <a:gdLst/>
            <a:ahLst/>
            <a:cxnLst/>
            <a:rect l="0" t="0" r="r" b="b"/>
            <a:pathLst>
              <a:path w="529" h="1483">
                <a:moveTo>
                  <a:pt x="0" y="0"/>
                </a:moveTo>
                <a:lnTo>
                  <a:pt x="529" y="0"/>
                </a:lnTo>
                <a:lnTo>
                  <a:pt x="529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0058E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任意多边形: 形状 102"/>
          <p:cNvSpPr/>
          <p:nvPr/>
        </p:nvSpPr>
        <p:spPr>
          <a:xfrm>
            <a:off x="3702240" y="1076040"/>
            <a:ext cx="190080" cy="533880"/>
          </a:xfrm>
          <a:custGeom>
            <a:avLst/>
            <a:gdLst/>
            <a:ahLst/>
            <a:cxnLst/>
            <a:rect l="0" t="0" r="r" b="b"/>
            <a:pathLst>
              <a:path w="528" h="1483">
                <a:moveTo>
                  <a:pt x="0" y="0"/>
                </a:moveTo>
                <a:lnTo>
                  <a:pt x="528" y="0"/>
                </a:lnTo>
                <a:lnTo>
                  <a:pt x="52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0058E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任意多边形: 形状 103"/>
          <p:cNvSpPr/>
          <p:nvPr/>
        </p:nvSpPr>
        <p:spPr>
          <a:xfrm>
            <a:off x="3891960" y="1076040"/>
            <a:ext cx="190440" cy="533880"/>
          </a:xfrm>
          <a:custGeom>
            <a:avLst/>
            <a:gdLst/>
            <a:ahLst/>
            <a:cxnLst/>
            <a:rect l="0" t="0" r="r" b="b"/>
            <a:pathLst>
              <a:path w="529" h="1483">
                <a:moveTo>
                  <a:pt x="0" y="0"/>
                </a:moveTo>
                <a:lnTo>
                  <a:pt x="529" y="0"/>
                </a:lnTo>
                <a:lnTo>
                  <a:pt x="529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0058E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任意多边形: 形状 104"/>
          <p:cNvSpPr/>
          <p:nvPr/>
        </p:nvSpPr>
        <p:spPr>
          <a:xfrm>
            <a:off x="4082040" y="1076040"/>
            <a:ext cx="190080" cy="533880"/>
          </a:xfrm>
          <a:custGeom>
            <a:avLst/>
            <a:gdLst/>
            <a:ahLst/>
            <a:cxnLst/>
            <a:rect l="0" t="0" r="r" b="b"/>
            <a:pathLst>
              <a:path w="528" h="1483">
                <a:moveTo>
                  <a:pt x="0" y="0"/>
                </a:moveTo>
                <a:lnTo>
                  <a:pt x="528" y="0"/>
                </a:lnTo>
                <a:lnTo>
                  <a:pt x="52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0059E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任意多边形: 形状 105"/>
          <p:cNvSpPr/>
          <p:nvPr/>
        </p:nvSpPr>
        <p:spPr>
          <a:xfrm>
            <a:off x="4271760" y="1076040"/>
            <a:ext cx="190440" cy="533880"/>
          </a:xfrm>
          <a:custGeom>
            <a:avLst/>
            <a:gdLst/>
            <a:ahLst/>
            <a:cxnLst/>
            <a:rect l="0" t="0" r="r" b="b"/>
            <a:pathLst>
              <a:path w="529" h="1483">
                <a:moveTo>
                  <a:pt x="0" y="0"/>
                </a:moveTo>
                <a:lnTo>
                  <a:pt x="529" y="0"/>
                </a:lnTo>
                <a:lnTo>
                  <a:pt x="529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0059E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任意多边形: 形状 106"/>
          <p:cNvSpPr/>
          <p:nvPr/>
        </p:nvSpPr>
        <p:spPr>
          <a:xfrm>
            <a:off x="4461840" y="1076040"/>
            <a:ext cx="190080" cy="533880"/>
          </a:xfrm>
          <a:custGeom>
            <a:avLst/>
            <a:gdLst/>
            <a:ahLst/>
            <a:cxnLst/>
            <a:rect l="0" t="0" r="r" b="b"/>
            <a:pathLst>
              <a:path w="528" h="1483">
                <a:moveTo>
                  <a:pt x="0" y="0"/>
                </a:moveTo>
                <a:lnTo>
                  <a:pt x="528" y="0"/>
                </a:lnTo>
                <a:lnTo>
                  <a:pt x="52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0059E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任意多边形: 形状 107"/>
          <p:cNvSpPr/>
          <p:nvPr/>
        </p:nvSpPr>
        <p:spPr>
          <a:xfrm>
            <a:off x="4651560" y="1076040"/>
            <a:ext cx="190440" cy="533880"/>
          </a:xfrm>
          <a:custGeom>
            <a:avLst/>
            <a:gdLst/>
            <a:ahLst/>
            <a:cxnLst/>
            <a:rect l="0" t="0" r="r" b="b"/>
            <a:pathLst>
              <a:path w="529" h="1483">
                <a:moveTo>
                  <a:pt x="0" y="0"/>
                </a:moveTo>
                <a:lnTo>
                  <a:pt x="529" y="0"/>
                </a:lnTo>
                <a:lnTo>
                  <a:pt x="529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005AE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任意多边形: 形状 108"/>
          <p:cNvSpPr/>
          <p:nvPr/>
        </p:nvSpPr>
        <p:spPr>
          <a:xfrm>
            <a:off x="4841640" y="1076040"/>
            <a:ext cx="190080" cy="533880"/>
          </a:xfrm>
          <a:custGeom>
            <a:avLst/>
            <a:gdLst/>
            <a:ahLst/>
            <a:cxnLst/>
            <a:rect l="0" t="0" r="r" b="b"/>
            <a:pathLst>
              <a:path w="528" h="1483">
                <a:moveTo>
                  <a:pt x="0" y="0"/>
                </a:moveTo>
                <a:lnTo>
                  <a:pt x="528" y="0"/>
                </a:lnTo>
                <a:lnTo>
                  <a:pt x="52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005AE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任意多边形: 形状 109"/>
          <p:cNvSpPr/>
          <p:nvPr/>
        </p:nvSpPr>
        <p:spPr>
          <a:xfrm>
            <a:off x="5031360" y="1076040"/>
            <a:ext cx="190440" cy="533880"/>
          </a:xfrm>
          <a:custGeom>
            <a:avLst/>
            <a:gdLst/>
            <a:ahLst/>
            <a:cxnLst/>
            <a:rect l="0" t="0" r="r" b="b"/>
            <a:pathLst>
              <a:path w="529" h="1483">
                <a:moveTo>
                  <a:pt x="0" y="0"/>
                </a:moveTo>
                <a:lnTo>
                  <a:pt x="529" y="0"/>
                </a:lnTo>
                <a:lnTo>
                  <a:pt x="529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005AE9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任意多边形: 形状 110"/>
          <p:cNvSpPr/>
          <p:nvPr/>
        </p:nvSpPr>
        <p:spPr>
          <a:xfrm>
            <a:off x="5221440" y="1076040"/>
            <a:ext cx="190080" cy="533880"/>
          </a:xfrm>
          <a:custGeom>
            <a:avLst/>
            <a:gdLst/>
            <a:ahLst/>
            <a:cxnLst/>
            <a:rect l="0" t="0" r="r" b="b"/>
            <a:pathLst>
              <a:path w="528" h="1483">
                <a:moveTo>
                  <a:pt x="0" y="0"/>
                </a:moveTo>
                <a:lnTo>
                  <a:pt x="528" y="0"/>
                </a:lnTo>
                <a:lnTo>
                  <a:pt x="52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005BE9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任意多边形: 形状 111"/>
          <p:cNvSpPr/>
          <p:nvPr/>
        </p:nvSpPr>
        <p:spPr>
          <a:xfrm>
            <a:off x="5411160" y="1076040"/>
            <a:ext cx="190440" cy="533880"/>
          </a:xfrm>
          <a:custGeom>
            <a:avLst/>
            <a:gdLst/>
            <a:ahLst/>
            <a:cxnLst/>
            <a:rect l="0" t="0" r="r" b="b"/>
            <a:pathLst>
              <a:path w="529" h="1483">
                <a:moveTo>
                  <a:pt x="0" y="0"/>
                </a:moveTo>
                <a:lnTo>
                  <a:pt x="529" y="0"/>
                </a:lnTo>
                <a:lnTo>
                  <a:pt x="529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005BE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任意多边形: 形状 112"/>
          <p:cNvSpPr/>
          <p:nvPr/>
        </p:nvSpPr>
        <p:spPr>
          <a:xfrm>
            <a:off x="5601240" y="1076040"/>
            <a:ext cx="190080" cy="533880"/>
          </a:xfrm>
          <a:custGeom>
            <a:avLst/>
            <a:gdLst/>
            <a:ahLst/>
            <a:cxnLst/>
            <a:rect l="0" t="0" r="r" b="b"/>
            <a:pathLst>
              <a:path w="528" h="1483">
                <a:moveTo>
                  <a:pt x="0" y="0"/>
                </a:moveTo>
                <a:lnTo>
                  <a:pt x="528" y="0"/>
                </a:lnTo>
                <a:lnTo>
                  <a:pt x="52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005B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任意多边形: 形状 113"/>
          <p:cNvSpPr/>
          <p:nvPr/>
        </p:nvSpPr>
        <p:spPr>
          <a:xfrm>
            <a:off x="5790960" y="1076040"/>
            <a:ext cx="190800" cy="533880"/>
          </a:xfrm>
          <a:custGeom>
            <a:avLst/>
            <a:gdLst/>
            <a:ahLst/>
            <a:cxnLst/>
            <a:rect l="0" t="0" r="r" b="b"/>
            <a:pathLst>
              <a:path w="530" h="1483">
                <a:moveTo>
                  <a:pt x="0" y="0"/>
                </a:moveTo>
                <a:lnTo>
                  <a:pt x="530" y="0"/>
                </a:lnTo>
                <a:lnTo>
                  <a:pt x="530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005C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任意多边形: 形状 114"/>
          <p:cNvSpPr/>
          <p:nvPr/>
        </p:nvSpPr>
        <p:spPr>
          <a:xfrm>
            <a:off x="5981400" y="1076040"/>
            <a:ext cx="190800" cy="533880"/>
          </a:xfrm>
          <a:custGeom>
            <a:avLst/>
            <a:gdLst/>
            <a:ahLst/>
            <a:cxnLst/>
            <a:rect l="0" t="0" r="r" b="b"/>
            <a:pathLst>
              <a:path w="530" h="1483">
                <a:moveTo>
                  <a:pt x="0" y="0"/>
                </a:moveTo>
                <a:lnTo>
                  <a:pt x="530" y="0"/>
                </a:lnTo>
                <a:lnTo>
                  <a:pt x="530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005CEC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任意多边形: 形状 115"/>
          <p:cNvSpPr/>
          <p:nvPr/>
        </p:nvSpPr>
        <p:spPr>
          <a:xfrm>
            <a:off x="6171840" y="1076040"/>
            <a:ext cx="191160" cy="533880"/>
          </a:xfrm>
          <a:custGeom>
            <a:avLst/>
            <a:gdLst/>
            <a:ahLst/>
            <a:cxnLst/>
            <a:rect l="0" t="0" r="r" b="b"/>
            <a:pathLst>
              <a:path w="531" h="1483">
                <a:moveTo>
                  <a:pt x="0" y="0"/>
                </a:moveTo>
                <a:lnTo>
                  <a:pt x="531" y="0"/>
                </a:lnTo>
                <a:lnTo>
                  <a:pt x="531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005CE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任意多边形: 形状 116"/>
          <p:cNvSpPr/>
          <p:nvPr/>
        </p:nvSpPr>
        <p:spPr>
          <a:xfrm>
            <a:off x="6362640" y="1076040"/>
            <a:ext cx="190800" cy="533880"/>
          </a:xfrm>
          <a:custGeom>
            <a:avLst/>
            <a:gdLst/>
            <a:ahLst/>
            <a:cxnLst/>
            <a:rect l="0" t="0" r="r" b="b"/>
            <a:pathLst>
              <a:path w="530" h="1483">
                <a:moveTo>
                  <a:pt x="0" y="0"/>
                </a:moveTo>
                <a:lnTo>
                  <a:pt x="530" y="0"/>
                </a:lnTo>
                <a:lnTo>
                  <a:pt x="530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005DE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任意多边形: 形状 117"/>
          <p:cNvSpPr/>
          <p:nvPr/>
        </p:nvSpPr>
        <p:spPr>
          <a:xfrm>
            <a:off x="6553080" y="1076040"/>
            <a:ext cx="190800" cy="533880"/>
          </a:xfrm>
          <a:custGeom>
            <a:avLst/>
            <a:gdLst/>
            <a:ahLst/>
            <a:cxnLst/>
            <a:rect l="0" t="0" r="r" b="b"/>
            <a:pathLst>
              <a:path w="530" h="1483">
                <a:moveTo>
                  <a:pt x="0" y="0"/>
                </a:moveTo>
                <a:lnTo>
                  <a:pt x="530" y="0"/>
                </a:lnTo>
                <a:lnTo>
                  <a:pt x="530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005DEE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任意多边形: 形状 118"/>
          <p:cNvSpPr/>
          <p:nvPr/>
        </p:nvSpPr>
        <p:spPr>
          <a:xfrm>
            <a:off x="6743520" y="1076040"/>
            <a:ext cx="190800" cy="533880"/>
          </a:xfrm>
          <a:custGeom>
            <a:avLst/>
            <a:gdLst/>
            <a:ahLst/>
            <a:cxnLst/>
            <a:rect l="0" t="0" r="r" b="b"/>
            <a:pathLst>
              <a:path w="530" h="1483">
                <a:moveTo>
                  <a:pt x="0" y="0"/>
                </a:moveTo>
                <a:lnTo>
                  <a:pt x="530" y="0"/>
                </a:lnTo>
                <a:lnTo>
                  <a:pt x="530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005DEE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任意多边形: 形状 119"/>
          <p:cNvSpPr/>
          <p:nvPr/>
        </p:nvSpPr>
        <p:spPr>
          <a:xfrm>
            <a:off x="6933960" y="1076040"/>
            <a:ext cx="190800" cy="533880"/>
          </a:xfrm>
          <a:custGeom>
            <a:avLst/>
            <a:gdLst/>
            <a:ahLst/>
            <a:cxnLst/>
            <a:rect l="0" t="0" r="r" b="b"/>
            <a:pathLst>
              <a:path w="530" h="1483">
                <a:moveTo>
                  <a:pt x="0" y="0"/>
                </a:moveTo>
                <a:lnTo>
                  <a:pt x="530" y="0"/>
                </a:lnTo>
                <a:lnTo>
                  <a:pt x="530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005EE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任意多边形: 形状 120"/>
          <p:cNvSpPr/>
          <p:nvPr/>
        </p:nvSpPr>
        <p:spPr>
          <a:xfrm>
            <a:off x="7124400" y="1076040"/>
            <a:ext cx="190800" cy="533880"/>
          </a:xfrm>
          <a:custGeom>
            <a:avLst/>
            <a:gdLst/>
            <a:ahLst/>
            <a:cxnLst/>
            <a:rect l="0" t="0" r="r" b="b"/>
            <a:pathLst>
              <a:path w="530" h="1483">
                <a:moveTo>
                  <a:pt x="0" y="0"/>
                </a:moveTo>
                <a:lnTo>
                  <a:pt x="530" y="0"/>
                </a:lnTo>
                <a:lnTo>
                  <a:pt x="530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005EF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任意多边形: 形状 121"/>
          <p:cNvSpPr/>
          <p:nvPr/>
        </p:nvSpPr>
        <p:spPr>
          <a:xfrm>
            <a:off x="7314840" y="1076040"/>
            <a:ext cx="191160" cy="533880"/>
          </a:xfrm>
          <a:custGeom>
            <a:avLst/>
            <a:gdLst/>
            <a:ahLst/>
            <a:cxnLst/>
            <a:rect l="0" t="0" r="r" b="b"/>
            <a:pathLst>
              <a:path w="531" h="1483">
                <a:moveTo>
                  <a:pt x="0" y="0"/>
                </a:moveTo>
                <a:lnTo>
                  <a:pt x="531" y="0"/>
                </a:lnTo>
                <a:lnTo>
                  <a:pt x="531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005EF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任意多边形: 形状 122"/>
          <p:cNvSpPr/>
          <p:nvPr/>
        </p:nvSpPr>
        <p:spPr>
          <a:xfrm>
            <a:off x="7505640" y="1076040"/>
            <a:ext cx="190800" cy="533880"/>
          </a:xfrm>
          <a:custGeom>
            <a:avLst/>
            <a:gdLst/>
            <a:ahLst/>
            <a:cxnLst/>
            <a:rect l="0" t="0" r="r" b="b"/>
            <a:pathLst>
              <a:path w="530" h="1483">
                <a:moveTo>
                  <a:pt x="0" y="0"/>
                </a:moveTo>
                <a:lnTo>
                  <a:pt x="530" y="0"/>
                </a:lnTo>
                <a:lnTo>
                  <a:pt x="530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005FF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任意多边形: 形状 123"/>
          <p:cNvSpPr/>
          <p:nvPr/>
        </p:nvSpPr>
        <p:spPr>
          <a:xfrm>
            <a:off x="7696080" y="1076040"/>
            <a:ext cx="190800" cy="533880"/>
          </a:xfrm>
          <a:custGeom>
            <a:avLst/>
            <a:gdLst/>
            <a:ahLst/>
            <a:cxnLst/>
            <a:rect l="0" t="0" r="r" b="b"/>
            <a:pathLst>
              <a:path w="530" h="1483">
                <a:moveTo>
                  <a:pt x="0" y="0"/>
                </a:moveTo>
                <a:lnTo>
                  <a:pt x="530" y="0"/>
                </a:lnTo>
                <a:lnTo>
                  <a:pt x="530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005FF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任意多边形: 形状 124"/>
          <p:cNvSpPr/>
          <p:nvPr/>
        </p:nvSpPr>
        <p:spPr>
          <a:xfrm>
            <a:off x="7886520" y="1076040"/>
            <a:ext cx="190800" cy="533880"/>
          </a:xfrm>
          <a:custGeom>
            <a:avLst/>
            <a:gdLst/>
            <a:ahLst/>
            <a:cxnLst/>
            <a:rect l="0" t="0" r="r" b="b"/>
            <a:pathLst>
              <a:path w="530" h="1483">
                <a:moveTo>
                  <a:pt x="0" y="0"/>
                </a:moveTo>
                <a:lnTo>
                  <a:pt x="530" y="0"/>
                </a:lnTo>
                <a:lnTo>
                  <a:pt x="530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005FF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任意多边形: 形状 125"/>
          <p:cNvSpPr/>
          <p:nvPr/>
        </p:nvSpPr>
        <p:spPr>
          <a:xfrm>
            <a:off x="8076960" y="1076040"/>
            <a:ext cx="190800" cy="533880"/>
          </a:xfrm>
          <a:custGeom>
            <a:avLst/>
            <a:gdLst/>
            <a:ahLst/>
            <a:cxnLst/>
            <a:rect l="0" t="0" r="r" b="b"/>
            <a:pathLst>
              <a:path w="530" h="1483">
                <a:moveTo>
                  <a:pt x="0" y="0"/>
                </a:moveTo>
                <a:lnTo>
                  <a:pt x="530" y="0"/>
                </a:lnTo>
                <a:lnTo>
                  <a:pt x="530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0060F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任意多边形: 形状 126"/>
          <p:cNvSpPr/>
          <p:nvPr/>
        </p:nvSpPr>
        <p:spPr>
          <a:xfrm>
            <a:off x="8267400" y="1076040"/>
            <a:ext cx="190800" cy="533880"/>
          </a:xfrm>
          <a:custGeom>
            <a:avLst/>
            <a:gdLst/>
            <a:ahLst/>
            <a:cxnLst/>
            <a:rect l="0" t="0" r="r" b="b"/>
            <a:pathLst>
              <a:path w="530" h="1483">
                <a:moveTo>
                  <a:pt x="0" y="0"/>
                </a:moveTo>
                <a:lnTo>
                  <a:pt x="530" y="0"/>
                </a:lnTo>
                <a:lnTo>
                  <a:pt x="530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0060F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任意多边形: 形状 127"/>
          <p:cNvSpPr/>
          <p:nvPr/>
        </p:nvSpPr>
        <p:spPr>
          <a:xfrm>
            <a:off x="8457840" y="1076040"/>
            <a:ext cx="191160" cy="533880"/>
          </a:xfrm>
          <a:custGeom>
            <a:avLst/>
            <a:gdLst/>
            <a:ahLst/>
            <a:cxnLst/>
            <a:rect l="0" t="0" r="r" b="b"/>
            <a:pathLst>
              <a:path w="531" h="1483">
                <a:moveTo>
                  <a:pt x="0" y="0"/>
                </a:moveTo>
                <a:lnTo>
                  <a:pt x="531" y="0"/>
                </a:lnTo>
                <a:lnTo>
                  <a:pt x="531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0060F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任意多边形: 形状 128"/>
          <p:cNvSpPr/>
          <p:nvPr/>
        </p:nvSpPr>
        <p:spPr>
          <a:xfrm>
            <a:off x="8648640" y="1076040"/>
            <a:ext cx="190800" cy="533880"/>
          </a:xfrm>
          <a:custGeom>
            <a:avLst/>
            <a:gdLst/>
            <a:ahLst/>
            <a:cxnLst/>
            <a:rect l="0" t="0" r="r" b="b"/>
            <a:pathLst>
              <a:path w="530" h="1483">
                <a:moveTo>
                  <a:pt x="0" y="0"/>
                </a:moveTo>
                <a:lnTo>
                  <a:pt x="530" y="0"/>
                </a:lnTo>
                <a:lnTo>
                  <a:pt x="530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0061F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任意多边形: 形状 129"/>
          <p:cNvSpPr/>
          <p:nvPr/>
        </p:nvSpPr>
        <p:spPr>
          <a:xfrm>
            <a:off x="8839080" y="1076040"/>
            <a:ext cx="190080" cy="533880"/>
          </a:xfrm>
          <a:custGeom>
            <a:avLst/>
            <a:gdLst/>
            <a:ahLst/>
            <a:cxnLst/>
            <a:rect l="0" t="0" r="r" b="b"/>
            <a:pathLst>
              <a:path w="528" h="1483">
                <a:moveTo>
                  <a:pt x="0" y="1483"/>
                </a:moveTo>
                <a:lnTo>
                  <a:pt x="0" y="0"/>
                </a:lnTo>
                <a:lnTo>
                  <a:pt x="528" y="0"/>
                </a:lnTo>
                <a:lnTo>
                  <a:pt x="528" y="1483"/>
                </a:lnTo>
                <a:lnTo>
                  <a:pt x="0" y="1483"/>
                </a:lnTo>
                <a:close/>
              </a:path>
            </a:pathLst>
          </a:custGeom>
          <a:solidFill>
            <a:srgbClr val="0061F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任意多边形: 形状 130"/>
          <p:cNvSpPr/>
          <p:nvPr/>
        </p:nvSpPr>
        <p:spPr>
          <a:xfrm>
            <a:off x="9028800" y="1076040"/>
            <a:ext cx="190440" cy="533880"/>
          </a:xfrm>
          <a:custGeom>
            <a:avLst/>
            <a:gdLst/>
            <a:ahLst/>
            <a:cxnLst/>
            <a:rect l="0" t="0" r="r" b="b"/>
            <a:pathLst>
              <a:path w="529" h="1483">
                <a:moveTo>
                  <a:pt x="0" y="1483"/>
                </a:moveTo>
                <a:lnTo>
                  <a:pt x="0" y="0"/>
                </a:lnTo>
                <a:lnTo>
                  <a:pt x="529" y="0"/>
                </a:lnTo>
                <a:lnTo>
                  <a:pt x="529" y="1483"/>
                </a:lnTo>
                <a:lnTo>
                  <a:pt x="0" y="1483"/>
                </a:lnTo>
                <a:close/>
              </a:path>
            </a:pathLst>
          </a:custGeom>
          <a:solidFill>
            <a:srgbClr val="0061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任意多边形: 形状 131"/>
          <p:cNvSpPr/>
          <p:nvPr/>
        </p:nvSpPr>
        <p:spPr>
          <a:xfrm>
            <a:off x="9218880" y="1076040"/>
            <a:ext cx="190080" cy="533880"/>
          </a:xfrm>
          <a:custGeom>
            <a:avLst/>
            <a:gdLst/>
            <a:ahLst/>
            <a:cxnLst/>
            <a:rect l="0" t="0" r="r" b="b"/>
            <a:pathLst>
              <a:path w="528" h="1483">
                <a:moveTo>
                  <a:pt x="0" y="1483"/>
                </a:moveTo>
                <a:lnTo>
                  <a:pt x="0" y="0"/>
                </a:lnTo>
                <a:lnTo>
                  <a:pt x="528" y="0"/>
                </a:lnTo>
                <a:lnTo>
                  <a:pt x="528" y="1483"/>
                </a:lnTo>
                <a:lnTo>
                  <a:pt x="0" y="1483"/>
                </a:lnTo>
                <a:close/>
              </a:path>
            </a:pathLst>
          </a:custGeom>
          <a:solidFill>
            <a:srgbClr val="0062F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任意多边形: 形状 132"/>
          <p:cNvSpPr/>
          <p:nvPr/>
        </p:nvSpPr>
        <p:spPr>
          <a:xfrm>
            <a:off x="9408600" y="1076040"/>
            <a:ext cx="190440" cy="533880"/>
          </a:xfrm>
          <a:custGeom>
            <a:avLst/>
            <a:gdLst/>
            <a:ahLst/>
            <a:cxnLst/>
            <a:rect l="0" t="0" r="r" b="b"/>
            <a:pathLst>
              <a:path w="529" h="1483">
                <a:moveTo>
                  <a:pt x="0" y="1483"/>
                </a:moveTo>
                <a:lnTo>
                  <a:pt x="0" y="0"/>
                </a:lnTo>
                <a:lnTo>
                  <a:pt x="529" y="0"/>
                </a:lnTo>
                <a:lnTo>
                  <a:pt x="529" y="1483"/>
                </a:lnTo>
                <a:lnTo>
                  <a:pt x="0" y="1483"/>
                </a:lnTo>
                <a:close/>
              </a:path>
            </a:pathLst>
          </a:custGeom>
          <a:solidFill>
            <a:srgbClr val="0062F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任意多边形: 形状 133"/>
          <p:cNvSpPr/>
          <p:nvPr/>
        </p:nvSpPr>
        <p:spPr>
          <a:xfrm>
            <a:off x="9598680" y="1076040"/>
            <a:ext cx="190080" cy="533880"/>
          </a:xfrm>
          <a:custGeom>
            <a:avLst/>
            <a:gdLst/>
            <a:ahLst/>
            <a:cxnLst/>
            <a:rect l="0" t="0" r="r" b="b"/>
            <a:pathLst>
              <a:path w="528" h="1483">
                <a:moveTo>
                  <a:pt x="0" y="1483"/>
                </a:moveTo>
                <a:lnTo>
                  <a:pt x="0" y="0"/>
                </a:lnTo>
                <a:lnTo>
                  <a:pt x="528" y="0"/>
                </a:lnTo>
                <a:lnTo>
                  <a:pt x="528" y="1483"/>
                </a:lnTo>
                <a:lnTo>
                  <a:pt x="0" y="1483"/>
                </a:lnTo>
                <a:close/>
              </a:path>
            </a:pathLst>
          </a:custGeom>
          <a:solidFill>
            <a:srgbClr val="0062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任意多边形: 形状 134"/>
          <p:cNvSpPr/>
          <p:nvPr/>
        </p:nvSpPr>
        <p:spPr>
          <a:xfrm>
            <a:off x="9788400" y="1076040"/>
            <a:ext cx="190440" cy="533880"/>
          </a:xfrm>
          <a:custGeom>
            <a:avLst/>
            <a:gdLst/>
            <a:ahLst/>
            <a:cxnLst/>
            <a:rect l="0" t="0" r="r" b="b"/>
            <a:pathLst>
              <a:path w="529" h="1483">
                <a:moveTo>
                  <a:pt x="0" y="1483"/>
                </a:moveTo>
                <a:lnTo>
                  <a:pt x="0" y="0"/>
                </a:lnTo>
                <a:lnTo>
                  <a:pt x="529" y="0"/>
                </a:lnTo>
                <a:lnTo>
                  <a:pt x="529" y="1483"/>
                </a:lnTo>
                <a:lnTo>
                  <a:pt x="0" y="1483"/>
                </a:lnTo>
                <a:close/>
              </a:path>
            </a:pathLst>
          </a:custGeom>
          <a:solidFill>
            <a:srgbClr val="0063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任意多边形: 形状 135"/>
          <p:cNvSpPr/>
          <p:nvPr/>
        </p:nvSpPr>
        <p:spPr>
          <a:xfrm>
            <a:off x="9978480" y="1076040"/>
            <a:ext cx="190080" cy="533880"/>
          </a:xfrm>
          <a:custGeom>
            <a:avLst/>
            <a:gdLst/>
            <a:ahLst/>
            <a:cxnLst/>
            <a:rect l="0" t="0" r="r" b="b"/>
            <a:pathLst>
              <a:path w="528" h="1483">
                <a:moveTo>
                  <a:pt x="0" y="1483"/>
                </a:moveTo>
                <a:lnTo>
                  <a:pt x="0" y="0"/>
                </a:lnTo>
                <a:lnTo>
                  <a:pt x="528" y="0"/>
                </a:lnTo>
                <a:lnTo>
                  <a:pt x="528" y="1483"/>
                </a:lnTo>
                <a:lnTo>
                  <a:pt x="0" y="1483"/>
                </a:lnTo>
                <a:close/>
              </a:path>
            </a:pathLst>
          </a:custGeom>
          <a:solidFill>
            <a:srgbClr val="0063F9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任意多边形: 形状 136"/>
          <p:cNvSpPr/>
          <p:nvPr/>
        </p:nvSpPr>
        <p:spPr>
          <a:xfrm>
            <a:off x="10168200" y="1076040"/>
            <a:ext cx="190440" cy="533880"/>
          </a:xfrm>
          <a:custGeom>
            <a:avLst/>
            <a:gdLst/>
            <a:ahLst/>
            <a:cxnLst/>
            <a:rect l="0" t="0" r="r" b="b"/>
            <a:pathLst>
              <a:path w="529" h="1483">
                <a:moveTo>
                  <a:pt x="0" y="1483"/>
                </a:moveTo>
                <a:lnTo>
                  <a:pt x="0" y="0"/>
                </a:lnTo>
                <a:lnTo>
                  <a:pt x="529" y="0"/>
                </a:lnTo>
                <a:lnTo>
                  <a:pt x="529" y="1483"/>
                </a:lnTo>
                <a:lnTo>
                  <a:pt x="0" y="1483"/>
                </a:lnTo>
                <a:close/>
              </a:path>
            </a:pathLst>
          </a:custGeom>
          <a:solidFill>
            <a:srgbClr val="0063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任意多边形: 形状 137"/>
          <p:cNvSpPr/>
          <p:nvPr/>
        </p:nvSpPr>
        <p:spPr>
          <a:xfrm>
            <a:off x="10358280" y="1076040"/>
            <a:ext cx="190080" cy="533880"/>
          </a:xfrm>
          <a:custGeom>
            <a:avLst/>
            <a:gdLst/>
            <a:ahLst/>
            <a:cxnLst/>
            <a:rect l="0" t="0" r="r" b="b"/>
            <a:pathLst>
              <a:path w="528" h="1483">
                <a:moveTo>
                  <a:pt x="0" y="1483"/>
                </a:moveTo>
                <a:lnTo>
                  <a:pt x="0" y="0"/>
                </a:lnTo>
                <a:lnTo>
                  <a:pt x="528" y="0"/>
                </a:lnTo>
                <a:lnTo>
                  <a:pt x="528" y="1483"/>
                </a:lnTo>
                <a:lnTo>
                  <a:pt x="0" y="1483"/>
                </a:lnTo>
                <a:close/>
              </a:path>
            </a:pathLst>
          </a:custGeom>
          <a:solidFill>
            <a:srgbClr val="0064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任意多边形: 形状 138"/>
          <p:cNvSpPr/>
          <p:nvPr/>
        </p:nvSpPr>
        <p:spPr>
          <a:xfrm>
            <a:off x="10548000" y="1076040"/>
            <a:ext cx="190440" cy="533880"/>
          </a:xfrm>
          <a:custGeom>
            <a:avLst/>
            <a:gdLst/>
            <a:ahLst/>
            <a:cxnLst/>
            <a:rect l="0" t="0" r="r" b="b"/>
            <a:pathLst>
              <a:path w="529" h="1483">
                <a:moveTo>
                  <a:pt x="0" y="1483"/>
                </a:moveTo>
                <a:lnTo>
                  <a:pt x="0" y="0"/>
                </a:lnTo>
                <a:lnTo>
                  <a:pt x="529" y="0"/>
                </a:lnTo>
                <a:lnTo>
                  <a:pt x="529" y="1483"/>
                </a:lnTo>
                <a:lnTo>
                  <a:pt x="0" y="1483"/>
                </a:lnTo>
                <a:close/>
              </a:path>
            </a:pathLst>
          </a:custGeom>
          <a:solidFill>
            <a:srgbClr val="0064F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任意多边形: 形状 139"/>
          <p:cNvSpPr/>
          <p:nvPr/>
        </p:nvSpPr>
        <p:spPr>
          <a:xfrm>
            <a:off x="10738080" y="1076040"/>
            <a:ext cx="190080" cy="533880"/>
          </a:xfrm>
          <a:custGeom>
            <a:avLst/>
            <a:gdLst/>
            <a:ahLst/>
            <a:cxnLst/>
            <a:rect l="0" t="0" r="r" b="b"/>
            <a:pathLst>
              <a:path w="528" h="1483">
                <a:moveTo>
                  <a:pt x="0" y="1483"/>
                </a:moveTo>
                <a:lnTo>
                  <a:pt x="0" y="0"/>
                </a:lnTo>
                <a:lnTo>
                  <a:pt x="528" y="0"/>
                </a:lnTo>
                <a:lnTo>
                  <a:pt x="528" y="1483"/>
                </a:lnTo>
                <a:lnTo>
                  <a:pt x="0" y="1483"/>
                </a:lnTo>
                <a:close/>
              </a:path>
            </a:pathLst>
          </a:custGeom>
          <a:solidFill>
            <a:srgbClr val="0064FC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任意多边形: 形状 140"/>
          <p:cNvSpPr/>
          <p:nvPr/>
        </p:nvSpPr>
        <p:spPr>
          <a:xfrm>
            <a:off x="10927800" y="1076040"/>
            <a:ext cx="190440" cy="533880"/>
          </a:xfrm>
          <a:custGeom>
            <a:avLst/>
            <a:gdLst/>
            <a:ahLst/>
            <a:cxnLst/>
            <a:rect l="0" t="0" r="r" b="b"/>
            <a:pathLst>
              <a:path w="529" h="1483">
                <a:moveTo>
                  <a:pt x="0" y="1483"/>
                </a:moveTo>
                <a:lnTo>
                  <a:pt x="0" y="0"/>
                </a:lnTo>
                <a:lnTo>
                  <a:pt x="529" y="0"/>
                </a:lnTo>
                <a:lnTo>
                  <a:pt x="529" y="1483"/>
                </a:lnTo>
                <a:lnTo>
                  <a:pt x="0" y="1483"/>
                </a:lnTo>
                <a:close/>
              </a:path>
            </a:pathLst>
          </a:custGeom>
          <a:solidFill>
            <a:srgbClr val="0065FC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任意多边形: 形状 141"/>
          <p:cNvSpPr/>
          <p:nvPr/>
        </p:nvSpPr>
        <p:spPr>
          <a:xfrm>
            <a:off x="11117880" y="1076040"/>
            <a:ext cx="190440" cy="533880"/>
          </a:xfrm>
          <a:custGeom>
            <a:avLst/>
            <a:gdLst/>
            <a:ahLst/>
            <a:cxnLst/>
            <a:rect l="0" t="0" r="r" b="b"/>
            <a:pathLst>
              <a:path w="529" h="1483">
                <a:moveTo>
                  <a:pt x="0" y="1483"/>
                </a:moveTo>
                <a:lnTo>
                  <a:pt x="0" y="0"/>
                </a:lnTo>
                <a:lnTo>
                  <a:pt x="529" y="0"/>
                </a:lnTo>
                <a:lnTo>
                  <a:pt x="529" y="1483"/>
                </a:lnTo>
                <a:lnTo>
                  <a:pt x="0" y="1483"/>
                </a:lnTo>
                <a:close/>
              </a:path>
            </a:pathLst>
          </a:custGeom>
          <a:solidFill>
            <a:srgbClr val="0065F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任意多边形: 形状 142"/>
          <p:cNvSpPr/>
          <p:nvPr/>
        </p:nvSpPr>
        <p:spPr>
          <a:xfrm>
            <a:off x="11307960" y="1076040"/>
            <a:ext cx="190080" cy="533880"/>
          </a:xfrm>
          <a:custGeom>
            <a:avLst/>
            <a:gdLst/>
            <a:ahLst/>
            <a:cxnLst/>
            <a:rect l="0" t="0" r="r" b="b"/>
            <a:pathLst>
              <a:path w="528" h="1483">
                <a:moveTo>
                  <a:pt x="0" y="1483"/>
                </a:moveTo>
                <a:lnTo>
                  <a:pt x="0" y="0"/>
                </a:lnTo>
                <a:lnTo>
                  <a:pt x="528" y="0"/>
                </a:lnTo>
                <a:lnTo>
                  <a:pt x="528" y="1483"/>
                </a:lnTo>
                <a:lnTo>
                  <a:pt x="0" y="1483"/>
                </a:lnTo>
                <a:close/>
              </a:path>
            </a:pathLst>
          </a:custGeom>
          <a:solidFill>
            <a:srgbClr val="0065F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任意多边形: 形状 143"/>
          <p:cNvSpPr/>
          <p:nvPr/>
        </p:nvSpPr>
        <p:spPr>
          <a:xfrm>
            <a:off x="11497680" y="1076040"/>
            <a:ext cx="190440" cy="533880"/>
          </a:xfrm>
          <a:custGeom>
            <a:avLst/>
            <a:gdLst/>
            <a:ahLst/>
            <a:cxnLst/>
            <a:rect l="0" t="0" r="r" b="b"/>
            <a:pathLst>
              <a:path w="529" h="1483">
                <a:moveTo>
                  <a:pt x="0" y="1483"/>
                </a:moveTo>
                <a:lnTo>
                  <a:pt x="0" y="0"/>
                </a:lnTo>
                <a:lnTo>
                  <a:pt x="529" y="0"/>
                </a:lnTo>
                <a:lnTo>
                  <a:pt x="529" y="1483"/>
                </a:lnTo>
                <a:lnTo>
                  <a:pt x="0" y="1483"/>
                </a:lnTo>
                <a:close/>
              </a:path>
            </a:pathLst>
          </a:custGeom>
          <a:solidFill>
            <a:srgbClr val="0065FE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任意多边形: 形状 144"/>
          <p:cNvSpPr/>
          <p:nvPr/>
        </p:nvSpPr>
        <p:spPr>
          <a:xfrm>
            <a:off x="11687760" y="1076040"/>
            <a:ext cx="190080" cy="533880"/>
          </a:xfrm>
          <a:custGeom>
            <a:avLst/>
            <a:gdLst/>
            <a:ahLst/>
            <a:cxnLst/>
            <a:rect l="0" t="0" r="r" b="b"/>
            <a:pathLst>
              <a:path w="528" h="1483">
                <a:moveTo>
                  <a:pt x="363" y="0"/>
                </a:moveTo>
                <a:cubicBezTo>
                  <a:pt x="400" y="16"/>
                  <a:pt x="432" y="38"/>
                  <a:pt x="461" y="67"/>
                </a:cubicBezTo>
                <a:cubicBezTo>
                  <a:pt x="490" y="95"/>
                  <a:pt x="512" y="128"/>
                  <a:pt x="528" y="164"/>
                </a:cubicBezTo>
                <a:lnTo>
                  <a:pt x="528" y="1483"/>
                </a:lnTo>
                <a:lnTo>
                  <a:pt x="0" y="1483"/>
                </a:lnTo>
                <a:lnTo>
                  <a:pt x="0" y="0"/>
                </a:lnTo>
                <a:lnTo>
                  <a:pt x="363" y="0"/>
                </a:lnTo>
                <a:close/>
              </a:path>
            </a:pathLst>
          </a:custGeom>
          <a:solidFill>
            <a:srgbClr val="0066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6" name="任意多边形: 形状 145"/>
          <p:cNvSpPr/>
          <p:nvPr/>
        </p:nvSpPr>
        <p:spPr>
          <a:xfrm>
            <a:off x="2752560" y="1076040"/>
            <a:ext cx="3038760" cy="533880"/>
          </a:xfrm>
          <a:custGeom>
            <a:avLst/>
            <a:gdLst/>
            <a:ahLst/>
            <a:cxnLst/>
            <a:rect l="0" t="0" r="r" b="b"/>
            <a:pathLst>
              <a:path w="8441" h="1483">
                <a:moveTo>
                  <a:pt x="0" y="0"/>
                </a:moveTo>
                <a:lnTo>
                  <a:pt x="8441" y="0"/>
                </a:lnTo>
                <a:lnTo>
                  <a:pt x="8441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0039A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任意多边形: 形状 146"/>
          <p:cNvSpPr/>
          <p:nvPr/>
        </p:nvSpPr>
        <p:spPr>
          <a:xfrm>
            <a:off x="2752560" y="1609560"/>
            <a:ext cx="3038760" cy="429120"/>
          </a:xfrm>
          <a:custGeom>
            <a:avLst/>
            <a:gdLst/>
            <a:ahLst/>
            <a:cxnLst/>
            <a:rect l="0" t="0" r="r" b="b"/>
            <a:pathLst>
              <a:path w="8441" h="1192">
                <a:moveTo>
                  <a:pt x="0" y="0"/>
                </a:moveTo>
                <a:lnTo>
                  <a:pt x="8441" y="0"/>
                </a:lnTo>
                <a:lnTo>
                  <a:pt x="8441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EFF6F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任意多边形: 形状 147"/>
          <p:cNvSpPr/>
          <p:nvPr/>
        </p:nvSpPr>
        <p:spPr>
          <a:xfrm>
            <a:off x="2752560" y="2038320"/>
            <a:ext cx="3038760" cy="428760"/>
          </a:xfrm>
          <a:custGeom>
            <a:avLst/>
            <a:gdLst/>
            <a:ahLst/>
            <a:cxnLst/>
            <a:rect l="0" t="0" r="r" b="b"/>
            <a:pathLst>
              <a:path w="8441" h="1191">
                <a:moveTo>
                  <a:pt x="0" y="0"/>
                </a:moveTo>
                <a:lnTo>
                  <a:pt x="8441" y="0"/>
                </a:lnTo>
                <a:lnTo>
                  <a:pt x="8441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EFF6F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任意多边形: 形状 148"/>
          <p:cNvSpPr/>
          <p:nvPr/>
        </p:nvSpPr>
        <p:spPr>
          <a:xfrm>
            <a:off x="2752560" y="2466720"/>
            <a:ext cx="3038760" cy="429120"/>
          </a:xfrm>
          <a:custGeom>
            <a:avLst/>
            <a:gdLst/>
            <a:ahLst/>
            <a:cxnLst/>
            <a:rect l="0" t="0" r="r" b="b"/>
            <a:pathLst>
              <a:path w="8441" h="1192">
                <a:moveTo>
                  <a:pt x="0" y="0"/>
                </a:moveTo>
                <a:lnTo>
                  <a:pt x="8441" y="0"/>
                </a:lnTo>
                <a:lnTo>
                  <a:pt x="8441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EFF6F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任意多边形: 形状 149"/>
          <p:cNvSpPr/>
          <p:nvPr/>
        </p:nvSpPr>
        <p:spPr>
          <a:xfrm>
            <a:off x="2752560" y="2895480"/>
            <a:ext cx="3038760" cy="419400"/>
          </a:xfrm>
          <a:custGeom>
            <a:avLst/>
            <a:gdLst/>
            <a:ahLst/>
            <a:cxnLst/>
            <a:rect l="0" t="0" r="r" b="b"/>
            <a:pathLst>
              <a:path w="8441" h="1165">
                <a:moveTo>
                  <a:pt x="0" y="0"/>
                </a:moveTo>
                <a:lnTo>
                  <a:pt x="8441" y="0"/>
                </a:lnTo>
                <a:lnTo>
                  <a:pt x="8441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EFF6F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任意多边形: 形状 150"/>
          <p:cNvSpPr/>
          <p:nvPr/>
        </p:nvSpPr>
        <p:spPr>
          <a:xfrm>
            <a:off x="314280" y="2028600"/>
            <a:ext cx="2438640" cy="10080"/>
          </a:xfrm>
          <a:custGeom>
            <a:avLst/>
            <a:gdLst/>
            <a:ahLst/>
            <a:cxnLst/>
            <a:rect l="0" t="0" r="r" b="b"/>
            <a:pathLst>
              <a:path w="6774" h="28">
                <a:moveTo>
                  <a:pt x="0" y="0"/>
                </a:moveTo>
                <a:lnTo>
                  <a:pt x="6774" y="0"/>
                </a:lnTo>
                <a:lnTo>
                  <a:pt x="677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任意多边形: 形状 151"/>
          <p:cNvSpPr/>
          <p:nvPr/>
        </p:nvSpPr>
        <p:spPr>
          <a:xfrm>
            <a:off x="2752560" y="2028600"/>
            <a:ext cx="3038760" cy="10080"/>
          </a:xfrm>
          <a:custGeom>
            <a:avLst/>
            <a:gdLst/>
            <a:ahLst/>
            <a:cxnLst/>
            <a:rect l="0" t="0" r="r" b="b"/>
            <a:pathLst>
              <a:path w="8441" h="28">
                <a:moveTo>
                  <a:pt x="0" y="0"/>
                </a:moveTo>
                <a:lnTo>
                  <a:pt x="8441" y="0"/>
                </a:lnTo>
                <a:lnTo>
                  <a:pt x="844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任意多边形: 形状 152"/>
          <p:cNvSpPr/>
          <p:nvPr/>
        </p:nvSpPr>
        <p:spPr>
          <a:xfrm>
            <a:off x="5790960" y="2028600"/>
            <a:ext cx="3048480" cy="10080"/>
          </a:xfrm>
          <a:custGeom>
            <a:avLst/>
            <a:gdLst/>
            <a:ahLst/>
            <a:cxnLst/>
            <a:rect l="0" t="0" r="r" b="b"/>
            <a:pathLst>
              <a:path w="8468" h="28">
                <a:moveTo>
                  <a:pt x="0" y="0"/>
                </a:moveTo>
                <a:lnTo>
                  <a:pt x="8468" y="0"/>
                </a:lnTo>
                <a:lnTo>
                  <a:pt x="846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任意多边形: 形状 153"/>
          <p:cNvSpPr/>
          <p:nvPr/>
        </p:nvSpPr>
        <p:spPr>
          <a:xfrm>
            <a:off x="8839080" y="2028600"/>
            <a:ext cx="3038760" cy="10080"/>
          </a:xfrm>
          <a:custGeom>
            <a:avLst/>
            <a:gdLst/>
            <a:ahLst/>
            <a:cxnLst/>
            <a:rect l="0" t="0" r="r" b="b"/>
            <a:pathLst>
              <a:path w="8441" h="28">
                <a:moveTo>
                  <a:pt x="0" y="0"/>
                </a:moveTo>
                <a:lnTo>
                  <a:pt x="8441" y="0"/>
                </a:lnTo>
                <a:lnTo>
                  <a:pt x="844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任意多边形: 形状 154"/>
          <p:cNvSpPr/>
          <p:nvPr/>
        </p:nvSpPr>
        <p:spPr>
          <a:xfrm>
            <a:off x="314280" y="2457360"/>
            <a:ext cx="2438640" cy="9720"/>
          </a:xfrm>
          <a:custGeom>
            <a:avLst/>
            <a:gdLst/>
            <a:ahLst/>
            <a:cxnLst/>
            <a:rect l="0" t="0" r="r" b="b"/>
            <a:pathLst>
              <a:path w="6774" h="27">
                <a:moveTo>
                  <a:pt x="0" y="0"/>
                </a:moveTo>
                <a:lnTo>
                  <a:pt x="6774" y="0"/>
                </a:lnTo>
                <a:lnTo>
                  <a:pt x="677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任意多边形: 形状 155"/>
          <p:cNvSpPr/>
          <p:nvPr/>
        </p:nvSpPr>
        <p:spPr>
          <a:xfrm>
            <a:off x="2752560" y="2457360"/>
            <a:ext cx="3038760" cy="9720"/>
          </a:xfrm>
          <a:custGeom>
            <a:avLst/>
            <a:gdLst/>
            <a:ahLst/>
            <a:cxnLst/>
            <a:rect l="0" t="0" r="r" b="b"/>
            <a:pathLst>
              <a:path w="8441" h="27">
                <a:moveTo>
                  <a:pt x="0" y="0"/>
                </a:moveTo>
                <a:lnTo>
                  <a:pt x="8441" y="0"/>
                </a:lnTo>
                <a:lnTo>
                  <a:pt x="844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任意多边形: 形状 156"/>
          <p:cNvSpPr/>
          <p:nvPr/>
        </p:nvSpPr>
        <p:spPr>
          <a:xfrm>
            <a:off x="5790960" y="2457360"/>
            <a:ext cx="3048480" cy="9720"/>
          </a:xfrm>
          <a:custGeom>
            <a:avLst/>
            <a:gdLst/>
            <a:ahLst/>
            <a:cxnLst/>
            <a:rect l="0" t="0" r="r" b="b"/>
            <a:pathLst>
              <a:path w="8468" h="27">
                <a:moveTo>
                  <a:pt x="0" y="0"/>
                </a:moveTo>
                <a:lnTo>
                  <a:pt x="8468" y="0"/>
                </a:lnTo>
                <a:lnTo>
                  <a:pt x="846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任意多边形: 形状 157"/>
          <p:cNvSpPr/>
          <p:nvPr/>
        </p:nvSpPr>
        <p:spPr>
          <a:xfrm>
            <a:off x="8839080" y="2457360"/>
            <a:ext cx="3038760" cy="9720"/>
          </a:xfrm>
          <a:custGeom>
            <a:avLst/>
            <a:gdLst/>
            <a:ahLst/>
            <a:cxnLst/>
            <a:rect l="0" t="0" r="r" b="b"/>
            <a:pathLst>
              <a:path w="8441" h="27">
                <a:moveTo>
                  <a:pt x="0" y="0"/>
                </a:moveTo>
                <a:lnTo>
                  <a:pt x="8441" y="0"/>
                </a:lnTo>
                <a:lnTo>
                  <a:pt x="844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任意多边形: 形状 158"/>
          <p:cNvSpPr/>
          <p:nvPr/>
        </p:nvSpPr>
        <p:spPr>
          <a:xfrm>
            <a:off x="314280" y="2885760"/>
            <a:ext cx="2438640" cy="10080"/>
          </a:xfrm>
          <a:custGeom>
            <a:avLst/>
            <a:gdLst/>
            <a:ahLst/>
            <a:cxnLst/>
            <a:rect l="0" t="0" r="r" b="b"/>
            <a:pathLst>
              <a:path w="6774" h="28">
                <a:moveTo>
                  <a:pt x="0" y="0"/>
                </a:moveTo>
                <a:lnTo>
                  <a:pt x="6774" y="0"/>
                </a:lnTo>
                <a:lnTo>
                  <a:pt x="677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任意多边形: 形状 159"/>
          <p:cNvSpPr/>
          <p:nvPr/>
        </p:nvSpPr>
        <p:spPr>
          <a:xfrm>
            <a:off x="2752560" y="2885760"/>
            <a:ext cx="3038760" cy="10080"/>
          </a:xfrm>
          <a:custGeom>
            <a:avLst/>
            <a:gdLst/>
            <a:ahLst/>
            <a:cxnLst/>
            <a:rect l="0" t="0" r="r" b="b"/>
            <a:pathLst>
              <a:path w="8441" h="28">
                <a:moveTo>
                  <a:pt x="0" y="0"/>
                </a:moveTo>
                <a:lnTo>
                  <a:pt x="8441" y="0"/>
                </a:lnTo>
                <a:lnTo>
                  <a:pt x="844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任意多边形: 形状 160"/>
          <p:cNvSpPr/>
          <p:nvPr/>
        </p:nvSpPr>
        <p:spPr>
          <a:xfrm>
            <a:off x="5790960" y="2885760"/>
            <a:ext cx="3048480" cy="10080"/>
          </a:xfrm>
          <a:custGeom>
            <a:avLst/>
            <a:gdLst/>
            <a:ahLst/>
            <a:cxnLst/>
            <a:rect l="0" t="0" r="r" b="b"/>
            <a:pathLst>
              <a:path w="8468" h="28">
                <a:moveTo>
                  <a:pt x="0" y="0"/>
                </a:moveTo>
                <a:lnTo>
                  <a:pt x="8468" y="0"/>
                </a:lnTo>
                <a:lnTo>
                  <a:pt x="846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任意多边形: 形状 161"/>
          <p:cNvSpPr/>
          <p:nvPr/>
        </p:nvSpPr>
        <p:spPr>
          <a:xfrm>
            <a:off x="8839080" y="2885760"/>
            <a:ext cx="3038760" cy="10080"/>
          </a:xfrm>
          <a:custGeom>
            <a:avLst/>
            <a:gdLst/>
            <a:ahLst/>
            <a:cxnLst/>
            <a:rect l="0" t="0" r="r" b="b"/>
            <a:pathLst>
              <a:path w="8441" h="28">
                <a:moveTo>
                  <a:pt x="0" y="0"/>
                </a:moveTo>
                <a:lnTo>
                  <a:pt x="8441" y="0"/>
                </a:lnTo>
                <a:lnTo>
                  <a:pt x="844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文本框 162"/>
          <p:cNvSpPr txBox="1"/>
          <p:nvPr/>
        </p:nvSpPr>
        <p:spPr>
          <a:xfrm>
            <a:off x="438120" y="3562560"/>
            <a:ext cx="1540080" cy="19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 dirty="0">
                <a:solidFill>
                  <a:srgbClr val="4B5563"/>
                </a:solidFill>
                <a:effectLst/>
                <a:uFillTx/>
                <a:latin typeface="NotoSansSC"/>
                <a:ea typeface="NotoSansSC"/>
              </a:rPr>
              <a:t>实机运行效果与痛点对比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文本框 163"/>
          <p:cNvSpPr txBox="1"/>
          <p:nvPr/>
        </p:nvSpPr>
        <p:spPr>
          <a:xfrm>
            <a:off x="466560" y="1246680"/>
            <a:ext cx="64008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00" b="0" u="none" strike="noStrike">
                <a:solidFill>
                  <a:srgbClr val="FFFFFF"/>
                </a:solidFill>
                <a:effectLst/>
                <a:uFillTx/>
                <a:latin typeface="NotoSansSC"/>
                <a:ea typeface="NotoSansSC"/>
              </a:rPr>
              <a:t>能力维度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文本框 164"/>
          <p:cNvSpPr txBox="1"/>
          <p:nvPr/>
        </p:nvSpPr>
        <p:spPr>
          <a:xfrm>
            <a:off x="2900880" y="1246680"/>
            <a:ext cx="196776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00" b="0" u="none" strike="noStrike" dirty="0">
                <a:solidFill>
                  <a:srgbClr val="FFFFFF"/>
                </a:solidFill>
                <a:effectLst/>
                <a:uFillTx/>
                <a:latin typeface="NotoSansSC"/>
                <a:ea typeface="NotoSansSC"/>
              </a:rPr>
              <a:t>战斗</a:t>
            </a:r>
            <a:r>
              <a:rPr lang="en-US" sz="1200" b="0" u="none" strike="noStrike" dirty="0">
                <a:solidFill>
                  <a:srgbClr val="FFFFFF"/>
                </a:solidFill>
                <a:effectLst/>
                <a:uFillTx/>
                <a:latin typeface="NotoSansSC"/>
                <a:ea typeface="NotoSansSC"/>
              </a:rPr>
              <a:t>Debug Agent (</a:t>
            </a:r>
            <a:r>
              <a:rPr lang="zh-CN" sz="1200" b="0" u="none" strike="noStrike" dirty="0">
                <a:solidFill>
                  <a:srgbClr val="FFFFFF"/>
                </a:solidFill>
                <a:effectLst/>
                <a:uFillTx/>
                <a:latin typeface="NotoSansSC"/>
                <a:ea typeface="NotoSansSC"/>
              </a:rPr>
              <a:t>本方案</a:t>
            </a:r>
            <a:r>
              <a:rPr lang="en-US" sz="1200" b="0" u="none" strike="noStrike" dirty="0">
                <a:solidFill>
                  <a:srgbClr val="FFFFFF"/>
                </a:solidFill>
                <a:effectLst/>
                <a:uFillTx/>
                <a:latin typeface="NotoSansSC"/>
                <a:ea typeface="NotoSansSC"/>
              </a:rPr>
              <a:t>)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任意多边形: 形状 165"/>
          <p:cNvSpPr/>
          <p:nvPr/>
        </p:nvSpPr>
        <p:spPr>
          <a:xfrm>
            <a:off x="2906640" y="1779480"/>
            <a:ext cx="111240" cy="79560"/>
          </a:xfrm>
          <a:custGeom>
            <a:avLst/>
            <a:gdLst/>
            <a:ahLst/>
            <a:cxnLst/>
            <a:rect l="0" t="0" r="r" b="b"/>
            <a:pathLst>
              <a:path w="309" h="221" fill="none">
                <a:moveTo>
                  <a:pt x="0" y="133"/>
                </a:moveTo>
                <a:lnTo>
                  <a:pt x="89" y="221"/>
                </a:lnTo>
                <a:lnTo>
                  <a:pt x="309" y="0"/>
                </a:lnTo>
              </a:path>
            </a:pathLst>
          </a:custGeom>
          <a:ln w="15840" cap="rnd">
            <a:solidFill>
              <a:srgbClr val="22C55E"/>
            </a:solidFill>
            <a:round/>
          </a:ln>
        </p:spPr>
        <p:txBody>
          <a:bodyPr lIns="7920" tIns="7920" rIns="7920" bIns="792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文本框 166"/>
          <p:cNvSpPr txBox="1"/>
          <p:nvPr/>
        </p:nvSpPr>
        <p:spPr>
          <a:xfrm>
            <a:off x="466560" y="1733760"/>
            <a:ext cx="736560" cy="19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NotoSansSC"/>
                <a:ea typeface="NotoSansSC"/>
              </a:rPr>
              <a:t>DS</a:t>
            </a:r>
            <a:r>
              <a:rPr lang="zh-CN" sz="1050" b="0" u="none" strike="noStrike">
                <a:solidFill>
                  <a:srgbClr val="4B5563"/>
                </a:solidFill>
                <a:effectLst/>
                <a:uFillTx/>
                <a:latin typeface="NotoSansSC"/>
                <a:ea typeface="NotoSansSC"/>
              </a:rPr>
              <a:t>日志拉取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任意多边形: 形状 167"/>
          <p:cNvSpPr/>
          <p:nvPr/>
        </p:nvSpPr>
        <p:spPr>
          <a:xfrm>
            <a:off x="5952960" y="1771560"/>
            <a:ext cx="95760" cy="95400"/>
          </a:xfrm>
          <a:custGeom>
            <a:avLst/>
            <a:gdLst/>
            <a:ahLst/>
            <a:cxnLst/>
            <a:rect l="0" t="0" r="r" b="b"/>
            <a:pathLst>
              <a:path w="266" h="265" fill="none">
                <a:moveTo>
                  <a:pt x="0" y="265"/>
                </a:moveTo>
                <a:lnTo>
                  <a:pt x="266" y="0"/>
                </a:lnTo>
                <a:moveTo>
                  <a:pt x="0" y="0"/>
                </a:moveTo>
                <a:lnTo>
                  <a:pt x="266" y="265"/>
                </a:lnTo>
              </a:path>
            </a:pathLst>
          </a:custGeom>
          <a:ln w="15840" cap="rnd">
            <a:solidFill>
              <a:srgbClr val="F87171"/>
            </a:solidFill>
            <a:round/>
          </a:ln>
        </p:spPr>
        <p:txBody>
          <a:bodyPr lIns="7920" tIns="7920" rIns="7920" bIns="792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文本框 168"/>
          <p:cNvSpPr txBox="1"/>
          <p:nvPr/>
        </p:nvSpPr>
        <p:spPr>
          <a:xfrm>
            <a:off x="3129480" y="1733760"/>
            <a:ext cx="1190160" cy="19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0052D9"/>
                </a:solidFill>
                <a:effectLst/>
                <a:uFillTx/>
                <a:latin typeface="NotoSansSC"/>
                <a:ea typeface="NotoSansSC"/>
              </a:rPr>
              <a:t>自动通过</a:t>
            </a:r>
            <a:r>
              <a:rPr lang="en-US" sz="1050" b="0" u="none" strike="noStrike">
                <a:solidFill>
                  <a:srgbClr val="0052D9"/>
                </a:solidFill>
                <a:effectLst/>
                <a:uFillTx/>
                <a:latin typeface="NotoSansSC"/>
                <a:ea typeface="NotoSansSC"/>
              </a:rPr>
              <a:t>skill</a:t>
            </a:r>
            <a:r>
              <a:rPr lang="zh-CN" sz="1050" b="0" u="none" strike="noStrike">
                <a:solidFill>
                  <a:srgbClr val="0052D9"/>
                </a:solidFill>
                <a:effectLst/>
                <a:uFillTx/>
                <a:latin typeface="NotoSansSC"/>
                <a:ea typeface="NotoSansSC"/>
              </a:rPr>
              <a:t>拉取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任意多边形: 形状 169"/>
          <p:cNvSpPr/>
          <p:nvPr/>
        </p:nvSpPr>
        <p:spPr>
          <a:xfrm>
            <a:off x="9001080" y="1771560"/>
            <a:ext cx="95400" cy="95400"/>
          </a:xfrm>
          <a:custGeom>
            <a:avLst/>
            <a:gdLst/>
            <a:ahLst/>
            <a:cxnLst/>
            <a:rect l="0" t="0" r="r" b="b"/>
            <a:pathLst>
              <a:path w="265" h="265" fill="none">
                <a:moveTo>
                  <a:pt x="0" y="265"/>
                </a:moveTo>
                <a:lnTo>
                  <a:pt x="265" y="0"/>
                </a:lnTo>
                <a:moveTo>
                  <a:pt x="0" y="0"/>
                </a:moveTo>
                <a:lnTo>
                  <a:pt x="265" y="265"/>
                </a:lnTo>
              </a:path>
            </a:pathLst>
          </a:custGeom>
          <a:ln w="15840" cap="rnd">
            <a:solidFill>
              <a:srgbClr val="9CA3AF"/>
            </a:solidFill>
            <a:round/>
          </a:ln>
        </p:spPr>
        <p:txBody>
          <a:bodyPr lIns="7920" tIns="7920" rIns="7920" bIns="792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文本框 170"/>
          <p:cNvSpPr txBox="1"/>
          <p:nvPr/>
        </p:nvSpPr>
        <p:spPr>
          <a:xfrm>
            <a:off x="6172560" y="1733760"/>
            <a:ext cx="699840" cy="19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 dirty="0">
                <a:solidFill>
                  <a:srgbClr val="6B7280"/>
                </a:solidFill>
                <a:effectLst/>
                <a:uFillTx/>
                <a:latin typeface="NotoSansSC"/>
                <a:ea typeface="NotoSansSC"/>
              </a:rPr>
              <a:t>需手动操作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文本框 171"/>
          <p:cNvSpPr txBox="1"/>
          <p:nvPr/>
        </p:nvSpPr>
        <p:spPr>
          <a:xfrm>
            <a:off x="9215280" y="1733760"/>
            <a:ext cx="1077218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 dirty="0">
                <a:solidFill>
                  <a:srgbClr val="6B7280"/>
                </a:solidFill>
                <a:effectLst/>
                <a:uFillTx/>
                <a:latin typeface="NotoSansSC"/>
                <a:ea typeface="NotoSansSC"/>
              </a:rPr>
              <a:t>智</a:t>
            </a:r>
            <a:r>
              <a:rPr lang="zh-CN" altLang="en-US" sz="1050" b="0" u="none" strike="noStrike" dirty="0">
                <a:solidFill>
                  <a:srgbClr val="6B7280"/>
                </a:solidFill>
                <a:effectLst/>
                <a:uFillTx/>
                <a:latin typeface="NotoSansSC"/>
                <a:ea typeface="NotoSansSC"/>
              </a:rPr>
              <a:t>研</a:t>
            </a:r>
            <a:r>
              <a:rPr lang="zh-CN" sz="1050" b="0" u="none" strike="noStrike" dirty="0">
                <a:solidFill>
                  <a:srgbClr val="6B7280"/>
                </a:solidFill>
                <a:effectLst/>
                <a:uFillTx/>
                <a:latin typeface="NotoSansSC"/>
                <a:ea typeface="NotoSansSC"/>
              </a:rPr>
              <a:t>平台手动下载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任意多边形: 形状 172"/>
          <p:cNvSpPr/>
          <p:nvPr/>
        </p:nvSpPr>
        <p:spPr>
          <a:xfrm>
            <a:off x="2906640" y="2207880"/>
            <a:ext cx="111240" cy="79920"/>
          </a:xfrm>
          <a:custGeom>
            <a:avLst/>
            <a:gdLst/>
            <a:ahLst/>
            <a:cxnLst/>
            <a:rect l="0" t="0" r="r" b="b"/>
            <a:pathLst>
              <a:path w="309" h="222" fill="none">
                <a:moveTo>
                  <a:pt x="0" y="133"/>
                </a:moveTo>
                <a:lnTo>
                  <a:pt x="89" y="222"/>
                </a:lnTo>
                <a:lnTo>
                  <a:pt x="309" y="0"/>
                </a:lnTo>
              </a:path>
            </a:pathLst>
          </a:custGeom>
          <a:ln w="15840" cap="rnd">
            <a:solidFill>
              <a:srgbClr val="22C55E"/>
            </a:solidFill>
            <a:round/>
          </a:ln>
        </p:spPr>
        <p:txBody>
          <a:bodyPr lIns="7920" tIns="7920" rIns="7920" bIns="792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文本框 173"/>
          <p:cNvSpPr txBox="1"/>
          <p:nvPr/>
        </p:nvSpPr>
        <p:spPr>
          <a:xfrm>
            <a:off x="466560" y="2162520"/>
            <a:ext cx="559800" cy="19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4B5563"/>
                </a:solidFill>
                <a:effectLst/>
                <a:uFillTx/>
                <a:latin typeface="NotoSansSC"/>
                <a:ea typeface="NotoSansSC"/>
              </a:rPr>
              <a:t>日志切分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任意多边形: 形状 174"/>
          <p:cNvSpPr/>
          <p:nvPr/>
        </p:nvSpPr>
        <p:spPr>
          <a:xfrm>
            <a:off x="5952960" y="2199960"/>
            <a:ext cx="95760" cy="95760"/>
          </a:xfrm>
          <a:custGeom>
            <a:avLst/>
            <a:gdLst/>
            <a:ahLst/>
            <a:cxnLst/>
            <a:rect l="0" t="0" r="r" b="b"/>
            <a:pathLst>
              <a:path w="266" h="266" fill="none">
                <a:moveTo>
                  <a:pt x="0" y="266"/>
                </a:moveTo>
                <a:lnTo>
                  <a:pt x="266" y="0"/>
                </a:lnTo>
                <a:moveTo>
                  <a:pt x="0" y="0"/>
                </a:moveTo>
                <a:lnTo>
                  <a:pt x="266" y="266"/>
                </a:lnTo>
              </a:path>
            </a:pathLst>
          </a:custGeom>
          <a:ln w="15840" cap="rnd">
            <a:solidFill>
              <a:srgbClr val="F87171"/>
            </a:solidFill>
            <a:round/>
          </a:ln>
        </p:spPr>
        <p:txBody>
          <a:bodyPr lIns="7920" tIns="7920" rIns="7920" bIns="792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文本框 175"/>
          <p:cNvSpPr txBox="1"/>
          <p:nvPr/>
        </p:nvSpPr>
        <p:spPr>
          <a:xfrm>
            <a:off x="3129480" y="2162520"/>
            <a:ext cx="1400040" cy="19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 dirty="0">
                <a:solidFill>
                  <a:srgbClr val="0052D9"/>
                </a:solidFill>
                <a:effectLst/>
                <a:uFillTx/>
                <a:latin typeface="NotoSansSC"/>
                <a:ea typeface="NotoSansSC"/>
              </a:rPr>
              <a:t>log-splitter</a:t>
            </a:r>
            <a:r>
              <a:rPr lang="zh-CN" sz="1050" b="0" u="none" strike="noStrike" dirty="0">
                <a:solidFill>
                  <a:srgbClr val="0052D9"/>
                </a:solidFill>
                <a:effectLst/>
                <a:uFillTx/>
                <a:latin typeface="NotoSansSC"/>
                <a:ea typeface="NotoSansSC"/>
              </a:rPr>
              <a:t>自动切分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任意多边形: 形状 176"/>
          <p:cNvSpPr/>
          <p:nvPr/>
        </p:nvSpPr>
        <p:spPr>
          <a:xfrm>
            <a:off x="9001080" y="2199960"/>
            <a:ext cx="95400" cy="95760"/>
          </a:xfrm>
          <a:custGeom>
            <a:avLst/>
            <a:gdLst/>
            <a:ahLst/>
            <a:cxnLst/>
            <a:rect l="0" t="0" r="r" b="b"/>
            <a:pathLst>
              <a:path w="265" h="266" fill="none">
                <a:moveTo>
                  <a:pt x="0" y="266"/>
                </a:moveTo>
                <a:lnTo>
                  <a:pt x="265" y="0"/>
                </a:lnTo>
                <a:moveTo>
                  <a:pt x="0" y="0"/>
                </a:moveTo>
                <a:lnTo>
                  <a:pt x="265" y="266"/>
                </a:lnTo>
              </a:path>
            </a:pathLst>
          </a:custGeom>
          <a:ln w="15840" cap="rnd">
            <a:solidFill>
              <a:srgbClr val="9CA3AF"/>
            </a:solidFill>
            <a:round/>
          </a:ln>
        </p:spPr>
        <p:txBody>
          <a:bodyPr lIns="7920" tIns="7920" rIns="7920" bIns="792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文本框 177"/>
          <p:cNvSpPr txBox="1"/>
          <p:nvPr/>
        </p:nvSpPr>
        <p:spPr>
          <a:xfrm>
            <a:off x="6172560" y="2162520"/>
            <a:ext cx="979920" cy="19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 dirty="0">
                <a:solidFill>
                  <a:srgbClr val="6B7280"/>
                </a:solidFill>
                <a:effectLst/>
                <a:uFillTx/>
                <a:latin typeface="NotoSansSC"/>
                <a:ea typeface="NotoSansSC"/>
              </a:rPr>
              <a:t>无法读取大文件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文本框 178"/>
          <p:cNvSpPr txBox="1"/>
          <p:nvPr/>
        </p:nvSpPr>
        <p:spPr>
          <a:xfrm>
            <a:off x="9215280" y="2162520"/>
            <a:ext cx="559800" cy="19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 dirty="0">
                <a:solidFill>
                  <a:srgbClr val="6B7280"/>
                </a:solidFill>
                <a:effectLst/>
                <a:uFillTx/>
                <a:latin typeface="NotoSansSC"/>
                <a:ea typeface="NotoSansSC"/>
              </a:rPr>
              <a:t>无法处理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任意多边形: 形状 179"/>
          <p:cNvSpPr/>
          <p:nvPr/>
        </p:nvSpPr>
        <p:spPr>
          <a:xfrm>
            <a:off x="2906640" y="2636640"/>
            <a:ext cx="111240" cy="79920"/>
          </a:xfrm>
          <a:custGeom>
            <a:avLst/>
            <a:gdLst/>
            <a:ahLst/>
            <a:cxnLst/>
            <a:rect l="0" t="0" r="r" b="b"/>
            <a:pathLst>
              <a:path w="309" h="222" fill="none">
                <a:moveTo>
                  <a:pt x="0" y="133"/>
                </a:moveTo>
                <a:lnTo>
                  <a:pt x="89" y="222"/>
                </a:lnTo>
                <a:lnTo>
                  <a:pt x="309" y="0"/>
                </a:lnTo>
              </a:path>
            </a:pathLst>
          </a:custGeom>
          <a:ln w="15840" cap="rnd">
            <a:solidFill>
              <a:srgbClr val="22C55E"/>
            </a:solidFill>
            <a:round/>
          </a:ln>
        </p:spPr>
        <p:txBody>
          <a:bodyPr lIns="7920" tIns="7920" rIns="7920" bIns="792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文本框 180"/>
          <p:cNvSpPr txBox="1"/>
          <p:nvPr/>
        </p:nvSpPr>
        <p:spPr>
          <a:xfrm>
            <a:off x="466560" y="2591280"/>
            <a:ext cx="699840" cy="19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4B5563"/>
                </a:solidFill>
                <a:effectLst/>
                <a:uFillTx/>
                <a:latin typeface="NotoSansSC"/>
                <a:ea typeface="NotoSansSC"/>
              </a:rPr>
              <a:t>结构化分析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任意多边形: 形状 181"/>
          <p:cNvSpPr/>
          <p:nvPr/>
        </p:nvSpPr>
        <p:spPr>
          <a:xfrm>
            <a:off x="5952960" y="2628720"/>
            <a:ext cx="95760" cy="95760"/>
          </a:xfrm>
          <a:custGeom>
            <a:avLst/>
            <a:gdLst/>
            <a:ahLst/>
            <a:cxnLst/>
            <a:rect l="0" t="0" r="r" b="b"/>
            <a:pathLst>
              <a:path w="266" h="266" fill="none">
                <a:moveTo>
                  <a:pt x="0" y="266"/>
                </a:moveTo>
                <a:lnTo>
                  <a:pt x="266" y="0"/>
                </a:lnTo>
                <a:moveTo>
                  <a:pt x="0" y="0"/>
                </a:moveTo>
                <a:lnTo>
                  <a:pt x="266" y="266"/>
                </a:lnTo>
              </a:path>
            </a:pathLst>
          </a:custGeom>
          <a:ln w="15840" cap="rnd">
            <a:solidFill>
              <a:srgbClr val="F87171"/>
            </a:solidFill>
            <a:round/>
          </a:ln>
        </p:spPr>
        <p:txBody>
          <a:bodyPr lIns="7920" tIns="7920" rIns="7920" bIns="792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文本框 182"/>
          <p:cNvSpPr txBox="1"/>
          <p:nvPr/>
        </p:nvSpPr>
        <p:spPr>
          <a:xfrm>
            <a:off x="3129480" y="2591280"/>
            <a:ext cx="1119960" cy="19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 dirty="0">
                <a:solidFill>
                  <a:srgbClr val="0052D9"/>
                </a:solidFill>
                <a:effectLst/>
                <a:uFillTx/>
                <a:latin typeface="NotoSansSC"/>
                <a:ea typeface="NotoSansSC"/>
              </a:rPr>
              <a:t>输出根因分析报告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任意多边形: 形状 183"/>
          <p:cNvSpPr/>
          <p:nvPr/>
        </p:nvSpPr>
        <p:spPr>
          <a:xfrm>
            <a:off x="9001080" y="2628720"/>
            <a:ext cx="95400" cy="95760"/>
          </a:xfrm>
          <a:custGeom>
            <a:avLst/>
            <a:gdLst/>
            <a:ahLst/>
            <a:cxnLst/>
            <a:rect l="0" t="0" r="r" b="b"/>
            <a:pathLst>
              <a:path w="265" h="266" fill="none">
                <a:moveTo>
                  <a:pt x="0" y="266"/>
                </a:moveTo>
                <a:lnTo>
                  <a:pt x="265" y="0"/>
                </a:lnTo>
                <a:moveTo>
                  <a:pt x="0" y="0"/>
                </a:moveTo>
                <a:lnTo>
                  <a:pt x="265" y="266"/>
                </a:lnTo>
              </a:path>
            </a:pathLst>
          </a:custGeom>
          <a:ln w="15840" cap="rnd">
            <a:solidFill>
              <a:srgbClr val="9CA3AF"/>
            </a:solidFill>
            <a:round/>
          </a:ln>
        </p:spPr>
        <p:txBody>
          <a:bodyPr lIns="7920" tIns="7920" rIns="7920" bIns="792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文本框 184"/>
          <p:cNvSpPr txBox="1"/>
          <p:nvPr/>
        </p:nvSpPr>
        <p:spPr>
          <a:xfrm>
            <a:off x="6172560" y="2591280"/>
            <a:ext cx="839880" cy="19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 dirty="0">
                <a:solidFill>
                  <a:srgbClr val="6B7280"/>
                </a:solidFill>
                <a:effectLst/>
                <a:uFillTx/>
                <a:latin typeface="NotoSansSC"/>
                <a:ea typeface="NotoSansSC"/>
              </a:rPr>
              <a:t>无法深度分析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文本框 185"/>
          <p:cNvSpPr txBox="1"/>
          <p:nvPr/>
        </p:nvSpPr>
        <p:spPr>
          <a:xfrm>
            <a:off x="9215280" y="2591280"/>
            <a:ext cx="559800" cy="19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6B7280"/>
                </a:solidFill>
                <a:effectLst/>
                <a:uFillTx/>
                <a:latin typeface="NotoSansSC"/>
                <a:ea typeface="NotoSansSC"/>
              </a:rPr>
              <a:t>肉眼过滤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任意多边形: 形状 186"/>
          <p:cNvSpPr/>
          <p:nvPr/>
        </p:nvSpPr>
        <p:spPr>
          <a:xfrm>
            <a:off x="2906640" y="3065400"/>
            <a:ext cx="111240" cy="79560"/>
          </a:xfrm>
          <a:custGeom>
            <a:avLst/>
            <a:gdLst/>
            <a:ahLst/>
            <a:cxnLst/>
            <a:rect l="0" t="0" r="r" b="b"/>
            <a:pathLst>
              <a:path w="309" h="221" fill="none">
                <a:moveTo>
                  <a:pt x="0" y="132"/>
                </a:moveTo>
                <a:lnTo>
                  <a:pt x="89" y="221"/>
                </a:lnTo>
                <a:lnTo>
                  <a:pt x="309" y="0"/>
                </a:lnTo>
              </a:path>
            </a:pathLst>
          </a:custGeom>
          <a:ln w="15840" cap="rnd">
            <a:solidFill>
              <a:srgbClr val="22C55E"/>
            </a:solidFill>
            <a:round/>
          </a:ln>
        </p:spPr>
        <p:txBody>
          <a:bodyPr lIns="7920" tIns="7920" rIns="7920" bIns="792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文本框 187"/>
          <p:cNvSpPr txBox="1"/>
          <p:nvPr/>
        </p:nvSpPr>
        <p:spPr>
          <a:xfrm>
            <a:off x="466560" y="3019680"/>
            <a:ext cx="839880" cy="19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4B5563"/>
                </a:solidFill>
                <a:effectLst/>
                <a:uFillTx/>
                <a:latin typeface="NotoSansSC"/>
                <a:ea typeface="NotoSansSC"/>
              </a:rPr>
              <a:t>关键日志提取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任意多边形: 形状 188"/>
          <p:cNvSpPr/>
          <p:nvPr/>
        </p:nvSpPr>
        <p:spPr>
          <a:xfrm>
            <a:off x="5952960" y="3057480"/>
            <a:ext cx="95760" cy="95400"/>
          </a:xfrm>
          <a:custGeom>
            <a:avLst/>
            <a:gdLst/>
            <a:ahLst/>
            <a:cxnLst/>
            <a:rect l="0" t="0" r="r" b="b"/>
            <a:pathLst>
              <a:path w="266" h="265" fill="none">
                <a:moveTo>
                  <a:pt x="0" y="265"/>
                </a:moveTo>
                <a:lnTo>
                  <a:pt x="266" y="0"/>
                </a:lnTo>
                <a:moveTo>
                  <a:pt x="0" y="0"/>
                </a:moveTo>
                <a:lnTo>
                  <a:pt x="266" y="265"/>
                </a:lnTo>
              </a:path>
            </a:pathLst>
          </a:custGeom>
          <a:ln w="15840" cap="rnd">
            <a:solidFill>
              <a:srgbClr val="F87171"/>
            </a:solidFill>
            <a:round/>
          </a:ln>
        </p:spPr>
        <p:txBody>
          <a:bodyPr lIns="7920" tIns="7920" rIns="7920" bIns="792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文本框 189"/>
          <p:cNvSpPr txBox="1"/>
          <p:nvPr/>
        </p:nvSpPr>
        <p:spPr>
          <a:xfrm>
            <a:off x="3129480" y="3019680"/>
            <a:ext cx="1119960" cy="19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 dirty="0">
                <a:solidFill>
                  <a:srgbClr val="0052D9"/>
                </a:solidFill>
                <a:effectLst/>
                <a:uFillTx/>
                <a:latin typeface="NotoSansSC"/>
                <a:ea typeface="NotoSansSC"/>
              </a:rPr>
              <a:t>自动提取关键日志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" name="任意多边形: 形状 190"/>
          <p:cNvSpPr/>
          <p:nvPr/>
        </p:nvSpPr>
        <p:spPr>
          <a:xfrm>
            <a:off x="9001080" y="3057480"/>
            <a:ext cx="95400" cy="95400"/>
          </a:xfrm>
          <a:custGeom>
            <a:avLst/>
            <a:gdLst/>
            <a:ahLst/>
            <a:cxnLst/>
            <a:rect l="0" t="0" r="r" b="b"/>
            <a:pathLst>
              <a:path w="265" h="265" fill="none">
                <a:moveTo>
                  <a:pt x="0" y="265"/>
                </a:moveTo>
                <a:lnTo>
                  <a:pt x="265" y="0"/>
                </a:lnTo>
                <a:moveTo>
                  <a:pt x="0" y="0"/>
                </a:moveTo>
                <a:lnTo>
                  <a:pt x="265" y="265"/>
                </a:lnTo>
              </a:path>
            </a:pathLst>
          </a:custGeom>
          <a:ln w="15840" cap="rnd">
            <a:solidFill>
              <a:srgbClr val="9CA3AF"/>
            </a:solidFill>
            <a:round/>
          </a:ln>
        </p:spPr>
        <p:txBody>
          <a:bodyPr lIns="7920" tIns="7920" rIns="7920" bIns="792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文本框 191"/>
          <p:cNvSpPr txBox="1"/>
          <p:nvPr/>
        </p:nvSpPr>
        <p:spPr>
          <a:xfrm>
            <a:off x="6172560" y="3019680"/>
            <a:ext cx="139680" cy="19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6B7280"/>
                </a:solidFill>
                <a:effectLst/>
                <a:uFillTx/>
                <a:latin typeface="NotoSansSC"/>
                <a:ea typeface="NotoSansSC"/>
              </a:rPr>
              <a:t>无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文本框 192"/>
          <p:cNvSpPr txBox="1"/>
          <p:nvPr/>
        </p:nvSpPr>
        <p:spPr>
          <a:xfrm>
            <a:off x="9215280" y="3019680"/>
            <a:ext cx="559800" cy="19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 dirty="0">
                <a:solidFill>
                  <a:srgbClr val="6B7280"/>
                </a:solidFill>
                <a:effectLst/>
                <a:uFillTx/>
                <a:latin typeface="NotoSansSC"/>
                <a:ea typeface="NotoSansSC"/>
              </a:rPr>
              <a:t>手动搜索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文本框 193"/>
          <p:cNvSpPr txBox="1"/>
          <p:nvPr/>
        </p:nvSpPr>
        <p:spPr>
          <a:xfrm>
            <a:off x="5943960" y="1246680"/>
            <a:ext cx="77580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00" b="0" u="none" strike="noStrike" dirty="0">
                <a:solidFill>
                  <a:srgbClr val="FFFFFF"/>
                </a:solidFill>
                <a:effectLst/>
                <a:uFillTx/>
                <a:latin typeface="NotoSansSC"/>
                <a:ea typeface="NotoSansSC"/>
              </a:rPr>
              <a:t>默认</a:t>
            </a:r>
            <a:r>
              <a:rPr lang="en-US" sz="1200" b="0" u="none" strike="noStrike" dirty="0">
                <a:solidFill>
                  <a:srgbClr val="FFFFFF"/>
                </a:solidFill>
                <a:effectLst/>
                <a:uFillTx/>
                <a:latin typeface="NotoSansSC"/>
                <a:ea typeface="NotoSansSC"/>
              </a:rPr>
              <a:t>Agent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95" name="图片 194"/>
          <p:cNvPicPr/>
          <p:nvPr/>
        </p:nvPicPr>
        <p:blipFill>
          <a:blip r:embed="rId6"/>
          <a:stretch/>
        </p:blipFill>
        <p:spPr>
          <a:xfrm>
            <a:off x="304920" y="3857760"/>
            <a:ext cx="2190240" cy="2695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6" name="任意多边形: 形状 195"/>
          <p:cNvSpPr/>
          <p:nvPr/>
        </p:nvSpPr>
        <p:spPr>
          <a:xfrm>
            <a:off x="314280" y="3867120"/>
            <a:ext cx="2171880" cy="2372040"/>
          </a:xfrm>
          <a:custGeom>
            <a:avLst/>
            <a:gdLst/>
            <a:ahLst/>
            <a:cxnLst/>
            <a:rect l="0" t="0" r="r" b="b"/>
            <a:pathLst>
              <a:path w="6033" h="6589">
                <a:moveTo>
                  <a:pt x="35" y="35"/>
                </a:moveTo>
                <a:cubicBezTo>
                  <a:pt x="49" y="21"/>
                  <a:pt x="65" y="9"/>
                  <a:pt x="82" y="0"/>
                </a:cubicBezTo>
                <a:lnTo>
                  <a:pt x="5950" y="0"/>
                </a:lnTo>
                <a:cubicBezTo>
                  <a:pt x="5968" y="9"/>
                  <a:pt x="5983" y="21"/>
                  <a:pt x="5998" y="35"/>
                </a:cubicBezTo>
                <a:cubicBezTo>
                  <a:pt x="6012" y="49"/>
                  <a:pt x="6024" y="65"/>
                  <a:pt x="6033" y="82"/>
                </a:cubicBezTo>
                <a:lnTo>
                  <a:pt x="6033" y="6589"/>
                </a:lnTo>
                <a:lnTo>
                  <a:pt x="0" y="6589"/>
                </a:lnTo>
                <a:lnTo>
                  <a:pt x="0" y="82"/>
                </a:lnTo>
                <a:cubicBezTo>
                  <a:pt x="9" y="65"/>
                  <a:pt x="21" y="49"/>
                  <a:pt x="35" y="35"/>
                </a:cubicBez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98" name="图片 197"/>
          <p:cNvPicPr/>
          <p:nvPr/>
        </p:nvPicPr>
        <p:blipFill>
          <a:blip r:embed="rId7"/>
          <a:stretch/>
        </p:blipFill>
        <p:spPr>
          <a:xfrm>
            <a:off x="314280" y="6238800"/>
            <a:ext cx="2171160" cy="304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9" name="文本框 198"/>
          <p:cNvSpPr txBox="1"/>
          <p:nvPr/>
        </p:nvSpPr>
        <p:spPr>
          <a:xfrm>
            <a:off x="8986680" y="1246680"/>
            <a:ext cx="82836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00" b="0" u="none" strike="noStrike">
                <a:solidFill>
                  <a:srgbClr val="FFFFFF"/>
                </a:solidFill>
                <a:effectLst/>
                <a:uFillTx/>
                <a:latin typeface="NotoSansSC"/>
                <a:ea typeface="NotoSansSC"/>
              </a:rPr>
              <a:t>手动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NotoSansSC"/>
                <a:ea typeface="NotoSansSC"/>
              </a:rPr>
              <a:t>Debug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00" name="图片 199"/>
          <p:cNvPicPr/>
          <p:nvPr/>
        </p:nvPicPr>
        <p:blipFill>
          <a:blip r:embed="rId8"/>
          <a:stretch/>
        </p:blipFill>
        <p:spPr>
          <a:xfrm>
            <a:off x="2647800" y="3857760"/>
            <a:ext cx="2199960" cy="2695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1" name="任意多边形: 形状 200"/>
          <p:cNvSpPr/>
          <p:nvPr/>
        </p:nvSpPr>
        <p:spPr>
          <a:xfrm>
            <a:off x="2657160" y="3867120"/>
            <a:ext cx="2181600" cy="2372040"/>
          </a:xfrm>
          <a:custGeom>
            <a:avLst/>
            <a:gdLst/>
            <a:ahLst/>
            <a:cxnLst/>
            <a:rect l="0" t="0" r="r" b="b"/>
            <a:pathLst>
              <a:path w="6060" h="6589">
                <a:moveTo>
                  <a:pt x="36" y="35"/>
                </a:moveTo>
                <a:cubicBezTo>
                  <a:pt x="50" y="21"/>
                  <a:pt x="66" y="9"/>
                  <a:pt x="83" y="0"/>
                </a:cubicBezTo>
                <a:lnTo>
                  <a:pt x="5978" y="0"/>
                </a:lnTo>
                <a:cubicBezTo>
                  <a:pt x="5995" y="9"/>
                  <a:pt x="6011" y="21"/>
                  <a:pt x="6025" y="35"/>
                </a:cubicBezTo>
                <a:cubicBezTo>
                  <a:pt x="6039" y="49"/>
                  <a:pt x="6051" y="65"/>
                  <a:pt x="6060" y="82"/>
                </a:cubicBezTo>
                <a:lnTo>
                  <a:pt x="6060" y="6589"/>
                </a:lnTo>
                <a:lnTo>
                  <a:pt x="0" y="6589"/>
                </a:lnTo>
                <a:lnTo>
                  <a:pt x="0" y="82"/>
                </a:lnTo>
                <a:cubicBezTo>
                  <a:pt x="10" y="65"/>
                  <a:pt x="22" y="49"/>
                  <a:pt x="36" y="35"/>
                </a:cubicBez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03" name="图片 202"/>
          <p:cNvPicPr/>
          <p:nvPr/>
        </p:nvPicPr>
        <p:blipFill>
          <a:blip r:embed="rId9"/>
          <a:stretch/>
        </p:blipFill>
        <p:spPr>
          <a:xfrm>
            <a:off x="2657520" y="6238800"/>
            <a:ext cx="2180880" cy="304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4" name="文本框 203"/>
          <p:cNvSpPr txBox="1"/>
          <p:nvPr/>
        </p:nvSpPr>
        <p:spPr>
          <a:xfrm>
            <a:off x="1097280" y="6326280"/>
            <a:ext cx="635040" cy="16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00" b="0" u="none" strike="noStrike">
                <a:solidFill>
                  <a:srgbClr val="0052D9"/>
                </a:solidFill>
                <a:effectLst/>
                <a:uFillTx/>
                <a:latin typeface="NotoSansSC"/>
                <a:ea typeface="NotoSansSC"/>
              </a:rPr>
              <a:t>DS</a:t>
            </a:r>
            <a:r>
              <a:rPr lang="zh-CN" sz="900" b="0" u="none" strike="noStrike">
                <a:solidFill>
                  <a:srgbClr val="0052D9"/>
                </a:solidFill>
                <a:effectLst/>
                <a:uFillTx/>
                <a:latin typeface="NotoSansSC"/>
                <a:ea typeface="NotoSansSC"/>
              </a:rPr>
              <a:t>日志拉取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05" name="图片 204"/>
          <p:cNvPicPr/>
          <p:nvPr/>
        </p:nvPicPr>
        <p:blipFill>
          <a:blip r:embed="rId10"/>
          <a:stretch/>
        </p:blipFill>
        <p:spPr>
          <a:xfrm>
            <a:off x="5000760" y="3857760"/>
            <a:ext cx="2190240" cy="2695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6" name="任意多边形: 形状 205"/>
          <p:cNvSpPr/>
          <p:nvPr/>
        </p:nvSpPr>
        <p:spPr>
          <a:xfrm>
            <a:off x="5010120" y="3867120"/>
            <a:ext cx="2171880" cy="2372040"/>
          </a:xfrm>
          <a:custGeom>
            <a:avLst/>
            <a:gdLst/>
            <a:ahLst/>
            <a:cxnLst/>
            <a:rect l="0" t="0" r="r" b="b"/>
            <a:pathLst>
              <a:path w="6033" h="6589">
                <a:moveTo>
                  <a:pt x="35" y="35"/>
                </a:moveTo>
                <a:cubicBezTo>
                  <a:pt x="49" y="21"/>
                  <a:pt x="65" y="9"/>
                  <a:pt x="82" y="0"/>
                </a:cubicBezTo>
                <a:lnTo>
                  <a:pt x="5950" y="0"/>
                </a:lnTo>
                <a:cubicBezTo>
                  <a:pt x="5968" y="9"/>
                  <a:pt x="5983" y="21"/>
                  <a:pt x="5998" y="35"/>
                </a:cubicBezTo>
                <a:cubicBezTo>
                  <a:pt x="6012" y="49"/>
                  <a:pt x="6024" y="65"/>
                  <a:pt x="6033" y="82"/>
                </a:cubicBezTo>
                <a:lnTo>
                  <a:pt x="6033" y="6589"/>
                </a:lnTo>
                <a:lnTo>
                  <a:pt x="0" y="6589"/>
                </a:lnTo>
                <a:lnTo>
                  <a:pt x="0" y="82"/>
                </a:lnTo>
                <a:cubicBezTo>
                  <a:pt x="9" y="65"/>
                  <a:pt x="21" y="49"/>
                  <a:pt x="35" y="35"/>
                </a:cubicBez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08" name="图片 207"/>
          <p:cNvPicPr/>
          <p:nvPr/>
        </p:nvPicPr>
        <p:blipFill>
          <a:blip r:embed="rId11"/>
          <a:stretch/>
        </p:blipFill>
        <p:spPr>
          <a:xfrm>
            <a:off x="5010120" y="6238800"/>
            <a:ext cx="2171160" cy="304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9" name="文本框 208"/>
          <p:cNvSpPr txBox="1"/>
          <p:nvPr/>
        </p:nvSpPr>
        <p:spPr>
          <a:xfrm>
            <a:off x="3520440" y="6326280"/>
            <a:ext cx="479880" cy="16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00" b="0" u="none" strike="noStrike">
                <a:solidFill>
                  <a:srgbClr val="0052D9"/>
                </a:solidFill>
                <a:effectLst/>
                <a:uFillTx/>
                <a:latin typeface="NotoSansSC"/>
                <a:ea typeface="NotoSansSC"/>
              </a:rPr>
              <a:t>日志切分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10" name="图片 209"/>
          <p:cNvPicPr/>
          <p:nvPr/>
        </p:nvPicPr>
        <p:blipFill>
          <a:blip r:embed="rId8"/>
          <a:stretch/>
        </p:blipFill>
        <p:spPr>
          <a:xfrm>
            <a:off x="7343640" y="3857760"/>
            <a:ext cx="2199960" cy="2695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1" name="任意多边形: 形状 210"/>
          <p:cNvSpPr/>
          <p:nvPr/>
        </p:nvSpPr>
        <p:spPr>
          <a:xfrm>
            <a:off x="7353000" y="3867120"/>
            <a:ext cx="2181600" cy="2372040"/>
          </a:xfrm>
          <a:custGeom>
            <a:avLst/>
            <a:gdLst/>
            <a:ahLst/>
            <a:cxnLst/>
            <a:rect l="0" t="0" r="r" b="b"/>
            <a:pathLst>
              <a:path w="6060" h="6589">
                <a:moveTo>
                  <a:pt x="36" y="35"/>
                </a:moveTo>
                <a:cubicBezTo>
                  <a:pt x="50" y="21"/>
                  <a:pt x="66" y="9"/>
                  <a:pt x="83" y="0"/>
                </a:cubicBezTo>
                <a:lnTo>
                  <a:pt x="5978" y="0"/>
                </a:lnTo>
                <a:cubicBezTo>
                  <a:pt x="5995" y="9"/>
                  <a:pt x="6011" y="21"/>
                  <a:pt x="6025" y="35"/>
                </a:cubicBezTo>
                <a:cubicBezTo>
                  <a:pt x="6039" y="49"/>
                  <a:pt x="6051" y="65"/>
                  <a:pt x="6060" y="82"/>
                </a:cubicBezTo>
                <a:lnTo>
                  <a:pt x="6060" y="6589"/>
                </a:lnTo>
                <a:lnTo>
                  <a:pt x="0" y="6589"/>
                </a:lnTo>
                <a:lnTo>
                  <a:pt x="0" y="82"/>
                </a:lnTo>
                <a:cubicBezTo>
                  <a:pt x="10" y="65"/>
                  <a:pt x="22" y="49"/>
                  <a:pt x="36" y="35"/>
                </a:cubicBez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13" name="图片 212"/>
          <p:cNvPicPr/>
          <p:nvPr/>
        </p:nvPicPr>
        <p:blipFill>
          <a:blip r:embed="rId9"/>
          <a:stretch/>
        </p:blipFill>
        <p:spPr>
          <a:xfrm>
            <a:off x="7353360" y="6238800"/>
            <a:ext cx="2180880" cy="304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4" name="文本框 213"/>
          <p:cNvSpPr txBox="1"/>
          <p:nvPr/>
        </p:nvSpPr>
        <p:spPr>
          <a:xfrm>
            <a:off x="5810040" y="6326280"/>
            <a:ext cx="599760" cy="16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00" b="0" u="none" strike="noStrike">
                <a:solidFill>
                  <a:srgbClr val="0052D9"/>
                </a:solidFill>
                <a:effectLst/>
                <a:uFillTx/>
                <a:latin typeface="NotoSansSC"/>
                <a:ea typeface="NotoSansSC"/>
              </a:rPr>
              <a:t>结构化分析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15" name="图片 214"/>
          <p:cNvPicPr/>
          <p:nvPr/>
        </p:nvPicPr>
        <p:blipFill>
          <a:blip r:embed="rId12"/>
          <a:stretch/>
        </p:blipFill>
        <p:spPr>
          <a:xfrm>
            <a:off x="9696600" y="3857760"/>
            <a:ext cx="2190240" cy="2695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6" name="任意多边形: 形状 215"/>
          <p:cNvSpPr/>
          <p:nvPr/>
        </p:nvSpPr>
        <p:spPr>
          <a:xfrm>
            <a:off x="9705960" y="3867120"/>
            <a:ext cx="2171880" cy="2372040"/>
          </a:xfrm>
          <a:custGeom>
            <a:avLst/>
            <a:gdLst/>
            <a:ahLst/>
            <a:cxnLst/>
            <a:rect l="0" t="0" r="r" b="b"/>
            <a:pathLst>
              <a:path w="6033" h="6589">
                <a:moveTo>
                  <a:pt x="35" y="35"/>
                </a:moveTo>
                <a:cubicBezTo>
                  <a:pt x="49" y="21"/>
                  <a:pt x="65" y="9"/>
                  <a:pt x="82" y="0"/>
                </a:cubicBezTo>
                <a:lnTo>
                  <a:pt x="5950" y="0"/>
                </a:lnTo>
                <a:cubicBezTo>
                  <a:pt x="5968" y="9"/>
                  <a:pt x="5983" y="21"/>
                  <a:pt x="5997" y="35"/>
                </a:cubicBezTo>
                <a:cubicBezTo>
                  <a:pt x="6012" y="49"/>
                  <a:pt x="6024" y="65"/>
                  <a:pt x="6033" y="82"/>
                </a:cubicBezTo>
                <a:lnTo>
                  <a:pt x="6033" y="6589"/>
                </a:lnTo>
                <a:lnTo>
                  <a:pt x="0" y="6589"/>
                </a:lnTo>
                <a:lnTo>
                  <a:pt x="0" y="82"/>
                </a:lnTo>
                <a:cubicBezTo>
                  <a:pt x="9" y="65"/>
                  <a:pt x="21" y="49"/>
                  <a:pt x="35" y="35"/>
                </a:cubicBezTo>
                <a:close/>
              </a:path>
            </a:pathLst>
          </a:custGeom>
          <a:solidFill>
            <a:srgbClr val="FEF2F2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任意多边形: 形状 217"/>
          <p:cNvSpPr/>
          <p:nvPr/>
        </p:nvSpPr>
        <p:spPr>
          <a:xfrm>
            <a:off x="11496600" y="3943080"/>
            <a:ext cx="304920" cy="181440"/>
          </a:xfrm>
          <a:custGeom>
            <a:avLst/>
            <a:gdLst/>
            <a:ahLst/>
            <a:cxnLst/>
            <a:rect l="0" t="0" r="r" b="b"/>
            <a:pathLst>
              <a:path w="847" h="504">
                <a:moveTo>
                  <a:pt x="0" y="398"/>
                </a:moveTo>
                <a:lnTo>
                  <a:pt x="0" y="106"/>
                </a:ln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742" y="0"/>
                </a:lnTo>
                <a:cubicBezTo>
                  <a:pt x="756" y="0"/>
                  <a:pt x="769" y="3"/>
                  <a:pt x="782" y="8"/>
                </a:cubicBezTo>
                <a:cubicBezTo>
                  <a:pt x="795" y="14"/>
                  <a:pt x="806" y="21"/>
                  <a:pt x="816" y="31"/>
                </a:cubicBezTo>
                <a:cubicBezTo>
                  <a:pt x="826" y="41"/>
                  <a:pt x="834" y="53"/>
                  <a:pt x="839" y="66"/>
                </a:cubicBezTo>
                <a:cubicBezTo>
                  <a:pt x="845" y="79"/>
                  <a:pt x="847" y="92"/>
                  <a:pt x="847" y="106"/>
                </a:cubicBezTo>
                <a:lnTo>
                  <a:pt x="847" y="398"/>
                </a:lnTo>
                <a:cubicBezTo>
                  <a:pt x="847" y="412"/>
                  <a:pt x="845" y="426"/>
                  <a:pt x="839" y="439"/>
                </a:cubicBezTo>
                <a:cubicBezTo>
                  <a:pt x="834" y="452"/>
                  <a:pt x="826" y="463"/>
                  <a:pt x="816" y="473"/>
                </a:cubicBezTo>
                <a:cubicBezTo>
                  <a:pt x="806" y="483"/>
                  <a:pt x="795" y="491"/>
                  <a:pt x="782" y="496"/>
                </a:cubicBezTo>
                <a:cubicBezTo>
                  <a:pt x="769" y="501"/>
                  <a:pt x="756" y="504"/>
                  <a:pt x="742" y="504"/>
                </a:cubicBezTo>
                <a:lnTo>
                  <a:pt x="106" y="504"/>
                </a:lnTo>
                <a:cubicBezTo>
                  <a:pt x="92" y="504"/>
                  <a:pt x="78" y="501"/>
                  <a:pt x="65" y="496"/>
                </a:cubicBezTo>
                <a:cubicBezTo>
                  <a:pt x="52" y="491"/>
                  <a:pt x="41" y="483"/>
                  <a:pt x="31" y="473"/>
                </a:cubicBezTo>
                <a:cubicBezTo>
                  <a:pt x="21" y="463"/>
                  <a:pt x="13" y="452"/>
                  <a:pt x="8" y="439"/>
                </a:cubicBezTo>
                <a:cubicBezTo>
                  <a:pt x="2" y="426"/>
                  <a:pt x="0" y="412"/>
                  <a:pt x="0" y="398"/>
                </a:cubicBezTo>
                <a:close/>
              </a:path>
            </a:pathLst>
          </a:custGeom>
          <a:solidFill>
            <a:srgbClr val="EF444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9" name="文本框 218"/>
          <p:cNvSpPr txBox="1"/>
          <p:nvPr/>
        </p:nvSpPr>
        <p:spPr>
          <a:xfrm>
            <a:off x="8100000" y="6326280"/>
            <a:ext cx="720000" cy="16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00" b="0" u="none" strike="noStrike">
                <a:solidFill>
                  <a:srgbClr val="0052D9"/>
                </a:solidFill>
                <a:effectLst/>
                <a:uFillTx/>
                <a:latin typeface="NotoSansSC"/>
                <a:ea typeface="NotoSansSC"/>
              </a:rPr>
              <a:t>关键日志提取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20" name="图片 219"/>
          <p:cNvPicPr/>
          <p:nvPr/>
        </p:nvPicPr>
        <p:blipFill>
          <a:blip r:embed="rId13"/>
          <a:stretch/>
        </p:blipFill>
        <p:spPr>
          <a:xfrm>
            <a:off x="9705960" y="6238800"/>
            <a:ext cx="2171160" cy="304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1" name="文本框 220"/>
          <p:cNvSpPr txBox="1"/>
          <p:nvPr/>
        </p:nvSpPr>
        <p:spPr>
          <a:xfrm>
            <a:off x="11553840" y="3974760"/>
            <a:ext cx="19980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750" b="0" u="none" strike="noStrike">
                <a:solidFill>
                  <a:srgbClr val="FFFFFF"/>
                </a:solidFill>
                <a:effectLst/>
                <a:uFillTx/>
                <a:latin typeface="NotoSansSC"/>
                <a:ea typeface="NotoSansSC"/>
              </a:rPr>
              <a:t>痛点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文本框 221"/>
          <p:cNvSpPr txBox="1"/>
          <p:nvPr/>
        </p:nvSpPr>
        <p:spPr>
          <a:xfrm>
            <a:off x="10075320" y="6326280"/>
            <a:ext cx="1500120" cy="16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00" b="0" u="none" strike="noStrike">
                <a:solidFill>
                  <a:srgbClr val="EF4444"/>
                </a:solidFill>
                <a:effectLst/>
                <a:uFillTx/>
                <a:latin typeface="NotoSansSC"/>
                <a:ea typeface="NotoSansSC"/>
              </a:rPr>
              <a:t>默认</a:t>
            </a:r>
            <a:r>
              <a:rPr lang="en-US" sz="900" b="0" u="none" strike="noStrike">
                <a:solidFill>
                  <a:srgbClr val="EF4444"/>
                </a:solidFill>
                <a:effectLst/>
                <a:uFillTx/>
                <a:latin typeface="NotoSansSC"/>
                <a:ea typeface="NotoSansSC"/>
              </a:rPr>
              <a:t>Agent: </a:t>
            </a:r>
            <a:r>
              <a:rPr lang="zh-CN" sz="900" b="0" u="none" strike="noStrike">
                <a:solidFill>
                  <a:srgbClr val="EF4444"/>
                </a:solidFill>
                <a:effectLst/>
                <a:uFillTx/>
                <a:latin typeface="NotoSansSC"/>
                <a:ea typeface="NotoSansSC"/>
              </a:rPr>
              <a:t>无法读取大文件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CB4EF01-EC52-BE7A-537B-F586F9513A78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14280" y="3867120"/>
            <a:ext cx="4499096" cy="41803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9E4C19C-5FE1-AC70-E10D-F53B6588395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26124" y="4368083"/>
            <a:ext cx="2148193" cy="128118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B28B3004-B7B2-9BF1-FB96-6656435FE845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742565" y="4368083"/>
            <a:ext cx="2010790" cy="1835593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634A0BFA-C207-E25C-C170-5AF36AF4F122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07" r="60333"/>
          <a:stretch/>
        </p:blipFill>
        <p:spPr>
          <a:xfrm>
            <a:off x="5127749" y="4368083"/>
            <a:ext cx="1936501" cy="1772826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E60DE609-5062-CFCC-7D8E-EEFA49F7C2B4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418051" y="4368083"/>
            <a:ext cx="2079577" cy="1214330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45483DFD-148A-4171-D07D-024A869B5D9E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725294" y="4368083"/>
            <a:ext cx="2057506" cy="9652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: 形状 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0F2F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" name="图片 2"/>
          <p:cNvPicPr/>
          <p:nvPr/>
        </p:nvPicPr>
        <p:blipFill>
          <a:blip r:embed="rId2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任意多边形: 形状 3"/>
          <p:cNvSpPr/>
          <p:nvPr/>
        </p:nvSpPr>
        <p:spPr>
          <a:xfrm>
            <a:off x="475920" y="1142640"/>
            <a:ext cx="914760" cy="57600"/>
          </a:xfrm>
          <a:custGeom>
            <a:avLst/>
            <a:gdLst/>
            <a:ahLst/>
            <a:cxnLst/>
            <a:rect l="0" t="0" r="r" b="b"/>
            <a:pathLst>
              <a:path w="2541" h="160">
                <a:moveTo>
                  <a:pt x="0" y="81"/>
                </a:moveTo>
                <a:cubicBezTo>
                  <a:pt x="0" y="70"/>
                  <a:pt x="2" y="59"/>
                  <a:pt x="6" y="49"/>
                </a:cubicBezTo>
                <a:cubicBezTo>
                  <a:pt x="10" y="40"/>
                  <a:pt x="16" y="31"/>
                  <a:pt x="24" y="24"/>
                </a:cubicBezTo>
                <a:cubicBezTo>
                  <a:pt x="31" y="16"/>
                  <a:pt x="40" y="11"/>
                  <a:pt x="49" y="7"/>
                </a:cubicBezTo>
                <a:cubicBezTo>
                  <a:pt x="59" y="3"/>
                  <a:pt x="69" y="0"/>
                  <a:pt x="80" y="0"/>
                </a:cubicBezTo>
                <a:lnTo>
                  <a:pt x="2461" y="0"/>
                </a:lnTo>
                <a:cubicBezTo>
                  <a:pt x="2472" y="0"/>
                  <a:pt x="2482" y="3"/>
                  <a:pt x="2492" y="7"/>
                </a:cubicBezTo>
                <a:cubicBezTo>
                  <a:pt x="2502" y="11"/>
                  <a:pt x="2511" y="16"/>
                  <a:pt x="2518" y="24"/>
                </a:cubicBezTo>
                <a:cubicBezTo>
                  <a:pt x="2526" y="31"/>
                  <a:pt x="2531" y="40"/>
                  <a:pt x="2535" y="49"/>
                </a:cubicBezTo>
                <a:cubicBezTo>
                  <a:pt x="2539" y="59"/>
                  <a:pt x="2541" y="70"/>
                  <a:pt x="2541" y="81"/>
                </a:cubicBezTo>
                <a:cubicBezTo>
                  <a:pt x="2541" y="91"/>
                  <a:pt x="2539" y="102"/>
                  <a:pt x="2535" y="111"/>
                </a:cubicBezTo>
                <a:cubicBezTo>
                  <a:pt x="2531" y="121"/>
                  <a:pt x="2526" y="130"/>
                  <a:pt x="2518" y="137"/>
                </a:cubicBezTo>
                <a:cubicBezTo>
                  <a:pt x="2511" y="144"/>
                  <a:pt x="2502" y="150"/>
                  <a:pt x="2492" y="154"/>
                </a:cubicBezTo>
                <a:cubicBezTo>
                  <a:pt x="2482" y="158"/>
                  <a:pt x="2472" y="160"/>
                  <a:pt x="2461" y="160"/>
                </a:cubicBezTo>
                <a:lnTo>
                  <a:pt x="80" y="160"/>
                </a:lnTo>
                <a:cubicBezTo>
                  <a:pt x="69" y="160"/>
                  <a:pt x="59" y="158"/>
                  <a:pt x="49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30"/>
                  <a:pt x="10" y="121"/>
                  <a:pt x="6" y="111"/>
                </a:cubicBezTo>
                <a:cubicBezTo>
                  <a:pt x="2" y="102"/>
                  <a:pt x="0" y="91"/>
                  <a:pt x="0" y="81"/>
                </a:cubicBezTo>
                <a:close/>
              </a:path>
            </a:pathLst>
          </a:custGeom>
          <a:solidFill>
            <a:srgbClr val="0052D9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76280" y="662040"/>
            <a:ext cx="2880360" cy="497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2700" b="0" u="none" strike="noStrike" dirty="0">
                <a:solidFill>
                  <a:srgbClr val="111827"/>
                </a:solidFill>
                <a:effectLst/>
                <a:uFillTx/>
                <a:latin typeface="NotoSansSC"/>
                <a:ea typeface="NotoSansSC"/>
              </a:rPr>
              <a:t>业务开发工作积累</a:t>
            </a:r>
            <a:endParaRPr lang="en-US" sz="27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486720" y="390960"/>
            <a:ext cx="2380320" cy="19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6B7280"/>
                </a:solidFill>
                <a:effectLst/>
                <a:uFillTx/>
                <a:latin typeface="NotoSansSC"/>
                <a:ea typeface="NotoSansSC"/>
              </a:rPr>
              <a:t>实习期间总工作量 </a:t>
            </a:r>
            <a:r>
              <a:rPr lang="en-US" sz="1050" b="0" u="none" strike="noStrike">
                <a:solidFill>
                  <a:srgbClr val="6B7280"/>
                </a:solidFill>
                <a:effectLst/>
                <a:uFillTx/>
                <a:latin typeface="NotoSansSC"/>
                <a:ea typeface="NotoSansSC"/>
              </a:rPr>
              <a:t>(2025.09-2026.01)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7" name="图片 6"/>
          <p:cNvPicPr/>
          <p:nvPr/>
        </p:nvPicPr>
        <p:blipFill>
          <a:blip r:embed="rId3"/>
          <a:stretch/>
        </p:blipFill>
        <p:spPr>
          <a:xfrm>
            <a:off x="10744200" y="609480"/>
            <a:ext cx="704520" cy="570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" name="图片 7"/>
          <p:cNvPicPr/>
          <p:nvPr/>
        </p:nvPicPr>
        <p:blipFill>
          <a:blip r:embed="rId4"/>
          <a:stretch/>
        </p:blipFill>
        <p:spPr>
          <a:xfrm>
            <a:off x="476280" y="1428840"/>
            <a:ext cx="2666520" cy="4076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" name="图片 8"/>
          <p:cNvPicPr/>
          <p:nvPr/>
        </p:nvPicPr>
        <p:blipFill>
          <a:blip r:embed="rId5"/>
          <a:stretch/>
        </p:blipFill>
        <p:spPr>
          <a:xfrm>
            <a:off x="2000160" y="1428840"/>
            <a:ext cx="1142640" cy="1142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" name="任意多边形: 形状 9"/>
          <p:cNvSpPr/>
          <p:nvPr/>
        </p:nvSpPr>
        <p:spPr>
          <a:xfrm>
            <a:off x="666720" y="1657080"/>
            <a:ext cx="381240" cy="381600"/>
          </a:xfrm>
          <a:custGeom>
            <a:avLst/>
            <a:gdLst/>
            <a:ahLst/>
            <a:cxnLst/>
            <a:rect l="0" t="0" r="r" b="b"/>
            <a:pathLst>
              <a:path w="1059" h="1060">
                <a:moveTo>
                  <a:pt x="0" y="848"/>
                </a:moveTo>
                <a:lnTo>
                  <a:pt x="0" y="213"/>
                </a:lnTo>
                <a:cubicBezTo>
                  <a:pt x="0" y="199"/>
                  <a:pt x="1" y="185"/>
                  <a:pt x="4" y="172"/>
                </a:cubicBezTo>
                <a:cubicBezTo>
                  <a:pt x="6" y="157"/>
                  <a:pt x="10" y="144"/>
                  <a:pt x="16" y="131"/>
                </a:cubicBezTo>
                <a:cubicBezTo>
                  <a:pt x="21" y="118"/>
                  <a:pt x="28" y="106"/>
                  <a:pt x="35" y="94"/>
                </a:cubicBezTo>
                <a:cubicBezTo>
                  <a:pt x="43" y="83"/>
                  <a:pt x="52" y="72"/>
                  <a:pt x="62" y="62"/>
                </a:cubicBezTo>
                <a:cubicBezTo>
                  <a:pt x="71" y="52"/>
                  <a:pt x="82" y="44"/>
                  <a:pt x="94" y="36"/>
                </a:cubicBezTo>
                <a:cubicBezTo>
                  <a:pt x="105" y="28"/>
                  <a:pt x="117" y="22"/>
                  <a:pt x="130" y="16"/>
                </a:cubicBezTo>
                <a:cubicBezTo>
                  <a:pt x="143" y="11"/>
                  <a:pt x="156" y="7"/>
                  <a:pt x="170" y="4"/>
                </a:cubicBezTo>
                <a:cubicBezTo>
                  <a:pt x="184" y="2"/>
                  <a:pt x="197" y="0"/>
                  <a:pt x="211" y="0"/>
                </a:cubicBezTo>
                <a:lnTo>
                  <a:pt x="847" y="0"/>
                </a:lnTo>
                <a:cubicBezTo>
                  <a:pt x="861" y="0"/>
                  <a:pt x="875" y="2"/>
                  <a:pt x="889" y="4"/>
                </a:cubicBezTo>
                <a:cubicBezTo>
                  <a:pt x="902" y="7"/>
                  <a:pt x="915" y="11"/>
                  <a:pt x="928" y="16"/>
                </a:cubicBezTo>
                <a:cubicBezTo>
                  <a:pt x="941" y="22"/>
                  <a:pt x="953" y="28"/>
                  <a:pt x="965" y="36"/>
                </a:cubicBezTo>
                <a:cubicBezTo>
                  <a:pt x="976" y="44"/>
                  <a:pt x="987" y="52"/>
                  <a:pt x="997" y="62"/>
                </a:cubicBezTo>
                <a:cubicBezTo>
                  <a:pt x="1007" y="72"/>
                  <a:pt x="1016" y="83"/>
                  <a:pt x="1023" y="94"/>
                </a:cubicBezTo>
                <a:cubicBezTo>
                  <a:pt x="1031" y="106"/>
                  <a:pt x="1037" y="118"/>
                  <a:pt x="1043" y="131"/>
                </a:cubicBezTo>
                <a:cubicBezTo>
                  <a:pt x="1048" y="144"/>
                  <a:pt x="1052" y="157"/>
                  <a:pt x="1055" y="172"/>
                </a:cubicBezTo>
                <a:cubicBezTo>
                  <a:pt x="1058" y="185"/>
                  <a:pt x="1059" y="199"/>
                  <a:pt x="1059" y="213"/>
                </a:cubicBezTo>
                <a:lnTo>
                  <a:pt x="1059" y="848"/>
                </a:lnTo>
                <a:cubicBezTo>
                  <a:pt x="1059" y="862"/>
                  <a:pt x="1058" y="876"/>
                  <a:pt x="1055" y="889"/>
                </a:cubicBezTo>
                <a:cubicBezTo>
                  <a:pt x="1052" y="903"/>
                  <a:pt x="1048" y="916"/>
                  <a:pt x="1043" y="929"/>
                </a:cubicBezTo>
                <a:cubicBezTo>
                  <a:pt x="1037" y="942"/>
                  <a:pt x="1031" y="954"/>
                  <a:pt x="1023" y="966"/>
                </a:cubicBezTo>
                <a:cubicBezTo>
                  <a:pt x="1016" y="977"/>
                  <a:pt x="1007" y="988"/>
                  <a:pt x="997" y="998"/>
                </a:cubicBezTo>
                <a:cubicBezTo>
                  <a:pt x="987" y="1007"/>
                  <a:pt x="976" y="1016"/>
                  <a:pt x="965" y="1024"/>
                </a:cubicBezTo>
                <a:cubicBezTo>
                  <a:pt x="953" y="1032"/>
                  <a:pt x="941" y="1038"/>
                  <a:pt x="928" y="1043"/>
                </a:cubicBezTo>
                <a:cubicBezTo>
                  <a:pt x="915" y="1049"/>
                  <a:pt x="902" y="1053"/>
                  <a:pt x="889" y="1056"/>
                </a:cubicBezTo>
                <a:cubicBezTo>
                  <a:pt x="875" y="1058"/>
                  <a:pt x="861" y="1060"/>
                  <a:pt x="847" y="1060"/>
                </a:cubicBezTo>
                <a:lnTo>
                  <a:pt x="211" y="1060"/>
                </a:lnTo>
                <a:cubicBezTo>
                  <a:pt x="197" y="1060"/>
                  <a:pt x="184" y="1058"/>
                  <a:pt x="170" y="1056"/>
                </a:cubicBezTo>
                <a:cubicBezTo>
                  <a:pt x="156" y="1053"/>
                  <a:pt x="143" y="1049"/>
                  <a:pt x="130" y="1043"/>
                </a:cubicBezTo>
                <a:cubicBezTo>
                  <a:pt x="117" y="1038"/>
                  <a:pt x="105" y="1032"/>
                  <a:pt x="94" y="1024"/>
                </a:cubicBezTo>
                <a:cubicBezTo>
                  <a:pt x="82" y="1016"/>
                  <a:pt x="71" y="1007"/>
                  <a:pt x="62" y="998"/>
                </a:cubicBezTo>
                <a:cubicBezTo>
                  <a:pt x="52" y="988"/>
                  <a:pt x="43" y="977"/>
                  <a:pt x="35" y="966"/>
                </a:cubicBezTo>
                <a:cubicBezTo>
                  <a:pt x="28" y="954"/>
                  <a:pt x="21" y="942"/>
                  <a:pt x="16" y="929"/>
                </a:cubicBezTo>
                <a:cubicBezTo>
                  <a:pt x="10" y="916"/>
                  <a:pt x="6" y="903"/>
                  <a:pt x="4" y="889"/>
                </a:cubicBezTo>
                <a:cubicBezTo>
                  <a:pt x="1" y="876"/>
                  <a:pt x="0" y="862"/>
                  <a:pt x="0" y="848"/>
                </a:cubicBezTo>
                <a:close/>
              </a:path>
            </a:pathLst>
          </a:custGeom>
          <a:solidFill>
            <a:srgbClr val="E6F0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任意多边形: 形状 10"/>
          <p:cNvSpPr/>
          <p:nvPr/>
        </p:nvSpPr>
        <p:spPr>
          <a:xfrm>
            <a:off x="780840" y="1761840"/>
            <a:ext cx="152640" cy="172080"/>
          </a:xfrm>
          <a:custGeom>
            <a:avLst/>
            <a:gdLst/>
            <a:ahLst/>
            <a:cxnLst/>
            <a:rect l="0" t="0" r="r" b="b"/>
            <a:pathLst>
              <a:path w="424" h="478" fill="none">
                <a:moveTo>
                  <a:pt x="239" y="186"/>
                </a:moveTo>
                <a:lnTo>
                  <a:pt x="239" y="0"/>
                </a:lnTo>
                <a:lnTo>
                  <a:pt x="0" y="292"/>
                </a:lnTo>
                <a:lnTo>
                  <a:pt x="186" y="292"/>
                </a:lnTo>
                <a:lnTo>
                  <a:pt x="186" y="478"/>
                </a:lnTo>
                <a:lnTo>
                  <a:pt x="424" y="186"/>
                </a:lnTo>
                <a:lnTo>
                  <a:pt x="239" y="186"/>
                </a:lnTo>
              </a:path>
            </a:pathLst>
          </a:custGeom>
          <a:ln w="18720" cap="rnd">
            <a:solidFill>
              <a:srgbClr val="0052D9"/>
            </a:solidFill>
            <a:round/>
          </a:ln>
        </p:spPr>
        <p:txBody>
          <a:bodyPr lIns="9360" tIns="9360" rIns="9360" bIns="936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1525400" y="939240"/>
            <a:ext cx="19980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500" b="0" u="none" strike="noStrike">
                <a:solidFill>
                  <a:srgbClr val="4B5563"/>
                </a:solidFill>
                <a:effectLst/>
                <a:uFillTx/>
                <a:latin typeface="NotoSansSC"/>
                <a:ea typeface="NotoSansSC"/>
              </a:rPr>
              <a:t>项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任意多边形: 形状 12"/>
          <p:cNvSpPr/>
          <p:nvPr/>
        </p:nvSpPr>
        <p:spPr>
          <a:xfrm>
            <a:off x="666720" y="2609640"/>
            <a:ext cx="2286360" cy="57600"/>
          </a:xfrm>
          <a:custGeom>
            <a:avLst/>
            <a:gdLst/>
            <a:ahLst/>
            <a:cxnLst/>
            <a:rect l="0" t="0" r="r" b="b"/>
            <a:pathLst>
              <a:path w="6351" h="160">
                <a:moveTo>
                  <a:pt x="0" y="79"/>
                </a:move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5" y="31"/>
                  <a:pt x="23" y="23"/>
                </a:cubicBezTo>
                <a:cubicBezTo>
                  <a:pt x="30" y="16"/>
                  <a:pt x="39" y="10"/>
                  <a:pt x="49" y="6"/>
                </a:cubicBezTo>
                <a:cubicBezTo>
                  <a:pt x="58" y="2"/>
                  <a:pt x="68" y="0"/>
                  <a:pt x="79" y="0"/>
                </a:cubicBezTo>
                <a:lnTo>
                  <a:pt x="6271" y="0"/>
                </a:lnTo>
                <a:cubicBezTo>
                  <a:pt x="6282" y="0"/>
                  <a:pt x="6292" y="2"/>
                  <a:pt x="6302" y="6"/>
                </a:cubicBezTo>
                <a:cubicBezTo>
                  <a:pt x="6311" y="10"/>
                  <a:pt x="6320" y="16"/>
                  <a:pt x="6327" y="23"/>
                </a:cubicBezTo>
                <a:cubicBezTo>
                  <a:pt x="6335" y="31"/>
                  <a:pt x="6341" y="39"/>
                  <a:pt x="6345" y="49"/>
                </a:cubicBezTo>
                <a:cubicBezTo>
                  <a:pt x="6349" y="59"/>
                  <a:pt x="6351" y="69"/>
                  <a:pt x="6351" y="79"/>
                </a:cubicBezTo>
                <a:cubicBezTo>
                  <a:pt x="6351" y="90"/>
                  <a:pt x="6349" y="101"/>
                  <a:pt x="6345" y="111"/>
                </a:cubicBezTo>
                <a:cubicBezTo>
                  <a:pt x="6341" y="121"/>
                  <a:pt x="6335" y="129"/>
                  <a:pt x="6327" y="137"/>
                </a:cubicBezTo>
                <a:cubicBezTo>
                  <a:pt x="6320" y="144"/>
                  <a:pt x="6311" y="150"/>
                  <a:pt x="6302" y="154"/>
                </a:cubicBezTo>
                <a:cubicBezTo>
                  <a:pt x="6292" y="158"/>
                  <a:pt x="6282" y="160"/>
                  <a:pt x="6271" y="160"/>
                </a:cubicBezTo>
                <a:lnTo>
                  <a:pt x="79" y="160"/>
                </a:lnTo>
                <a:cubicBezTo>
                  <a:pt x="68" y="160"/>
                  <a:pt x="58" y="158"/>
                  <a:pt x="49" y="154"/>
                </a:cubicBezTo>
                <a:cubicBezTo>
                  <a:pt x="39" y="150"/>
                  <a:pt x="30" y="144"/>
                  <a:pt x="23" y="137"/>
                </a:cubicBezTo>
                <a:cubicBezTo>
                  <a:pt x="15" y="129"/>
                  <a:pt x="10" y="121"/>
                  <a:pt x="6" y="111"/>
                </a:cubicBezTo>
                <a:cubicBezTo>
                  <a:pt x="2" y="101"/>
                  <a:pt x="0" y="90"/>
                  <a:pt x="0" y="79"/>
                </a:cubicBez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任意多边形: 形状 13"/>
          <p:cNvSpPr/>
          <p:nvPr/>
        </p:nvSpPr>
        <p:spPr>
          <a:xfrm>
            <a:off x="666720" y="2609640"/>
            <a:ext cx="800280" cy="57600"/>
          </a:xfrm>
          <a:custGeom>
            <a:avLst/>
            <a:gdLst/>
            <a:ahLst/>
            <a:cxnLst/>
            <a:rect l="0" t="0" r="r" b="b"/>
            <a:pathLst>
              <a:path w="2223" h="160">
                <a:moveTo>
                  <a:pt x="0" y="79"/>
                </a:move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5" y="31"/>
                  <a:pt x="23" y="23"/>
                </a:cubicBezTo>
                <a:cubicBezTo>
                  <a:pt x="30" y="16"/>
                  <a:pt x="39" y="10"/>
                  <a:pt x="49" y="6"/>
                </a:cubicBezTo>
                <a:cubicBezTo>
                  <a:pt x="58" y="2"/>
                  <a:pt x="68" y="0"/>
                  <a:pt x="79" y="0"/>
                </a:cubicBezTo>
                <a:lnTo>
                  <a:pt x="2144" y="0"/>
                </a:lnTo>
                <a:cubicBezTo>
                  <a:pt x="2154" y="0"/>
                  <a:pt x="2164" y="2"/>
                  <a:pt x="2174" y="6"/>
                </a:cubicBezTo>
                <a:cubicBezTo>
                  <a:pt x="2184" y="10"/>
                  <a:pt x="2192" y="16"/>
                  <a:pt x="2200" y="23"/>
                </a:cubicBezTo>
                <a:cubicBezTo>
                  <a:pt x="2207" y="31"/>
                  <a:pt x="2213" y="39"/>
                  <a:pt x="2217" y="49"/>
                </a:cubicBezTo>
                <a:cubicBezTo>
                  <a:pt x="2221" y="59"/>
                  <a:pt x="2223" y="69"/>
                  <a:pt x="2223" y="79"/>
                </a:cubicBezTo>
                <a:cubicBezTo>
                  <a:pt x="2223" y="90"/>
                  <a:pt x="2221" y="101"/>
                  <a:pt x="2217" y="111"/>
                </a:cubicBezTo>
                <a:cubicBezTo>
                  <a:pt x="2213" y="121"/>
                  <a:pt x="2207" y="129"/>
                  <a:pt x="2200" y="137"/>
                </a:cubicBezTo>
                <a:cubicBezTo>
                  <a:pt x="2192" y="144"/>
                  <a:pt x="2184" y="150"/>
                  <a:pt x="2174" y="154"/>
                </a:cubicBezTo>
                <a:cubicBezTo>
                  <a:pt x="2164" y="158"/>
                  <a:pt x="2154" y="160"/>
                  <a:pt x="2144" y="160"/>
                </a:cubicBezTo>
                <a:lnTo>
                  <a:pt x="79" y="160"/>
                </a:lnTo>
                <a:cubicBezTo>
                  <a:pt x="68" y="160"/>
                  <a:pt x="58" y="158"/>
                  <a:pt x="49" y="154"/>
                </a:cubicBezTo>
                <a:cubicBezTo>
                  <a:pt x="39" y="150"/>
                  <a:pt x="30" y="144"/>
                  <a:pt x="23" y="137"/>
                </a:cubicBezTo>
                <a:cubicBezTo>
                  <a:pt x="15" y="129"/>
                  <a:pt x="10" y="121"/>
                  <a:pt x="6" y="111"/>
                </a:cubicBezTo>
                <a:cubicBezTo>
                  <a:pt x="2" y="101"/>
                  <a:pt x="0" y="90"/>
                  <a:pt x="0" y="79"/>
                </a:cubicBezTo>
                <a:close/>
              </a:path>
            </a:pathLst>
          </a:custGeom>
          <a:solidFill>
            <a:srgbClr val="0052D9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162080" y="1720440"/>
            <a:ext cx="79992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500" b="0" u="none" strike="noStrike">
                <a:solidFill>
                  <a:srgbClr val="1F2937"/>
                </a:solidFill>
                <a:effectLst/>
                <a:uFillTx/>
                <a:latin typeface="NotoSansSC"/>
                <a:ea typeface="NotoSansSC"/>
              </a:rPr>
              <a:t>战斗系统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66720" y="2180520"/>
            <a:ext cx="566640" cy="39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250" b="0" u="none" strike="noStrike">
                <a:solidFill>
                  <a:srgbClr val="0052D9"/>
                </a:solidFill>
                <a:effectLst/>
                <a:uFillTx/>
                <a:latin typeface="NotoSansSC"/>
                <a:ea typeface="NotoSansSC"/>
              </a:rPr>
              <a:t>35%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任意多边形: 形状 16"/>
          <p:cNvSpPr/>
          <p:nvPr/>
        </p:nvSpPr>
        <p:spPr>
          <a:xfrm>
            <a:off x="666720" y="2876400"/>
            <a:ext cx="57240" cy="57600"/>
          </a:xfrm>
          <a:custGeom>
            <a:avLst/>
            <a:gdLst/>
            <a:ahLst/>
            <a:cxnLst/>
            <a:rect l="0" t="0" r="r" b="b"/>
            <a:pathLst>
              <a:path w="159" h="160">
                <a:moveTo>
                  <a:pt x="159" y="79"/>
                </a:moveTo>
                <a:cubicBezTo>
                  <a:pt x="159" y="90"/>
                  <a:pt x="157" y="100"/>
                  <a:pt x="153" y="110"/>
                </a:cubicBezTo>
                <a:cubicBezTo>
                  <a:pt x="149" y="119"/>
                  <a:pt x="144" y="128"/>
                  <a:pt x="136" y="135"/>
                </a:cubicBezTo>
                <a:cubicBezTo>
                  <a:pt x="129" y="143"/>
                  <a:pt x="119" y="150"/>
                  <a:pt x="109" y="154"/>
                </a:cubicBezTo>
                <a:cubicBezTo>
                  <a:pt x="100" y="158"/>
                  <a:pt x="89" y="160"/>
                  <a:pt x="79" y="160"/>
                </a:cubicBezTo>
                <a:cubicBezTo>
                  <a:pt x="68" y="160"/>
                  <a:pt x="58" y="158"/>
                  <a:pt x="49" y="154"/>
                </a:cubicBezTo>
                <a:cubicBezTo>
                  <a:pt x="39" y="150"/>
                  <a:pt x="30" y="143"/>
                  <a:pt x="23" y="135"/>
                </a:cubicBezTo>
                <a:cubicBezTo>
                  <a:pt x="15" y="128"/>
                  <a:pt x="10" y="119"/>
                  <a:pt x="6" y="110"/>
                </a:cubicBezTo>
                <a:cubicBezTo>
                  <a:pt x="2" y="100"/>
                  <a:pt x="0" y="90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5" y="31"/>
                  <a:pt x="23" y="23"/>
                </a:cubicBezTo>
                <a:cubicBezTo>
                  <a:pt x="30" y="16"/>
                  <a:pt x="39" y="10"/>
                  <a:pt x="49" y="6"/>
                </a:cubicBezTo>
                <a:cubicBezTo>
                  <a:pt x="58" y="2"/>
                  <a:pt x="68" y="0"/>
                  <a:pt x="79" y="0"/>
                </a:cubicBezTo>
                <a:cubicBezTo>
                  <a:pt x="89" y="0"/>
                  <a:pt x="100" y="2"/>
                  <a:pt x="109" y="6"/>
                </a:cubicBezTo>
                <a:cubicBezTo>
                  <a:pt x="119" y="10"/>
                  <a:pt x="129" y="16"/>
                  <a:pt x="136" y="23"/>
                </a:cubicBezTo>
                <a:cubicBezTo>
                  <a:pt x="144" y="31"/>
                  <a:pt x="149" y="39"/>
                  <a:pt x="153" y="49"/>
                </a:cubicBezTo>
                <a:cubicBezTo>
                  <a:pt x="157" y="59"/>
                  <a:pt x="159" y="69"/>
                  <a:pt x="159" y="79"/>
                </a:cubicBezTo>
                <a:close/>
              </a:path>
            </a:pathLst>
          </a:custGeom>
          <a:solidFill>
            <a:srgbClr val="0052D9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362240" y="2343600"/>
            <a:ext cx="419760" cy="19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 dirty="0">
                <a:solidFill>
                  <a:srgbClr val="6B7280"/>
                </a:solidFill>
                <a:effectLst/>
                <a:uFillTx/>
                <a:latin typeface="NotoSansSC"/>
                <a:ea typeface="NotoSansSC"/>
              </a:rPr>
              <a:t>/ 22</a:t>
            </a:r>
            <a:r>
              <a:rPr lang="zh-CN" sz="1050" b="0" u="none" strike="noStrike" dirty="0">
                <a:solidFill>
                  <a:srgbClr val="6B7280"/>
                </a:solidFill>
                <a:effectLst/>
                <a:uFillTx/>
                <a:latin typeface="NotoSansSC"/>
                <a:ea typeface="NotoSansSC"/>
              </a:rPr>
              <a:t>项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799920" y="2829240"/>
            <a:ext cx="2240280" cy="19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 dirty="0">
                <a:solidFill>
                  <a:srgbClr val="4B5563"/>
                </a:solidFill>
                <a:effectLst/>
                <a:uFillTx/>
                <a:latin typeface="NotoSansSC"/>
                <a:ea typeface="NotoSansSC"/>
              </a:rPr>
              <a:t>开发 </a:t>
            </a:r>
            <a:r>
              <a:rPr lang="en-US" sz="1050" b="0" u="none" strike="noStrike" dirty="0">
                <a:solidFill>
                  <a:srgbClr val="4B5563"/>
                </a:solidFill>
                <a:effectLst/>
                <a:uFillTx/>
                <a:latin typeface="NotoSansSC"/>
                <a:ea typeface="NotoSansSC"/>
              </a:rPr>
              <a:t>Condition &amp; Filter (</a:t>
            </a:r>
            <a:r>
              <a:rPr lang="zh-CN" sz="1050" b="0" u="none" strike="noStrike" dirty="0">
                <a:solidFill>
                  <a:srgbClr val="4B5563"/>
                </a:solidFill>
                <a:effectLst/>
                <a:uFillTx/>
                <a:latin typeface="NotoSansSC"/>
                <a:ea typeface="NotoSansSC"/>
              </a:rPr>
              <a:t>阵营、距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任意多边形: 形状 19"/>
          <p:cNvSpPr/>
          <p:nvPr/>
        </p:nvSpPr>
        <p:spPr>
          <a:xfrm>
            <a:off x="666720" y="3371760"/>
            <a:ext cx="57240" cy="57240"/>
          </a:xfrm>
          <a:custGeom>
            <a:avLst/>
            <a:gdLst/>
            <a:ahLst/>
            <a:cxnLst/>
            <a:rect l="0" t="0" r="r" b="b"/>
            <a:pathLst>
              <a:path w="159" h="159">
                <a:moveTo>
                  <a:pt x="159" y="80"/>
                </a:moveTo>
                <a:cubicBezTo>
                  <a:pt x="159" y="91"/>
                  <a:pt x="157" y="101"/>
                  <a:pt x="153" y="110"/>
                </a:cubicBezTo>
                <a:cubicBezTo>
                  <a:pt x="149" y="120"/>
                  <a:pt x="144" y="129"/>
                  <a:pt x="136" y="136"/>
                </a:cubicBezTo>
                <a:cubicBezTo>
                  <a:pt x="129" y="144"/>
                  <a:pt x="119" y="149"/>
                  <a:pt x="109" y="153"/>
                </a:cubicBezTo>
                <a:cubicBezTo>
                  <a:pt x="100" y="157"/>
                  <a:pt x="89" y="159"/>
                  <a:pt x="79" y="159"/>
                </a:cubicBezTo>
                <a:cubicBezTo>
                  <a:pt x="68" y="159"/>
                  <a:pt x="58" y="157"/>
                  <a:pt x="49" y="153"/>
                </a:cubicBezTo>
                <a:cubicBezTo>
                  <a:pt x="39" y="149"/>
                  <a:pt x="30" y="144"/>
                  <a:pt x="23" y="136"/>
                </a:cubicBezTo>
                <a:cubicBezTo>
                  <a:pt x="15" y="129"/>
                  <a:pt x="10" y="120"/>
                  <a:pt x="6" y="110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59"/>
                  <a:pt x="6" y="50"/>
                </a:cubicBezTo>
                <a:cubicBezTo>
                  <a:pt x="10" y="40"/>
                  <a:pt x="15" y="30"/>
                  <a:pt x="23" y="23"/>
                </a:cubicBezTo>
                <a:cubicBezTo>
                  <a:pt x="30" y="16"/>
                  <a:pt x="39" y="10"/>
                  <a:pt x="49" y="6"/>
                </a:cubicBezTo>
                <a:cubicBezTo>
                  <a:pt x="58" y="2"/>
                  <a:pt x="68" y="0"/>
                  <a:pt x="79" y="0"/>
                </a:cubicBezTo>
                <a:cubicBezTo>
                  <a:pt x="89" y="0"/>
                  <a:pt x="100" y="2"/>
                  <a:pt x="109" y="6"/>
                </a:cubicBezTo>
                <a:cubicBezTo>
                  <a:pt x="119" y="10"/>
                  <a:pt x="129" y="16"/>
                  <a:pt x="136" y="23"/>
                </a:cubicBezTo>
                <a:cubicBezTo>
                  <a:pt x="144" y="30"/>
                  <a:pt x="149" y="40"/>
                  <a:pt x="153" y="50"/>
                </a:cubicBezTo>
                <a:cubicBezTo>
                  <a:pt x="157" y="59"/>
                  <a:pt x="159" y="70"/>
                  <a:pt x="159" y="80"/>
                </a:cubicBezTo>
                <a:close/>
              </a:path>
            </a:pathLst>
          </a:custGeom>
          <a:solidFill>
            <a:srgbClr val="0052D9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99920" y="3019680"/>
            <a:ext cx="780120" cy="19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4B5563"/>
                </a:solidFill>
                <a:effectLst/>
                <a:uFillTx/>
                <a:latin typeface="NotoSansSC"/>
                <a:ea typeface="NotoSansSC"/>
              </a:rPr>
              <a:t>离、</a:t>
            </a:r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NotoSansSC"/>
                <a:ea typeface="NotoSansSC"/>
              </a:rPr>
              <a:t>Tag</a:t>
            </a:r>
            <a:r>
              <a:rPr lang="zh-CN" sz="1050" b="0" u="none" strike="noStrike">
                <a:solidFill>
                  <a:srgbClr val="4B5563"/>
                </a:solidFill>
                <a:effectLst/>
                <a:uFillTx/>
                <a:latin typeface="NotoSansSC"/>
                <a:ea typeface="NotoSansSC"/>
              </a:rPr>
              <a:t>等</a:t>
            </a:r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NotoSansSC"/>
                <a:ea typeface="NotoSansSC"/>
              </a:rPr>
              <a:t>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任意多边形: 形状 21"/>
          <p:cNvSpPr/>
          <p:nvPr/>
        </p:nvSpPr>
        <p:spPr>
          <a:xfrm>
            <a:off x="666720" y="3676320"/>
            <a:ext cx="57240" cy="57600"/>
          </a:xfrm>
          <a:custGeom>
            <a:avLst/>
            <a:gdLst/>
            <a:ahLst/>
            <a:cxnLst/>
            <a:rect l="0" t="0" r="r" b="b"/>
            <a:pathLst>
              <a:path w="159" h="160">
                <a:moveTo>
                  <a:pt x="159" y="80"/>
                </a:moveTo>
                <a:cubicBezTo>
                  <a:pt x="159" y="90"/>
                  <a:pt x="157" y="100"/>
                  <a:pt x="153" y="110"/>
                </a:cubicBezTo>
                <a:cubicBezTo>
                  <a:pt x="149" y="120"/>
                  <a:pt x="144" y="128"/>
                  <a:pt x="136" y="136"/>
                </a:cubicBezTo>
                <a:cubicBezTo>
                  <a:pt x="129" y="144"/>
                  <a:pt x="119" y="150"/>
                  <a:pt x="109" y="154"/>
                </a:cubicBezTo>
                <a:cubicBezTo>
                  <a:pt x="100" y="158"/>
                  <a:pt x="89" y="160"/>
                  <a:pt x="79" y="160"/>
                </a:cubicBezTo>
                <a:cubicBezTo>
                  <a:pt x="68" y="160"/>
                  <a:pt x="58" y="158"/>
                  <a:pt x="49" y="154"/>
                </a:cubicBezTo>
                <a:cubicBezTo>
                  <a:pt x="39" y="150"/>
                  <a:pt x="30" y="144"/>
                  <a:pt x="23" y="136"/>
                </a:cubicBezTo>
                <a:cubicBezTo>
                  <a:pt x="15" y="128"/>
                  <a:pt x="10" y="120"/>
                  <a:pt x="6" y="110"/>
                </a:cubicBezTo>
                <a:cubicBezTo>
                  <a:pt x="2" y="100"/>
                  <a:pt x="0" y="90"/>
                  <a:pt x="0" y="80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5" y="31"/>
                  <a:pt x="23" y="24"/>
                </a:cubicBezTo>
                <a:cubicBezTo>
                  <a:pt x="30" y="16"/>
                  <a:pt x="39" y="10"/>
                  <a:pt x="49" y="6"/>
                </a:cubicBezTo>
                <a:cubicBezTo>
                  <a:pt x="58" y="2"/>
                  <a:pt x="68" y="0"/>
                  <a:pt x="79" y="0"/>
                </a:cubicBezTo>
                <a:cubicBezTo>
                  <a:pt x="89" y="0"/>
                  <a:pt x="100" y="2"/>
                  <a:pt x="109" y="6"/>
                </a:cubicBezTo>
                <a:cubicBezTo>
                  <a:pt x="119" y="10"/>
                  <a:pt x="129" y="16"/>
                  <a:pt x="136" y="24"/>
                </a:cubicBezTo>
                <a:cubicBezTo>
                  <a:pt x="144" y="31"/>
                  <a:pt x="149" y="40"/>
                  <a:pt x="153" y="49"/>
                </a:cubicBezTo>
                <a:cubicBezTo>
                  <a:pt x="157" y="59"/>
                  <a:pt x="159" y="69"/>
                  <a:pt x="159" y="80"/>
                </a:cubicBezTo>
                <a:close/>
              </a:path>
            </a:pathLst>
          </a:custGeom>
          <a:solidFill>
            <a:srgbClr val="0052D9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799920" y="3324600"/>
            <a:ext cx="1750320" cy="19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NotoSansSC"/>
                <a:ea typeface="NotoSansSC"/>
              </a:rPr>
              <a:t>Targeting </a:t>
            </a:r>
            <a:r>
              <a:rPr lang="zh-CN" sz="1050" b="0" u="none" strike="noStrike">
                <a:solidFill>
                  <a:srgbClr val="4B5563"/>
                </a:solidFill>
                <a:effectLst/>
                <a:uFillTx/>
                <a:latin typeface="NotoSansSC"/>
                <a:ea typeface="NotoSansSC"/>
              </a:rPr>
              <a:t>蓝图转 </a:t>
            </a:r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NotoSansSC"/>
                <a:ea typeface="NotoSansSC"/>
              </a:rPr>
              <a:t>C++ </a:t>
            </a:r>
            <a:r>
              <a:rPr lang="zh-CN" sz="1050" b="0" u="none" strike="noStrike">
                <a:solidFill>
                  <a:srgbClr val="4B5563"/>
                </a:solidFill>
                <a:effectLst/>
                <a:uFillTx/>
                <a:latin typeface="NotoSansSC"/>
                <a:ea typeface="NotoSansSC"/>
              </a:rPr>
              <a:t>实现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任意多边形: 形状 23"/>
          <p:cNvSpPr/>
          <p:nvPr/>
        </p:nvSpPr>
        <p:spPr>
          <a:xfrm>
            <a:off x="666720" y="3981240"/>
            <a:ext cx="57240" cy="57600"/>
          </a:xfrm>
          <a:custGeom>
            <a:avLst/>
            <a:gdLst/>
            <a:ahLst/>
            <a:cxnLst/>
            <a:rect l="0" t="0" r="r" b="b"/>
            <a:pathLst>
              <a:path w="159" h="160">
                <a:moveTo>
                  <a:pt x="159" y="79"/>
                </a:moveTo>
                <a:cubicBezTo>
                  <a:pt x="159" y="91"/>
                  <a:pt x="157" y="101"/>
                  <a:pt x="153" y="111"/>
                </a:cubicBezTo>
                <a:cubicBezTo>
                  <a:pt x="149" y="121"/>
                  <a:pt x="144" y="129"/>
                  <a:pt x="136" y="137"/>
                </a:cubicBezTo>
                <a:cubicBezTo>
                  <a:pt x="129" y="144"/>
                  <a:pt x="119" y="150"/>
                  <a:pt x="109" y="154"/>
                </a:cubicBezTo>
                <a:cubicBezTo>
                  <a:pt x="100" y="158"/>
                  <a:pt x="89" y="160"/>
                  <a:pt x="79" y="160"/>
                </a:cubicBezTo>
                <a:cubicBezTo>
                  <a:pt x="68" y="160"/>
                  <a:pt x="58" y="158"/>
                  <a:pt x="49" y="154"/>
                </a:cubicBezTo>
                <a:cubicBezTo>
                  <a:pt x="39" y="150"/>
                  <a:pt x="30" y="144"/>
                  <a:pt x="23" y="137"/>
                </a:cubicBezTo>
                <a:cubicBezTo>
                  <a:pt x="15" y="129"/>
                  <a:pt x="10" y="121"/>
                  <a:pt x="6" y="111"/>
                </a:cubicBezTo>
                <a:cubicBezTo>
                  <a:pt x="2" y="101"/>
                  <a:pt x="0" y="91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5" y="31"/>
                  <a:pt x="23" y="23"/>
                </a:cubicBezTo>
                <a:cubicBezTo>
                  <a:pt x="30" y="16"/>
                  <a:pt x="39" y="10"/>
                  <a:pt x="49" y="6"/>
                </a:cubicBezTo>
                <a:cubicBezTo>
                  <a:pt x="58" y="2"/>
                  <a:pt x="68" y="0"/>
                  <a:pt x="79" y="0"/>
                </a:cubicBezTo>
                <a:cubicBezTo>
                  <a:pt x="89" y="0"/>
                  <a:pt x="100" y="2"/>
                  <a:pt x="109" y="6"/>
                </a:cubicBezTo>
                <a:cubicBezTo>
                  <a:pt x="119" y="10"/>
                  <a:pt x="129" y="16"/>
                  <a:pt x="136" y="23"/>
                </a:cubicBezTo>
                <a:cubicBezTo>
                  <a:pt x="144" y="31"/>
                  <a:pt x="149" y="39"/>
                  <a:pt x="153" y="49"/>
                </a:cubicBezTo>
                <a:cubicBezTo>
                  <a:pt x="157" y="59"/>
                  <a:pt x="159" y="69"/>
                  <a:pt x="159" y="79"/>
                </a:cubicBezTo>
                <a:close/>
              </a:path>
            </a:pathLst>
          </a:custGeom>
          <a:solidFill>
            <a:srgbClr val="0052D9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799920" y="3629520"/>
            <a:ext cx="1542600" cy="19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4B5563"/>
                </a:solidFill>
                <a:effectLst/>
                <a:uFillTx/>
                <a:latin typeface="NotoSansSC"/>
                <a:ea typeface="NotoSansSC"/>
              </a:rPr>
              <a:t>相机</a:t>
            </a:r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NotoSansSC"/>
                <a:ea typeface="NotoSansSC"/>
              </a:rPr>
              <a:t>UI</a:t>
            </a:r>
            <a:r>
              <a:rPr lang="zh-CN" sz="1050" b="0" u="none" strike="noStrike">
                <a:solidFill>
                  <a:srgbClr val="4B5563"/>
                </a:solidFill>
                <a:effectLst/>
                <a:uFillTx/>
                <a:latin typeface="NotoSansSC"/>
                <a:ea typeface="NotoSansSC"/>
              </a:rPr>
              <a:t>与检测框尺寸适配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6" name="图片 25"/>
          <p:cNvPicPr/>
          <p:nvPr/>
        </p:nvPicPr>
        <p:blipFill>
          <a:blip r:embed="rId6"/>
          <a:stretch/>
        </p:blipFill>
        <p:spPr>
          <a:xfrm>
            <a:off x="3333600" y="1428840"/>
            <a:ext cx="2666520" cy="4076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" name="图片 26"/>
          <p:cNvPicPr/>
          <p:nvPr/>
        </p:nvPicPr>
        <p:blipFill>
          <a:blip r:embed="rId7"/>
          <a:stretch/>
        </p:blipFill>
        <p:spPr>
          <a:xfrm>
            <a:off x="4857840" y="1428840"/>
            <a:ext cx="1142640" cy="1142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" name="任意多边形: 形状 27"/>
          <p:cNvSpPr/>
          <p:nvPr/>
        </p:nvSpPr>
        <p:spPr>
          <a:xfrm>
            <a:off x="3524040" y="1657080"/>
            <a:ext cx="381240" cy="381600"/>
          </a:xfrm>
          <a:custGeom>
            <a:avLst/>
            <a:gdLst/>
            <a:ahLst/>
            <a:cxnLst/>
            <a:rect l="0" t="0" r="r" b="b"/>
            <a:pathLst>
              <a:path w="1059" h="1060">
                <a:moveTo>
                  <a:pt x="0" y="848"/>
                </a:moveTo>
                <a:lnTo>
                  <a:pt x="0" y="213"/>
                </a:lnTo>
                <a:cubicBezTo>
                  <a:pt x="0" y="199"/>
                  <a:pt x="1" y="185"/>
                  <a:pt x="4" y="172"/>
                </a:cubicBezTo>
                <a:cubicBezTo>
                  <a:pt x="7" y="157"/>
                  <a:pt x="11" y="144"/>
                  <a:pt x="16" y="131"/>
                </a:cubicBezTo>
                <a:cubicBezTo>
                  <a:pt x="22" y="118"/>
                  <a:pt x="28" y="106"/>
                  <a:pt x="36" y="94"/>
                </a:cubicBezTo>
                <a:cubicBezTo>
                  <a:pt x="43" y="83"/>
                  <a:pt x="52" y="72"/>
                  <a:pt x="62" y="62"/>
                </a:cubicBezTo>
                <a:cubicBezTo>
                  <a:pt x="72" y="52"/>
                  <a:pt x="83" y="44"/>
                  <a:pt x="94" y="36"/>
                </a:cubicBezTo>
                <a:cubicBezTo>
                  <a:pt x="106" y="28"/>
                  <a:pt x="118" y="22"/>
                  <a:pt x="131" y="16"/>
                </a:cubicBezTo>
                <a:cubicBezTo>
                  <a:pt x="144" y="11"/>
                  <a:pt x="157" y="7"/>
                  <a:pt x="170" y="4"/>
                </a:cubicBezTo>
                <a:cubicBezTo>
                  <a:pt x="184" y="2"/>
                  <a:pt x="198" y="0"/>
                  <a:pt x="212" y="0"/>
                </a:cubicBezTo>
                <a:lnTo>
                  <a:pt x="848" y="0"/>
                </a:lnTo>
                <a:cubicBezTo>
                  <a:pt x="862" y="0"/>
                  <a:pt x="875" y="2"/>
                  <a:pt x="889" y="4"/>
                </a:cubicBezTo>
                <a:cubicBezTo>
                  <a:pt x="903" y="7"/>
                  <a:pt x="916" y="11"/>
                  <a:pt x="929" y="16"/>
                </a:cubicBezTo>
                <a:cubicBezTo>
                  <a:pt x="942" y="22"/>
                  <a:pt x="954" y="28"/>
                  <a:pt x="965" y="36"/>
                </a:cubicBezTo>
                <a:cubicBezTo>
                  <a:pt x="977" y="44"/>
                  <a:pt x="988" y="52"/>
                  <a:pt x="997" y="62"/>
                </a:cubicBezTo>
                <a:cubicBezTo>
                  <a:pt x="1007" y="72"/>
                  <a:pt x="1016" y="83"/>
                  <a:pt x="1024" y="94"/>
                </a:cubicBezTo>
                <a:cubicBezTo>
                  <a:pt x="1031" y="106"/>
                  <a:pt x="1038" y="118"/>
                  <a:pt x="1043" y="131"/>
                </a:cubicBezTo>
                <a:cubicBezTo>
                  <a:pt x="1049" y="144"/>
                  <a:pt x="1053" y="157"/>
                  <a:pt x="1055" y="172"/>
                </a:cubicBezTo>
                <a:cubicBezTo>
                  <a:pt x="1058" y="185"/>
                  <a:pt x="1059" y="199"/>
                  <a:pt x="1059" y="213"/>
                </a:cubicBezTo>
                <a:lnTo>
                  <a:pt x="1059" y="848"/>
                </a:lnTo>
                <a:cubicBezTo>
                  <a:pt x="1059" y="862"/>
                  <a:pt x="1058" y="876"/>
                  <a:pt x="1055" y="889"/>
                </a:cubicBezTo>
                <a:cubicBezTo>
                  <a:pt x="1053" y="903"/>
                  <a:pt x="1049" y="916"/>
                  <a:pt x="1043" y="929"/>
                </a:cubicBezTo>
                <a:cubicBezTo>
                  <a:pt x="1038" y="942"/>
                  <a:pt x="1031" y="954"/>
                  <a:pt x="1024" y="966"/>
                </a:cubicBezTo>
                <a:cubicBezTo>
                  <a:pt x="1016" y="977"/>
                  <a:pt x="1007" y="988"/>
                  <a:pt x="997" y="998"/>
                </a:cubicBezTo>
                <a:cubicBezTo>
                  <a:pt x="988" y="1007"/>
                  <a:pt x="977" y="1016"/>
                  <a:pt x="965" y="1024"/>
                </a:cubicBezTo>
                <a:cubicBezTo>
                  <a:pt x="954" y="1032"/>
                  <a:pt x="942" y="1038"/>
                  <a:pt x="929" y="1043"/>
                </a:cubicBezTo>
                <a:cubicBezTo>
                  <a:pt x="916" y="1049"/>
                  <a:pt x="903" y="1053"/>
                  <a:pt x="889" y="1056"/>
                </a:cubicBezTo>
                <a:cubicBezTo>
                  <a:pt x="875" y="1058"/>
                  <a:pt x="862" y="1060"/>
                  <a:pt x="848" y="1060"/>
                </a:cubicBezTo>
                <a:lnTo>
                  <a:pt x="212" y="1060"/>
                </a:lnTo>
                <a:cubicBezTo>
                  <a:pt x="198" y="1060"/>
                  <a:pt x="184" y="1058"/>
                  <a:pt x="170" y="1056"/>
                </a:cubicBezTo>
                <a:cubicBezTo>
                  <a:pt x="157" y="1053"/>
                  <a:pt x="144" y="1049"/>
                  <a:pt x="131" y="1043"/>
                </a:cubicBezTo>
                <a:cubicBezTo>
                  <a:pt x="118" y="1038"/>
                  <a:pt x="106" y="1032"/>
                  <a:pt x="94" y="1024"/>
                </a:cubicBezTo>
                <a:cubicBezTo>
                  <a:pt x="83" y="1016"/>
                  <a:pt x="72" y="1007"/>
                  <a:pt x="62" y="998"/>
                </a:cubicBezTo>
                <a:cubicBezTo>
                  <a:pt x="52" y="988"/>
                  <a:pt x="43" y="977"/>
                  <a:pt x="36" y="966"/>
                </a:cubicBezTo>
                <a:cubicBezTo>
                  <a:pt x="28" y="954"/>
                  <a:pt x="22" y="942"/>
                  <a:pt x="16" y="929"/>
                </a:cubicBezTo>
                <a:cubicBezTo>
                  <a:pt x="11" y="916"/>
                  <a:pt x="7" y="903"/>
                  <a:pt x="4" y="889"/>
                </a:cubicBezTo>
                <a:cubicBezTo>
                  <a:pt x="1" y="876"/>
                  <a:pt x="0" y="862"/>
                  <a:pt x="0" y="848"/>
                </a:cubicBezTo>
                <a:close/>
              </a:path>
            </a:pathLst>
          </a:custGeom>
          <a:solidFill>
            <a:srgbClr val="E6F0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任意多边形: 形状 28"/>
          <p:cNvSpPr/>
          <p:nvPr/>
        </p:nvSpPr>
        <p:spPr>
          <a:xfrm>
            <a:off x="3686040" y="1819080"/>
            <a:ext cx="57600" cy="57600"/>
          </a:xfrm>
          <a:custGeom>
            <a:avLst/>
            <a:gdLst/>
            <a:ahLst/>
            <a:cxnLst/>
            <a:rect l="0" t="0" r="r" b="b"/>
            <a:pathLst>
              <a:path w="160" h="160" fill="none">
                <a:moveTo>
                  <a:pt x="160" y="79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1"/>
                  <a:pt x="144" y="129"/>
                  <a:pt x="136" y="137"/>
                </a:cubicBezTo>
                <a:cubicBezTo>
                  <a:pt x="129" y="144"/>
                  <a:pt x="120" y="150"/>
                  <a:pt x="111" y="154"/>
                </a:cubicBezTo>
                <a:cubicBezTo>
                  <a:pt x="100" y="158"/>
                  <a:pt x="90" y="160"/>
                  <a:pt x="79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39" y="150"/>
                  <a:pt x="31" y="144"/>
                  <a:pt x="23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0" y="2"/>
                  <a:pt x="111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1"/>
                  <a:pt x="150" y="39"/>
                  <a:pt x="154" y="49"/>
                </a:cubicBezTo>
                <a:cubicBezTo>
                  <a:pt x="158" y="59"/>
                  <a:pt x="160" y="69"/>
                  <a:pt x="160" y="79"/>
                </a:cubicBezTo>
              </a:path>
            </a:pathLst>
          </a:custGeom>
          <a:ln w="18720" cap="rnd">
            <a:solidFill>
              <a:srgbClr val="0052D9"/>
            </a:solidFill>
            <a:round/>
          </a:ln>
        </p:spPr>
        <p:txBody>
          <a:bodyPr lIns="9360" tIns="9360" rIns="9360" bIns="936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任意多边形: 形状 29"/>
          <p:cNvSpPr/>
          <p:nvPr/>
        </p:nvSpPr>
        <p:spPr>
          <a:xfrm>
            <a:off x="3623760" y="1780920"/>
            <a:ext cx="182160" cy="133920"/>
          </a:xfrm>
          <a:custGeom>
            <a:avLst/>
            <a:gdLst/>
            <a:ahLst/>
            <a:cxnLst/>
            <a:rect l="0" t="0" r="r" b="b"/>
            <a:pathLst>
              <a:path w="506" h="372" fill="none">
                <a:moveTo>
                  <a:pt x="0" y="186"/>
                </a:moveTo>
                <a:cubicBezTo>
                  <a:pt x="33" y="79"/>
                  <a:pt x="134" y="0"/>
                  <a:pt x="252" y="0"/>
                </a:cubicBezTo>
                <a:cubicBezTo>
                  <a:pt x="372" y="0"/>
                  <a:pt x="472" y="79"/>
                  <a:pt x="506" y="186"/>
                </a:cubicBezTo>
                <a:cubicBezTo>
                  <a:pt x="472" y="294"/>
                  <a:pt x="372" y="372"/>
                  <a:pt x="252" y="372"/>
                </a:cubicBezTo>
                <a:cubicBezTo>
                  <a:pt x="134" y="372"/>
                  <a:pt x="33" y="294"/>
                  <a:pt x="0" y="186"/>
                </a:cubicBezTo>
              </a:path>
            </a:pathLst>
          </a:custGeom>
          <a:ln w="18720" cap="rnd">
            <a:solidFill>
              <a:srgbClr val="0052D9"/>
            </a:solidFill>
            <a:round/>
          </a:ln>
        </p:spPr>
        <p:txBody>
          <a:bodyPr lIns="9360" tIns="9360" rIns="9360" bIns="936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799920" y="3934080"/>
            <a:ext cx="1470240" cy="19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4B5563"/>
                </a:solidFill>
                <a:effectLst/>
                <a:uFillTx/>
                <a:latin typeface="NotoSansSC"/>
                <a:ea typeface="NotoSansSC"/>
              </a:rPr>
              <a:t>拓展受击音效、特效接口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任意多边形: 形状 31"/>
          <p:cNvSpPr/>
          <p:nvPr/>
        </p:nvSpPr>
        <p:spPr>
          <a:xfrm>
            <a:off x="3524040" y="2609640"/>
            <a:ext cx="2286360" cy="57600"/>
          </a:xfrm>
          <a:custGeom>
            <a:avLst/>
            <a:gdLst/>
            <a:ahLst/>
            <a:cxnLst/>
            <a:rect l="0" t="0" r="r" b="b"/>
            <a:pathLst>
              <a:path w="6351" h="160">
                <a:moveTo>
                  <a:pt x="0" y="79"/>
                </a:move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6272" y="0"/>
                </a:lnTo>
                <a:cubicBezTo>
                  <a:pt x="6282" y="0"/>
                  <a:pt x="6292" y="2"/>
                  <a:pt x="6302" y="6"/>
                </a:cubicBezTo>
                <a:cubicBezTo>
                  <a:pt x="6312" y="10"/>
                  <a:pt x="6320" y="16"/>
                  <a:pt x="6328" y="23"/>
                </a:cubicBezTo>
                <a:cubicBezTo>
                  <a:pt x="6335" y="31"/>
                  <a:pt x="6341" y="39"/>
                  <a:pt x="6345" y="49"/>
                </a:cubicBezTo>
                <a:cubicBezTo>
                  <a:pt x="6349" y="59"/>
                  <a:pt x="6351" y="69"/>
                  <a:pt x="6351" y="79"/>
                </a:cubicBezTo>
                <a:cubicBezTo>
                  <a:pt x="6351" y="90"/>
                  <a:pt x="6349" y="101"/>
                  <a:pt x="6345" y="111"/>
                </a:cubicBezTo>
                <a:cubicBezTo>
                  <a:pt x="6341" y="121"/>
                  <a:pt x="6335" y="129"/>
                  <a:pt x="6328" y="137"/>
                </a:cubicBezTo>
                <a:cubicBezTo>
                  <a:pt x="6320" y="144"/>
                  <a:pt x="6312" y="150"/>
                  <a:pt x="6302" y="154"/>
                </a:cubicBezTo>
                <a:cubicBezTo>
                  <a:pt x="6292" y="158"/>
                  <a:pt x="6282" y="160"/>
                  <a:pt x="6272" y="160"/>
                </a:cubicBezTo>
                <a:lnTo>
                  <a:pt x="79" y="160"/>
                </a:lnTo>
                <a:cubicBezTo>
                  <a:pt x="69" y="160"/>
                  <a:pt x="59" y="158"/>
                  <a:pt x="49" y="154"/>
                </a:cubicBezTo>
                <a:cubicBezTo>
                  <a:pt x="39" y="150"/>
                  <a:pt x="31" y="144"/>
                  <a:pt x="23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0"/>
                  <a:pt x="0" y="79"/>
                </a:cubicBez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任意多边形: 形状 32"/>
          <p:cNvSpPr/>
          <p:nvPr/>
        </p:nvSpPr>
        <p:spPr>
          <a:xfrm>
            <a:off x="3524040" y="2609640"/>
            <a:ext cx="981360" cy="57600"/>
          </a:xfrm>
          <a:custGeom>
            <a:avLst/>
            <a:gdLst/>
            <a:ahLst/>
            <a:cxnLst/>
            <a:rect l="0" t="0" r="r" b="b"/>
            <a:pathLst>
              <a:path w="2726" h="160">
                <a:moveTo>
                  <a:pt x="0" y="79"/>
                </a:move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2647" y="0"/>
                </a:lnTo>
                <a:cubicBezTo>
                  <a:pt x="2657" y="0"/>
                  <a:pt x="2668" y="2"/>
                  <a:pt x="2677" y="6"/>
                </a:cubicBezTo>
                <a:cubicBezTo>
                  <a:pt x="2687" y="10"/>
                  <a:pt x="2696" y="16"/>
                  <a:pt x="2703" y="23"/>
                </a:cubicBezTo>
                <a:cubicBezTo>
                  <a:pt x="2710" y="31"/>
                  <a:pt x="2716" y="39"/>
                  <a:pt x="2720" y="49"/>
                </a:cubicBezTo>
                <a:cubicBezTo>
                  <a:pt x="2724" y="59"/>
                  <a:pt x="2726" y="69"/>
                  <a:pt x="2726" y="79"/>
                </a:cubicBezTo>
                <a:cubicBezTo>
                  <a:pt x="2726" y="90"/>
                  <a:pt x="2724" y="101"/>
                  <a:pt x="2720" y="111"/>
                </a:cubicBezTo>
                <a:cubicBezTo>
                  <a:pt x="2716" y="121"/>
                  <a:pt x="2710" y="129"/>
                  <a:pt x="2703" y="137"/>
                </a:cubicBezTo>
                <a:cubicBezTo>
                  <a:pt x="2696" y="144"/>
                  <a:pt x="2687" y="150"/>
                  <a:pt x="2677" y="154"/>
                </a:cubicBezTo>
                <a:cubicBezTo>
                  <a:pt x="2668" y="158"/>
                  <a:pt x="2657" y="160"/>
                  <a:pt x="2647" y="160"/>
                </a:cubicBezTo>
                <a:lnTo>
                  <a:pt x="79" y="160"/>
                </a:lnTo>
                <a:cubicBezTo>
                  <a:pt x="69" y="160"/>
                  <a:pt x="59" y="158"/>
                  <a:pt x="49" y="154"/>
                </a:cubicBezTo>
                <a:cubicBezTo>
                  <a:pt x="39" y="150"/>
                  <a:pt x="31" y="144"/>
                  <a:pt x="23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0"/>
                  <a:pt x="0" y="79"/>
                </a:cubicBezTo>
                <a:close/>
              </a:path>
            </a:pathLst>
          </a:custGeom>
          <a:solidFill>
            <a:srgbClr val="0052D9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4019400" y="1720440"/>
            <a:ext cx="662760" cy="27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00" b="0" u="none" strike="noStrike">
                <a:solidFill>
                  <a:srgbClr val="1F2937"/>
                </a:solidFill>
                <a:effectLst/>
                <a:uFillTx/>
                <a:latin typeface="NotoSansSC"/>
                <a:ea typeface="NotoSansSC"/>
              </a:rPr>
              <a:t>3C</a:t>
            </a:r>
            <a:r>
              <a:rPr lang="zh-CN" sz="1500" b="0" u="none" strike="noStrike">
                <a:solidFill>
                  <a:srgbClr val="1F2937"/>
                </a:solidFill>
                <a:effectLst/>
                <a:uFillTx/>
                <a:latin typeface="NotoSansSC"/>
                <a:ea typeface="NotoSansSC"/>
              </a:rPr>
              <a:t>表现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3524400" y="2180520"/>
            <a:ext cx="566640" cy="39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250" b="0" u="none" strike="noStrike">
                <a:solidFill>
                  <a:srgbClr val="0052D9"/>
                </a:solidFill>
                <a:effectLst/>
                <a:uFillTx/>
                <a:latin typeface="NotoSansSC"/>
                <a:ea typeface="NotoSansSC"/>
              </a:rPr>
              <a:t>43%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任意多边形: 形状 35"/>
          <p:cNvSpPr/>
          <p:nvPr/>
        </p:nvSpPr>
        <p:spPr>
          <a:xfrm>
            <a:off x="3524040" y="2876400"/>
            <a:ext cx="57600" cy="57600"/>
          </a:xfrm>
          <a:custGeom>
            <a:avLst/>
            <a:gdLst/>
            <a:ahLst/>
            <a:cxnLst/>
            <a:rect l="0" t="0" r="r" b="b"/>
            <a:pathLst>
              <a:path w="160" h="160">
                <a:moveTo>
                  <a:pt x="160" y="79"/>
                </a:moveTo>
                <a:cubicBezTo>
                  <a:pt x="160" y="90"/>
                  <a:pt x="158" y="100"/>
                  <a:pt x="154" y="110"/>
                </a:cubicBezTo>
                <a:cubicBezTo>
                  <a:pt x="150" y="119"/>
                  <a:pt x="144" y="128"/>
                  <a:pt x="137" y="135"/>
                </a:cubicBezTo>
                <a:cubicBezTo>
                  <a:pt x="129" y="143"/>
                  <a:pt x="121" y="150"/>
                  <a:pt x="111" y="154"/>
                </a:cubicBezTo>
                <a:cubicBezTo>
                  <a:pt x="101" y="158"/>
                  <a:pt x="91" y="160"/>
                  <a:pt x="79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39" y="150"/>
                  <a:pt x="31" y="143"/>
                  <a:pt x="23" y="135"/>
                </a:cubicBezTo>
                <a:cubicBezTo>
                  <a:pt x="16" y="128"/>
                  <a:pt x="10" y="119"/>
                  <a:pt x="6" y="110"/>
                </a:cubicBezTo>
                <a:cubicBezTo>
                  <a:pt x="2" y="100"/>
                  <a:pt x="0" y="90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0"/>
                  <a:pt x="129" y="16"/>
                  <a:pt x="137" y="23"/>
                </a:cubicBezTo>
                <a:cubicBezTo>
                  <a:pt x="144" y="31"/>
                  <a:pt x="150" y="39"/>
                  <a:pt x="154" y="49"/>
                </a:cubicBezTo>
                <a:cubicBezTo>
                  <a:pt x="158" y="59"/>
                  <a:pt x="160" y="69"/>
                  <a:pt x="160" y="79"/>
                </a:cubicBezTo>
                <a:close/>
              </a:path>
            </a:pathLst>
          </a:custGeom>
          <a:solidFill>
            <a:srgbClr val="0052D9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4219560" y="2343600"/>
            <a:ext cx="419760" cy="19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 dirty="0">
                <a:solidFill>
                  <a:srgbClr val="6B7280"/>
                </a:solidFill>
                <a:effectLst/>
                <a:uFillTx/>
                <a:latin typeface="NotoSansSC"/>
                <a:ea typeface="NotoSansSC"/>
              </a:rPr>
              <a:t>/ 27</a:t>
            </a:r>
            <a:r>
              <a:rPr lang="zh-CN" sz="1050" b="0" u="none" strike="noStrike" dirty="0">
                <a:solidFill>
                  <a:srgbClr val="6B7280"/>
                </a:solidFill>
                <a:effectLst/>
                <a:uFillTx/>
                <a:latin typeface="NotoSansSC"/>
                <a:ea typeface="NotoSansSC"/>
              </a:rPr>
              <a:t>项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任意多边形: 形状 37"/>
          <p:cNvSpPr/>
          <p:nvPr/>
        </p:nvSpPr>
        <p:spPr>
          <a:xfrm>
            <a:off x="3524040" y="3181320"/>
            <a:ext cx="57600" cy="57240"/>
          </a:xfrm>
          <a:custGeom>
            <a:avLst/>
            <a:gdLst/>
            <a:ahLst/>
            <a:cxnLst/>
            <a:rect l="0" t="0" r="r" b="b"/>
            <a:pathLst>
              <a:path w="160" h="159">
                <a:moveTo>
                  <a:pt x="160" y="79"/>
                </a:moveTo>
                <a:cubicBezTo>
                  <a:pt x="160" y="89"/>
                  <a:pt x="158" y="101"/>
                  <a:pt x="154" y="110"/>
                </a:cubicBezTo>
                <a:cubicBezTo>
                  <a:pt x="150" y="120"/>
                  <a:pt x="144" y="129"/>
                  <a:pt x="137" y="136"/>
                </a:cubicBezTo>
                <a:cubicBezTo>
                  <a:pt x="129" y="144"/>
                  <a:pt x="121" y="149"/>
                  <a:pt x="111" y="153"/>
                </a:cubicBezTo>
                <a:cubicBezTo>
                  <a:pt x="101" y="157"/>
                  <a:pt x="91" y="159"/>
                  <a:pt x="79" y="159"/>
                </a:cubicBezTo>
                <a:cubicBezTo>
                  <a:pt x="69" y="159"/>
                  <a:pt x="59" y="157"/>
                  <a:pt x="49" y="153"/>
                </a:cubicBezTo>
                <a:cubicBezTo>
                  <a:pt x="39" y="149"/>
                  <a:pt x="31" y="144"/>
                  <a:pt x="23" y="136"/>
                </a:cubicBezTo>
                <a:cubicBezTo>
                  <a:pt x="16" y="129"/>
                  <a:pt x="10" y="120"/>
                  <a:pt x="6" y="110"/>
                </a:cubicBezTo>
                <a:cubicBezTo>
                  <a:pt x="2" y="101"/>
                  <a:pt x="0" y="89"/>
                  <a:pt x="0" y="79"/>
                </a:cubicBezTo>
                <a:cubicBezTo>
                  <a:pt x="0" y="68"/>
                  <a:pt x="2" y="58"/>
                  <a:pt x="6" y="49"/>
                </a:cubicBezTo>
                <a:cubicBezTo>
                  <a:pt x="10" y="39"/>
                  <a:pt x="16" y="30"/>
                  <a:pt x="23" y="23"/>
                </a:cubicBezTo>
                <a:cubicBezTo>
                  <a:pt x="31" y="15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0"/>
                  <a:pt x="129" y="15"/>
                  <a:pt x="137" y="23"/>
                </a:cubicBezTo>
                <a:cubicBezTo>
                  <a:pt x="144" y="30"/>
                  <a:pt x="150" y="39"/>
                  <a:pt x="154" y="49"/>
                </a:cubicBezTo>
                <a:cubicBezTo>
                  <a:pt x="158" y="58"/>
                  <a:pt x="160" y="68"/>
                  <a:pt x="160" y="79"/>
                </a:cubicBezTo>
                <a:close/>
              </a:path>
            </a:pathLst>
          </a:custGeom>
          <a:solidFill>
            <a:srgbClr val="0052D9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3657600" y="2829240"/>
            <a:ext cx="1540080" cy="19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4B5563"/>
                </a:solidFill>
                <a:effectLst/>
                <a:uFillTx/>
                <a:latin typeface="NotoSansSC"/>
                <a:ea typeface="NotoSansSC"/>
              </a:rPr>
              <a:t>武器装备蓝图逻辑转 </a:t>
            </a:r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NotoSansSC"/>
                <a:ea typeface="NotoSansSC"/>
              </a:rPr>
              <a:t>Lua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任意多边形: 形状 39"/>
          <p:cNvSpPr/>
          <p:nvPr/>
        </p:nvSpPr>
        <p:spPr>
          <a:xfrm>
            <a:off x="3524040" y="3485880"/>
            <a:ext cx="57600" cy="57600"/>
          </a:xfrm>
          <a:custGeom>
            <a:avLst/>
            <a:gdLst/>
            <a:ahLst/>
            <a:cxnLst/>
            <a:rect l="0" t="0" r="r" b="b"/>
            <a:pathLst>
              <a:path w="160" h="160">
                <a:moveTo>
                  <a:pt x="160" y="81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1"/>
                  <a:pt x="144" y="129"/>
                  <a:pt x="137" y="137"/>
                </a:cubicBezTo>
                <a:cubicBezTo>
                  <a:pt x="129" y="144"/>
                  <a:pt x="121" y="150"/>
                  <a:pt x="111" y="154"/>
                </a:cubicBezTo>
                <a:cubicBezTo>
                  <a:pt x="101" y="158"/>
                  <a:pt x="91" y="160"/>
                  <a:pt x="79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39" y="150"/>
                  <a:pt x="31" y="144"/>
                  <a:pt x="23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1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0"/>
                  <a:pt x="129" y="16"/>
                  <a:pt x="137" y="23"/>
                </a:cubicBezTo>
                <a:cubicBezTo>
                  <a:pt x="144" y="31"/>
                  <a:pt x="150" y="41"/>
                  <a:pt x="154" y="50"/>
                </a:cubicBezTo>
                <a:cubicBezTo>
                  <a:pt x="158" y="60"/>
                  <a:pt x="160" y="70"/>
                  <a:pt x="160" y="81"/>
                </a:cubicBezTo>
                <a:close/>
              </a:path>
            </a:pathLst>
          </a:custGeom>
          <a:solidFill>
            <a:srgbClr val="0052D9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3657600" y="3134160"/>
            <a:ext cx="1470240" cy="19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4B5563"/>
                </a:solidFill>
                <a:effectLst/>
                <a:uFillTx/>
                <a:latin typeface="NotoSansSC"/>
                <a:ea typeface="NotoSansSC"/>
              </a:rPr>
              <a:t>武器显隐、动画时序优化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任意多边形: 形状 41"/>
          <p:cNvSpPr/>
          <p:nvPr/>
        </p:nvSpPr>
        <p:spPr>
          <a:xfrm>
            <a:off x="3524040" y="3790800"/>
            <a:ext cx="57600" cy="57600"/>
          </a:xfrm>
          <a:custGeom>
            <a:avLst/>
            <a:gdLst/>
            <a:ahLst/>
            <a:cxnLst/>
            <a:rect l="0" t="0" r="r" b="b"/>
            <a:pathLst>
              <a:path w="160" h="160">
                <a:moveTo>
                  <a:pt x="160" y="79"/>
                </a:moveTo>
                <a:cubicBezTo>
                  <a:pt x="160" y="90"/>
                  <a:pt x="158" y="100"/>
                  <a:pt x="154" y="110"/>
                </a:cubicBezTo>
                <a:cubicBezTo>
                  <a:pt x="150" y="119"/>
                  <a:pt x="144" y="128"/>
                  <a:pt x="137" y="136"/>
                </a:cubicBezTo>
                <a:cubicBezTo>
                  <a:pt x="129" y="144"/>
                  <a:pt x="121" y="150"/>
                  <a:pt x="111" y="154"/>
                </a:cubicBezTo>
                <a:cubicBezTo>
                  <a:pt x="101" y="158"/>
                  <a:pt x="91" y="160"/>
                  <a:pt x="79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39" y="150"/>
                  <a:pt x="31" y="144"/>
                  <a:pt x="23" y="136"/>
                </a:cubicBezTo>
                <a:cubicBezTo>
                  <a:pt x="16" y="128"/>
                  <a:pt x="10" y="119"/>
                  <a:pt x="6" y="110"/>
                </a:cubicBezTo>
                <a:cubicBezTo>
                  <a:pt x="2" y="100"/>
                  <a:pt x="0" y="90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0"/>
                  <a:pt x="129" y="16"/>
                  <a:pt x="137" y="23"/>
                </a:cubicBezTo>
                <a:cubicBezTo>
                  <a:pt x="144" y="31"/>
                  <a:pt x="150" y="39"/>
                  <a:pt x="154" y="49"/>
                </a:cubicBezTo>
                <a:cubicBezTo>
                  <a:pt x="158" y="59"/>
                  <a:pt x="160" y="69"/>
                  <a:pt x="160" y="79"/>
                </a:cubicBezTo>
                <a:close/>
              </a:path>
            </a:pathLst>
          </a:custGeom>
          <a:solidFill>
            <a:srgbClr val="0052D9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3657600" y="3438720"/>
            <a:ext cx="1540080" cy="19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4B5563"/>
                </a:solidFill>
                <a:effectLst/>
                <a:uFillTx/>
                <a:latin typeface="NotoSansSC"/>
                <a:ea typeface="NotoSansSC"/>
              </a:rPr>
              <a:t>角色物理初始化流程整理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4" name="图片 43"/>
          <p:cNvPicPr/>
          <p:nvPr/>
        </p:nvPicPr>
        <p:blipFill>
          <a:blip r:embed="rId8"/>
          <a:stretch/>
        </p:blipFill>
        <p:spPr>
          <a:xfrm>
            <a:off x="6191280" y="1428840"/>
            <a:ext cx="2666520" cy="4076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5" name="图片 44"/>
          <p:cNvPicPr/>
          <p:nvPr/>
        </p:nvPicPr>
        <p:blipFill>
          <a:blip r:embed="rId9"/>
          <a:stretch/>
        </p:blipFill>
        <p:spPr>
          <a:xfrm>
            <a:off x="7715160" y="1428840"/>
            <a:ext cx="1142640" cy="1142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" name="任意多边形: 形状 45"/>
          <p:cNvSpPr/>
          <p:nvPr/>
        </p:nvSpPr>
        <p:spPr>
          <a:xfrm>
            <a:off x="6381720" y="1657080"/>
            <a:ext cx="381240" cy="381600"/>
          </a:xfrm>
          <a:custGeom>
            <a:avLst/>
            <a:gdLst/>
            <a:ahLst/>
            <a:cxnLst/>
            <a:rect l="0" t="0" r="r" b="b"/>
            <a:pathLst>
              <a:path w="1059" h="1060">
                <a:moveTo>
                  <a:pt x="0" y="848"/>
                </a:moveTo>
                <a:lnTo>
                  <a:pt x="0" y="213"/>
                </a:lnTo>
                <a:cubicBezTo>
                  <a:pt x="0" y="199"/>
                  <a:pt x="1" y="185"/>
                  <a:pt x="4" y="172"/>
                </a:cubicBezTo>
                <a:cubicBezTo>
                  <a:pt x="6" y="157"/>
                  <a:pt x="10" y="144"/>
                  <a:pt x="16" y="131"/>
                </a:cubicBezTo>
                <a:cubicBezTo>
                  <a:pt x="21" y="118"/>
                  <a:pt x="28" y="106"/>
                  <a:pt x="35" y="94"/>
                </a:cubicBezTo>
                <a:cubicBezTo>
                  <a:pt x="43" y="83"/>
                  <a:pt x="52" y="72"/>
                  <a:pt x="62" y="62"/>
                </a:cubicBezTo>
                <a:cubicBezTo>
                  <a:pt x="71" y="52"/>
                  <a:pt x="82" y="44"/>
                  <a:pt x="94" y="36"/>
                </a:cubicBezTo>
                <a:cubicBezTo>
                  <a:pt x="105" y="28"/>
                  <a:pt x="117" y="22"/>
                  <a:pt x="130" y="16"/>
                </a:cubicBezTo>
                <a:cubicBezTo>
                  <a:pt x="143" y="11"/>
                  <a:pt x="156" y="7"/>
                  <a:pt x="170" y="4"/>
                </a:cubicBezTo>
                <a:cubicBezTo>
                  <a:pt x="184" y="2"/>
                  <a:pt x="197" y="0"/>
                  <a:pt x="211" y="0"/>
                </a:cubicBezTo>
                <a:lnTo>
                  <a:pt x="847" y="0"/>
                </a:lnTo>
                <a:cubicBezTo>
                  <a:pt x="861" y="0"/>
                  <a:pt x="875" y="2"/>
                  <a:pt x="889" y="4"/>
                </a:cubicBezTo>
                <a:cubicBezTo>
                  <a:pt x="902" y="7"/>
                  <a:pt x="915" y="11"/>
                  <a:pt x="928" y="16"/>
                </a:cubicBezTo>
                <a:cubicBezTo>
                  <a:pt x="941" y="22"/>
                  <a:pt x="953" y="28"/>
                  <a:pt x="965" y="36"/>
                </a:cubicBezTo>
                <a:cubicBezTo>
                  <a:pt x="976" y="44"/>
                  <a:pt x="987" y="52"/>
                  <a:pt x="997" y="62"/>
                </a:cubicBezTo>
                <a:cubicBezTo>
                  <a:pt x="1007" y="72"/>
                  <a:pt x="1016" y="83"/>
                  <a:pt x="1023" y="94"/>
                </a:cubicBezTo>
                <a:cubicBezTo>
                  <a:pt x="1031" y="106"/>
                  <a:pt x="1037" y="118"/>
                  <a:pt x="1043" y="131"/>
                </a:cubicBezTo>
                <a:cubicBezTo>
                  <a:pt x="1048" y="144"/>
                  <a:pt x="1052" y="157"/>
                  <a:pt x="1055" y="172"/>
                </a:cubicBezTo>
                <a:cubicBezTo>
                  <a:pt x="1058" y="185"/>
                  <a:pt x="1059" y="199"/>
                  <a:pt x="1059" y="213"/>
                </a:cubicBezTo>
                <a:lnTo>
                  <a:pt x="1059" y="848"/>
                </a:lnTo>
                <a:cubicBezTo>
                  <a:pt x="1059" y="862"/>
                  <a:pt x="1058" y="876"/>
                  <a:pt x="1055" y="889"/>
                </a:cubicBezTo>
                <a:cubicBezTo>
                  <a:pt x="1052" y="903"/>
                  <a:pt x="1048" y="916"/>
                  <a:pt x="1043" y="929"/>
                </a:cubicBezTo>
                <a:cubicBezTo>
                  <a:pt x="1037" y="942"/>
                  <a:pt x="1031" y="954"/>
                  <a:pt x="1023" y="966"/>
                </a:cubicBezTo>
                <a:cubicBezTo>
                  <a:pt x="1016" y="977"/>
                  <a:pt x="1007" y="988"/>
                  <a:pt x="997" y="998"/>
                </a:cubicBezTo>
                <a:cubicBezTo>
                  <a:pt x="987" y="1007"/>
                  <a:pt x="976" y="1016"/>
                  <a:pt x="965" y="1024"/>
                </a:cubicBezTo>
                <a:cubicBezTo>
                  <a:pt x="953" y="1032"/>
                  <a:pt x="941" y="1038"/>
                  <a:pt x="928" y="1043"/>
                </a:cubicBezTo>
                <a:cubicBezTo>
                  <a:pt x="915" y="1049"/>
                  <a:pt x="902" y="1053"/>
                  <a:pt x="889" y="1056"/>
                </a:cubicBezTo>
                <a:cubicBezTo>
                  <a:pt x="875" y="1058"/>
                  <a:pt x="861" y="1060"/>
                  <a:pt x="847" y="1060"/>
                </a:cubicBezTo>
                <a:lnTo>
                  <a:pt x="211" y="1060"/>
                </a:lnTo>
                <a:cubicBezTo>
                  <a:pt x="197" y="1060"/>
                  <a:pt x="184" y="1058"/>
                  <a:pt x="170" y="1056"/>
                </a:cubicBezTo>
                <a:cubicBezTo>
                  <a:pt x="156" y="1053"/>
                  <a:pt x="143" y="1049"/>
                  <a:pt x="130" y="1043"/>
                </a:cubicBezTo>
                <a:cubicBezTo>
                  <a:pt x="117" y="1038"/>
                  <a:pt x="105" y="1032"/>
                  <a:pt x="94" y="1024"/>
                </a:cubicBezTo>
                <a:cubicBezTo>
                  <a:pt x="82" y="1016"/>
                  <a:pt x="71" y="1007"/>
                  <a:pt x="62" y="998"/>
                </a:cubicBezTo>
                <a:cubicBezTo>
                  <a:pt x="52" y="988"/>
                  <a:pt x="43" y="977"/>
                  <a:pt x="35" y="966"/>
                </a:cubicBezTo>
                <a:cubicBezTo>
                  <a:pt x="28" y="954"/>
                  <a:pt x="21" y="942"/>
                  <a:pt x="16" y="929"/>
                </a:cubicBezTo>
                <a:cubicBezTo>
                  <a:pt x="10" y="916"/>
                  <a:pt x="6" y="903"/>
                  <a:pt x="4" y="889"/>
                </a:cubicBezTo>
                <a:cubicBezTo>
                  <a:pt x="1" y="876"/>
                  <a:pt x="0" y="862"/>
                  <a:pt x="0" y="848"/>
                </a:cubicBezTo>
                <a:close/>
              </a:path>
            </a:pathLst>
          </a:custGeom>
          <a:solidFill>
            <a:srgbClr val="E6F0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任意多边形: 形状 46"/>
          <p:cNvSpPr/>
          <p:nvPr/>
        </p:nvSpPr>
        <p:spPr>
          <a:xfrm>
            <a:off x="6486480" y="1761840"/>
            <a:ext cx="171720" cy="172080"/>
          </a:xfrm>
          <a:custGeom>
            <a:avLst/>
            <a:gdLst/>
            <a:ahLst/>
            <a:cxnLst/>
            <a:rect l="0" t="0" r="r" b="b"/>
            <a:pathLst>
              <a:path w="477" h="478" fill="none">
                <a:moveTo>
                  <a:pt x="176" y="372"/>
                </a:moveTo>
                <a:lnTo>
                  <a:pt x="300" y="372"/>
                </a:lnTo>
                <a:moveTo>
                  <a:pt x="238" y="0"/>
                </a:moveTo>
                <a:lnTo>
                  <a:pt x="238" y="27"/>
                </a:lnTo>
                <a:moveTo>
                  <a:pt x="407" y="70"/>
                </a:moveTo>
                <a:lnTo>
                  <a:pt x="388" y="89"/>
                </a:lnTo>
                <a:moveTo>
                  <a:pt x="477" y="239"/>
                </a:moveTo>
                <a:lnTo>
                  <a:pt x="450" y="239"/>
                </a:lnTo>
                <a:moveTo>
                  <a:pt x="26" y="239"/>
                </a:moveTo>
                <a:lnTo>
                  <a:pt x="0" y="239"/>
                </a:lnTo>
                <a:moveTo>
                  <a:pt x="88" y="89"/>
                </a:moveTo>
                <a:lnTo>
                  <a:pt x="69" y="70"/>
                </a:lnTo>
                <a:moveTo>
                  <a:pt x="144" y="333"/>
                </a:moveTo>
                <a:cubicBezTo>
                  <a:pt x="132" y="321"/>
                  <a:pt x="122" y="306"/>
                  <a:pt x="116" y="290"/>
                </a:cubicBezTo>
                <a:cubicBezTo>
                  <a:pt x="109" y="274"/>
                  <a:pt x="105" y="257"/>
                  <a:pt x="105" y="239"/>
                </a:cubicBezTo>
                <a:cubicBezTo>
                  <a:pt x="105" y="222"/>
                  <a:pt x="109" y="205"/>
                  <a:pt x="116" y="189"/>
                </a:cubicBezTo>
                <a:cubicBezTo>
                  <a:pt x="122" y="173"/>
                  <a:pt x="132" y="158"/>
                  <a:pt x="144" y="146"/>
                </a:cubicBezTo>
                <a:cubicBezTo>
                  <a:pt x="157" y="133"/>
                  <a:pt x="171" y="124"/>
                  <a:pt x="187" y="117"/>
                </a:cubicBezTo>
                <a:cubicBezTo>
                  <a:pt x="203" y="111"/>
                  <a:pt x="220" y="107"/>
                  <a:pt x="238" y="107"/>
                </a:cubicBezTo>
                <a:cubicBezTo>
                  <a:pt x="255" y="107"/>
                  <a:pt x="272" y="111"/>
                  <a:pt x="288" y="117"/>
                </a:cubicBezTo>
                <a:cubicBezTo>
                  <a:pt x="305" y="124"/>
                  <a:pt x="320" y="133"/>
                  <a:pt x="332" y="146"/>
                </a:cubicBezTo>
                <a:cubicBezTo>
                  <a:pt x="345" y="158"/>
                  <a:pt x="354" y="173"/>
                  <a:pt x="361" y="189"/>
                </a:cubicBezTo>
                <a:cubicBezTo>
                  <a:pt x="368" y="205"/>
                  <a:pt x="371" y="222"/>
                  <a:pt x="371" y="239"/>
                </a:cubicBezTo>
                <a:cubicBezTo>
                  <a:pt x="371" y="257"/>
                  <a:pt x="368" y="274"/>
                  <a:pt x="361" y="290"/>
                </a:cubicBezTo>
                <a:cubicBezTo>
                  <a:pt x="354" y="306"/>
                  <a:pt x="345" y="321"/>
                  <a:pt x="332" y="333"/>
                </a:cubicBezTo>
                <a:lnTo>
                  <a:pt x="318" y="347"/>
                </a:lnTo>
                <a:cubicBezTo>
                  <a:pt x="299" y="365"/>
                  <a:pt x="291" y="386"/>
                  <a:pt x="291" y="411"/>
                </a:cubicBezTo>
                <a:lnTo>
                  <a:pt x="291" y="425"/>
                </a:lnTo>
                <a:cubicBezTo>
                  <a:pt x="291" y="432"/>
                  <a:pt x="289" y="438"/>
                  <a:pt x="287" y="445"/>
                </a:cubicBezTo>
                <a:cubicBezTo>
                  <a:pt x="284" y="451"/>
                  <a:pt x="280" y="457"/>
                  <a:pt x="275" y="462"/>
                </a:cubicBezTo>
                <a:cubicBezTo>
                  <a:pt x="270" y="467"/>
                  <a:pt x="264" y="471"/>
                  <a:pt x="258" y="474"/>
                </a:cubicBezTo>
                <a:cubicBezTo>
                  <a:pt x="252" y="476"/>
                  <a:pt x="245" y="478"/>
                  <a:pt x="238" y="478"/>
                </a:cubicBezTo>
                <a:cubicBezTo>
                  <a:pt x="231" y="478"/>
                  <a:pt x="224" y="476"/>
                  <a:pt x="217" y="474"/>
                </a:cubicBezTo>
                <a:cubicBezTo>
                  <a:pt x="211" y="471"/>
                  <a:pt x="205" y="467"/>
                  <a:pt x="200" y="462"/>
                </a:cubicBezTo>
                <a:cubicBezTo>
                  <a:pt x="195" y="457"/>
                  <a:pt x="192" y="451"/>
                  <a:pt x="189" y="445"/>
                </a:cubicBezTo>
                <a:cubicBezTo>
                  <a:pt x="186" y="438"/>
                  <a:pt x="185" y="432"/>
                  <a:pt x="185" y="425"/>
                </a:cubicBezTo>
                <a:lnTo>
                  <a:pt x="185" y="411"/>
                </a:lnTo>
                <a:cubicBezTo>
                  <a:pt x="185" y="387"/>
                  <a:pt x="175" y="364"/>
                  <a:pt x="159" y="347"/>
                </a:cubicBezTo>
                <a:lnTo>
                  <a:pt x="144" y="333"/>
                </a:lnTo>
              </a:path>
            </a:pathLst>
          </a:custGeom>
          <a:ln w="18720" cap="rnd">
            <a:solidFill>
              <a:srgbClr val="0052D9"/>
            </a:solidFill>
            <a:round/>
          </a:ln>
        </p:spPr>
        <p:txBody>
          <a:bodyPr lIns="9360" tIns="9360" rIns="9360" bIns="936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3657600" y="3743640"/>
            <a:ext cx="1190160" cy="19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4B5563"/>
                </a:solidFill>
                <a:effectLst/>
                <a:uFillTx/>
                <a:latin typeface="NotoSansSC"/>
                <a:ea typeface="NotoSansSC"/>
              </a:rPr>
              <a:t>多端适配 </a:t>
            </a:r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NotoSansSC"/>
                <a:ea typeface="NotoSansSC"/>
              </a:rPr>
              <a:t>Bug </a:t>
            </a:r>
            <a:r>
              <a:rPr lang="zh-CN" sz="1050" b="0" u="none" strike="noStrike">
                <a:solidFill>
                  <a:srgbClr val="4B5563"/>
                </a:solidFill>
                <a:effectLst/>
                <a:uFillTx/>
                <a:latin typeface="NotoSansSC"/>
                <a:ea typeface="NotoSansSC"/>
              </a:rPr>
              <a:t>修复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任意多边形: 形状 48"/>
          <p:cNvSpPr/>
          <p:nvPr/>
        </p:nvSpPr>
        <p:spPr>
          <a:xfrm>
            <a:off x="6381720" y="2609640"/>
            <a:ext cx="2286360" cy="57600"/>
          </a:xfrm>
          <a:custGeom>
            <a:avLst/>
            <a:gdLst/>
            <a:ahLst/>
            <a:cxnLst/>
            <a:rect l="0" t="0" r="r" b="b"/>
            <a:pathLst>
              <a:path w="6351" h="160">
                <a:moveTo>
                  <a:pt x="0" y="79"/>
                </a:move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5" y="31"/>
                  <a:pt x="23" y="23"/>
                </a:cubicBezTo>
                <a:cubicBezTo>
                  <a:pt x="30" y="16"/>
                  <a:pt x="39" y="10"/>
                  <a:pt x="49" y="6"/>
                </a:cubicBezTo>
                <a:cubicBezTo>
                  <a:pt x="58" y="2"/>
                  <a:pt x="68" y="0"/>
                  <a:pt x="79" y="0"/>
                </a:cubicBezTo>
                <a:lnTo>
                  <a:pt x="6271" y="0"/>
                </a:lnTo>
                <a:cubicBezTo>
                  <a:pt x="6282" y="0"/>
                  <a:pt x="6292" y="2"/>
                  <a:pt x="6302" y="6"/>
                </a:cubicBezTo>
                <a:cubicBezTo>
                  <a:pt x="6311" y="10"/>
                  <a:pt x="6320" y="16"/>
                  <a:pt x="6327" y="23"/>
                </a:cubicBezTo>
                <a:cubicBezTo>
                  <a:pt x="6335" y="31"/>
                  <a:pt x="6341" y="39"/>
                  <a:pt x="6345" y="49"/>
                </a:cubicBezTo>
                <a:cubicBezTo>
                  <a:pt x="6349" y="59"/>
                  <a:pt x="6351" y="69"/>
                  <a:pt x="6351" y="79"/>
                </a:cubicBezTo>
                <a:cubicBezTo>
                  <a:pt x="6351" y="90"/>
                  <a:pt x="6349" y="101"/>
                  <a:pt x="6345" y="111"/>
                </a:cubicBezTo>
                <a:cubicBezTo>
                  <a:pt x="6341" y="121"/>
                  <a:pt x="6335" y="129"/>
                  <a:pt x="6327" y="137"/>
                </a:cubicBezTo>
                <a:cubicBezTo>
                  <a:pt x="6320" y="144"/>
                  <a:pt x="6311" y="150"/>
                  <a:pt x="6302" y="154"/>
                </a:cubicBezTo>
                <a:cubicBezTo>
                  <a:pt x="6292" y="158"/>
                  <a:pt x="6282" y="160"/>
                  <a:pt x="6271" y="160"/>
                </a:cubicBezTo>
                <a:lnTo>
                  <a:pt x="79" y="160"/>
                </a:lnTo>
                <a:cubicBezTo>
                  <a:pt x="68" y="160"/>
                  <a:pt x="58" y="158"/>
                  <a:pt x="49" y="154"/>
                </a:cubicBezTo>
                <a:cubicBezTo>
                  <a:pt x="39" y="150"/>
                  <a:pt x="30" y="144"/>
                  <a:pt x="23" y="137"/>
                </a:cubicBezTo>
                <a:cubicBezTo>
                  <a:pt x="15" y="129"/>
                  <a:pt x="10" y="121"/>
                  <a:pt x="6" y="111"/>
                </a:cubicBezTo>
                <a:cubicBezTo>
                  <a:pt x="2" y="101"/>
                  <a:pt x="0" y="90"/>
                  <a:pt x="0" y="79"/>
                </a:cubicBez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任意多边形: 形状 49"/>
          <p:cNvSpPr/>
          <p:nvPr/>
        </p:nvSpPr>
        <p:spPr>
          <a:xfrm>
            <a:off x="6381720" y="2609640"/>
            <a:ext cx="181080" cy="57600"/>
          </a:xfrm>
          <a:custGeom>
            <a:avLst/>
            <a:gdLst/>
            <a:ahLst/>
            <a:cxnLst/>
            <a:rect l="0" t="0" r="r" b="b"/>
            <a:pathLst>
              <a:path w="503" h="160">
                <a:moveTo>
                  <a:pt x="0" y="79"/>
                </a:move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5" y="31"/>
                  <a:pt x="23" y="23"/>
                </a:cubicBezTo>
                <a:cubicBezTo>
                  <a:pt x="30" y="16"/>
                  <a:pt x="39" y="10"/>
                  <a:pt x="49" y="6"/>
                </a:cubicBezTo>
                <a:cubicBezTo>
                  <a:pt x="58" y="2"/>
                  <a:pt x="68" y="0"/>
                  <a:pt x="79" y="0"/>
                </a:cubicBezTo>
                <a:lnTo>
                  <a:pt x="424" y="0"/>
                </a:lnTo>
                <a:cubicBezTo>
                  <a:pt x="434" y="0"/>
                  <a:pt x="445" y="2"/>
                  <a:pt x="454" y="6"/>
                </a:cubicBezTo>
                <a:cubicBezTo>
                  <a:pt x="464" y="10"/>
                  <a:pt x="473" y="16"/>
                  <a:pt x="480" y="23"/>
                </a:cubicBezTo>
                <a:cubicBezTo>
                  <a:pt x="487" y="31"/>
                  <a:pt x="493" y="39"/>
                  <a:pt x="497" y="49"/>
                </a:cubicBezTo>
                <a:cubicBezTo>
                  <a:pt x="501" y="59"/>
                  <a:pt x="503" y="69"/>
                  <a:pt x="503" y="79"/>
                </a:cubicBezTo>
                <a:cubicBezTo>
                  <a:pt x="503" y="90"/>
                  <a:pt x="501" y="101"/>
                  <a:pt x="497" y="111"/>
                </a:cubicBezTo>
                <a:cubicBezTo>
                  <a:pt x="493" y="121"/>
                  <a:pt x="487" y="129"/>
                  <a:pt x="480" y="137"/>
                </a:cubicBezTo>
                <a:cubicBezTo>
                  <a:pt x="473" y="144"/>
                  <a:pt x="464" y="150"/>
                  <a:pt x="454" y="154"/>
                </a:cubicBezTo>
                <a:cubicBezTo>
                  <a:pt x="445" y="158"/>
                  <a:pt x="434" y="160"/>
                  <a:pt x="424" y="160"/>
                </a:cubicBezTo>
                <a:lnTo>
                  <a:pt x="79" y="160"/>
                </a:lnTo>
                <a:cubicBezTo>
                  <a:pt x="68" y="160"/>
                  <a:pt x="58" y="158"/>
                  <a:pt x="49" y="154"/>
                </a:cubicBezTo>
                <a:cubicBezTo>
                  <a:pt x="39" y="150"/>
                  <a:pt x="30" y="144"/>
                  <a:pt x="23" y="137"/>
                </a:cubicBezTo>
                <a:cubicBezTo>
                  <a:pt x="15" y="129"/>
                  <a:pt x="10" y="121"/>
                  <a:pt x="6" y="111"/>
                </a:cubicBezTo>
                <a:cubicBezTo>
                  <a:pt x="2" y="101"/>
                  <a:pt x="0" y="90"/>
                  <a:pt x="0" y="79"/>
                </a:cubicBezTo>
                <a:close/>
              </a:path>
            </a:pathLst>
          </a:custGeom>
          <a:solidFill>
            <a:srgbClr val="0052D9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6877080" y="1720440"/>
            <a:ext cx="810720" cy="27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00" b="0" u="none" strike="noStrike">
                <a:solidFill>
                  <a:srgbClr val="1F2937"/>
                </a:solidFill>
                <a:effectLst/>
                <a:uFillTx/>
                <a:latin typeface="NotoSansSC"/>
                <a:ea typeface="NotoSansSC"/>
              </a:rPr>
              <a:t>AI</a:t>
            </a:r>
            <a:r>
              <a:rPr lang="zh-CN" sz="1500" b="0" u="none" strike="noStrike">
                <a:solidFill>
                  <a:srgbClr val="1F2937"/>
                </a:solidFill>
                <a:effectLst/>
                <a:uFillTx/>
                <a:latin typeface="NotoSansSC"/>
                <a:ea typeface="NotoSansSC"/>
              </a:rPr>
              <a:t>智能体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6381720" y="2180520"/>
            <a:ext cx="402840" cy="39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250" b="0" u="none" strike="noStrike">
                <a:solidFill>
                  <a:srgbClr val="0052D9"/>
                </a:solidFill>
                <a:effectLst/>
                <a:uFillTx/>
                <a:latin typeface="NotoSansSC"/>
                <a:ea typeface="NotoSansSC"/>
              </a:rPr>
              <a:t>8%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任意多边形: 形状 52"/>
          <p:cNvSpPr/>
          <p:nvPr/>
        </p:nvSpPr>
        <p:spPr>
          <a:xfrm>
            <a:off x="6381720" y="2876400"/>
            <a:ext cx="57240" cy="57600"/>
          </a:xfrm>
          <a:custGeom>
            <a:avLst/>
            <a:gdLst/>
            <a:ahLst/>
            <a:cxnLst/>
            <a:rect l="0" t="0" r="r" b="b"/>
            <a:pathLst>
              <a:path w="159" h="160">
                <a:moveTo>
                  <a:pt x="159" y="79"/>
                </a:moveTo>
                <a:cubicBezTo>
                  <a:pt x="159" y="90"/>
                  <a:pt x="157" y="100"/>
                  <a:pt x="153" y="110"/>
                </a:cubicBezTo>
                <a:cubicBezTo>
                  <a:pt x="149" y="119"/>
                  <a:pt x="144" y="128"/>
                  <a:pt x="136" y="135"/>
                </a:cubicBezTo>
                <a:cubicBezTo>
                  <a:pt x="129" y="143"/>
                  <a:pt x="120" y="150"/>
                  <a:pt x="110" y="154"/>
                </a:cubicBezTo>
                <a:cubicBezTo>
                  <a:pt x="101" y="158"/>
                  <a:pt x="90" y="160"/>
                  <a:pt x="80" y="160"/>
                </a:cubicBezTo>
                <a:cubicBezTo>
                  <a:pt x="69" y="160"/>
                  <a:pt x="59" y="158"/>
                  <a:pt x="50" y="154"/>
                </a:cubicBezTo>
                <a:cubicBezTo>
                  <a:pt x="39" y="150"/>
                  <a:pt x="30" y="143"/>
                  <a:pt x="23" y="135"/>
                </a:cubicBezTo>
                <a:cubicBezTo>
                  <a:pt x="15" y="128"/>
                  <a:pt x="10" y="119"/>
                  <a:pt x="6" y="110"/>
                </a:cubicBezTo>
                <a:cubicBezTo>
                  <a:pt x="2" y="100"/>
                  <a:pt x="0" y="90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5" y="31"/>
                  <a:pt x="23" y="23"/>
                </a:cubicBezTo>
                <a:cubicBezTo>
                  <a:pt x="30" y="16"/>
                  <a:pt x="39" y="10"/>
                  <a:pt x="50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0" y="0"/>
                  <a:pt x="101" y="2"/>
                  <a:pt x="110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1"/>
                  <a:pt x="149" y="39"/>
                  <a:pt x="153" y="49"/>
                </a:cubicBezTo>
                <a:cubicBezTo>
                  <a:pt x="157" y="59"/>
                  <a:pt x="159" y="69"/>
                  <a:pt x="159" y="79"/>
                </a:cubicBezTo>
                <a:close/>
              </a:path>
            </a:pathLst>
          </a:custGeom>
          <a:solidFill>
            <a:srgbClr val="0052D9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6905520" y="2343600"/>
            <a:ext cx="349920" cy="19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 dirty="0">
                <a:solidFill>
                  <a:srgbClr val="6B7280"/>
                </a:solidFill>
                <a:effectLst/>
                <a:uFillTx/>
                <a:latin typeface="NotoSansSC"/>
                <a:ea typeface="NotoSansSC"/>
              </a:rPr>
              <a:t>/ 5</a:t>
            </a:r>
            <a:r>
              <a:rPr lang="zh-CN" sz="1050" b="0" u="none" strike="noStrike" dirty="0">
                <a:solidFill>
                  <a:srgbClr val="6B7280"/>
                </a:solidFill>
                <a:effectLst/>
                <a:uFillTx/>
                <a:latin typeface="NotoSansSC"/>
                <a:ea typeface="NotoSansSC"/>
              </a:rPr>
              <a:t>项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任意多边形: 形状 54"/>
          <p:cNvSpPr/>
          <p:nvPr/>
        </p:nvSpPr>
        <p:spPr>
          <a:xfrm>
            <a:off x="6381720" y="3181320"/>
            <a:ext cx="57240" cy="57240"/>
          </a:xfrm>
          <a:custGeom>
            <a:avLst/>
            <a:gdLst/>
            <a:ahLst/>
            <a:cxnLst/>
            <a:rect l="0" t="0" r="r" b="b"/>
            <a:pathLst>
              <a:path w="159" h="159">
                <a:moveTo>
                  <a:pt x="159" y="79"/>
                </a:moveTo>
                <a:cubicBezTo>
                  <a:pt x="159" y="89"/>
                  <a:pt x="157" y="101"/>
                  <a:pt x="153" y="110"/>
                </a:cubicBezTo>
                <a:cubicBezTo>
                  <a:pt x="149" y="120"/>
                  <a:pt x="144" y="129"/>
                  <a:pt x="136" y="136"/>
                </a:cubicBezTo>
                <a:cubicBezTo>
                  <a:pt x="129" y="144"/>
                  <a:pt x="120" y="149"/>
                  <a:pt x="110" y="153"/>
                </a:cubicBezTo>
                <a:cubicBezTo>
                  <a:pt x="101" y="157"/>
                  <a:pt x="90" y="159"/>
                  <a:pt x="80" y="159"/>
                </a:cubicBezTo>
                <a:cubicBezTo>
                  <a:pt x="69" y="159"/>
                  <a:pt x="59" y="157"/>
                  <a:pt x="50" y="153"/>
                </a:cubicBezTo>
                <a:cubicBezTo>
                  <a:pt x="39" y="149"/>
                  <a:pt x="30" y="144"/>
                  <a:pt x="23" y="136"/>
                </a:cubicBezTo>
                <a:cubicBezTo>
                  <a:pt x="15" y="129"/>
                  <a:pt x="10" y="120"/>
                  <a:pt x="6" y="110"/>
                </a:cubicBezTo>
                <a:cubicBezTo>
                  <a:pt x="2" y="101"/>
                  <a:pt x="0" y="89"/>
                  <a:pt x="0" y="79"/>
                </a:cubicBezTo>
                <a:cubicBezTo>
                  <a:pt x="0" y="68"/>
                  <a:pt x="2" y="58"/>
                  <a:pt x="6" y="49"/>
                </a:cubicBezTo>
                <a:cubicBezTo>
                  <a:pt x="10" y="39"/>
                  <a:pt x="15" y="30"/>
                  <a:pt x="23" y="23"/>
                </a:cubicBezTo>
                <a:cubicBezTo>
                  <a:pt x="30" y="15"/>
                  <a:pt x="39" y="10"/>
                  <a:pt x="50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0" y="0"/>
                  <a:pt x="101" y="2"/>
                  <a:pt x="110" y="6"/>
                </a:cubicBezTo>
                <a:cubicBezTo>
                  <a:pt x="120" y="10"/>
                  <a:pt x="129" y="15"/>
                  <a:pt x="136" y="23"/>
                </a:cubicBezTo>
                <a:cubicBezTo>
                  <a:pt x="144" y="30"/>
                  <a:pt x="149" y="39"/>
                  <a:pt x="153" y="49"/>
                </a:cubicBezTo>
                <a:cubicBezTo>
                  <a:pt x="157" y="58"/>
                  <a:pt x="159" y="68"/>
                  <a:pt x="159" y="79"/>
                </a:cubicBezTo>
                <a:close/>
              </a:path>
            </a:pathLst>
          </a:custGeom>
          <a:solidFill>
            <a:srgbClr val="0052D9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6514920" y="2829240"/>
            <a:ext cx="1680120" cy="19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4B5563"/>
                </a:solidFill>
                <a:effectLst/>
                <a:uFillTx/>
                <a:latin typeface="NotoSansSC"/>
                <a:ea typeface="NotoSansSC"/>
              </a:rPr>
              <a:t>战斗程序多智能体系统开发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任意多边形: 形状 56"/>
          <p:cNvSpPr/>
          <p:nvPr/>
        </p:nvSpPr>
        <p:spPr>
          <a:xfrm>
            <a:off x="6381720" y="3485880"/>
            <a:ext cx="57240" cy="57600"/>
          </a:xfrm>
          <a:custGeom>
            <a:avLst/>
            <a:gdLst/>
            <a:ahLst/>
            <a:cxnLst/>
            <a:rect l="0" t="0" r="r" b="b"/>
            <a:pathLst>
              <a:path w="159" h="160">
                <a:moveTo>
                  <a:pt x="159" y="81"/>
                </a:moveTo>
                <a:cubicBezTo>
                  <a:pt x="159" y="91"/>
                  <a:pt x="157" y="101"/>
                  <a:pt x="153" y="111"/>
                </a:cubicBezTo>
                <a:cubicBezTo>
                  <a:pt x="149" y="121"/>
                  <a:pt x="144" y="129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0" y="160"/>
                  <a:pt x="80" y="160"/>
                </a:cubicBezTo>
                <a:cubicBezTo>
                  <a:pt x="69" y="160"/>
                  <a:pt x="59" y="158"/>
                  <a:pt x="50" y="154"/>
                </a:cubicBezTo>
                <a:cubicBezTo>
                  <a:pt x="39" y="150"/>
                  <a:pt x="30" y="144"/>
                  <a:pt x="23" y="137"/>
                </a:cubicBezTo>
                <a:cubicBezTo>
                  <a:pt x="15" y="129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1"/>
                  <a:pt x="15" y="31"/>
                  <a:pt x="23" y="23"/>
                </a:cubicBezTo>
                <a:cubicBezTo>
                  <a:pt x="30" y="16"/>
                  <a:pt x="39" y="10"/>
                  <a:pt x="50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0" y="0"/>
                  <a:pt x="101" y="2"/>
                  <a:pt x="110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1"/>
                  <a:pt x="149" y="41"/>
                  <a:pt x="153" y="50"/>
                </a:cubicBezTo>
                <a:cubicBezTo>
                  <a:pt x="157" y="60"/>
                  <a:pt x="159" y="70"/>
                  <a:pt x="159" y="81"/>
                </a:cubicBezTo>
                <a:close/>
              </a:path>
            </a:pathLst>
          </a:custGeom>
          <a:solidFill>
            <a:srgbClr val="0052D9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6514920" y="3134160"/>
            <a:ext cx="1960200" cy="19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4B5563"/>
                </a:solidFill>
                <a:effectLst/>
                <a:uFillTx/>
                <a:latin typeface="NotoSansSC"/>
                <a:ea typeface="NotoSansSC"/>
              </a:rPr>
              <a:t>制作 </a:t>
            </a:r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NotoSansSC"/>
                <a:ea typeface="NotoSansSC"/>
              </a:rPr>
              <a:t>Cpp Risk Analyzer Skill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9" name="图片 58"/>
          <p:cNvPicPr/>
          <p:nvPr/>
        </p:nvPicPr>
        <p:blipFill>
          <a:blip r:embed="rId8"/>
          <a:stretch/>
        </p:blipFill>
        <p:spPr>
          <a:xfrm>
            <a:off x="9048600" y="1428840"/>
            <a:ext cx="2666520" cy="4076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0" name="图片 59"/>
          <p:cNvPicPr/>
          <p:nvPr/>
        </p:nvPicPr>
        <p:blipFill>
          <a:blip r:embed="rId10"/>
          <a:stretch/>
        </p:blipFill>
        <p:spPr>
          <a:xfrm>
            <a:off x="10572840" y="1428840"/>
            <a:ext cx="1142640" cy="1142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" name="任意多边形: 形状 60"/>
          <p:cNvSpPr/>
          <p:nvPr/>
        </p:nvSpPr>
        <p:spPr>
          <a:xfrm>
            <a:off x="9239040" y="1657080"/>
            <a:ext cx="381240" cy="381600"/>
          </a:xfrm>
          <a:custGeom>
            <a:avLst/>
            <a:gdLst/>
            <a:ahLst/>
            <a:cxnLst/>
            <a:rect l="0" t="0" r="r" b="b"/>
            <a:pathLst>
              <a:path w="1059" h="1060">
                <a:moveTo>
                  <a:pt x="0" y="848"/>
                </a:moveTo>
                <a:lnTo>
                  <a:pt x="0" y="213"/>
                </a:lnTo>
                <a:cubicBezTo>
                  <a:pt x="0" y="199"/>
                  <a:pt x="1" y="185"/>
                  <a:pt x="4" y="172"/>
                </a:cubicBezTo>
                <a:cubicBezTo>
                  <a:pt x="7" y="157"/>
                  <a:pt x="11" y="144"/>
                  <a:pt x="16" y="131"/>
                </a:cubicBezTo>
                <a:cubicBezTo>
                  <a:pt x="22" y="118"/>
                  <a:pt x="28" y="106"/>
                  <a:pt x="36" y="94"/>
                </a:cubicBezTo>
                <a:cubicBezTo>
                  <a:pt x="43" y="83"/>
                  <a:pt x="52" y="72"/>
                  <a:pt x="62" y="62"/>
                </a:cubicBezTo>
                <a:cubicBezTo>
                  <a:pt x="72" y="52"/>
                  <a:pt x="83" y="44"/>
                  <a:pt x="94" y="36"/>
                </a:cubicBezTo>
                <a:cubicBezTo>
                  <a:pt x="106" y="28"/>
                  <a:pt x="118" y="22"/>
                  <a:pt x="131" y="16"/>
                </a:cubicBezTo>
                <a:cubicBezTo>
                  <a:pt x="144" y="11"/>
                  <a:pt x="157" y="7"/>
                  <a:pt x="170" y="4"/>
                </a:cubicBezTo>
                <a:cubicBezTo>
                  <a:pt x="184" y="2"/>
                  <a:pt x="198" y="0"/>
                  <a:pt x="212" y="0"/>
                </a:cubicBezTo>
                <a:lnTo>
                  <a:pt x="848" y="0"/>
                </a:lnTo>
                <a:cubicBezTo>
                  <a:pt x="862" y="0"/>
                  <a:pt x="875" y="2"/>
                  <a:pt x="889" y="4"/>
                </a:cubicBezTo>
                <a:cubicBezTo>
                  <a:pt x="903" y="7"/>
                  <a:pt x="916" y="11"/>
                  <a:pt x="929" y="16"/>
                </a:cubicBezTo>
                <a:cubicBezTo>
                  <a:pt x="942" y="22"/>
                  <a:pt x="954" y="28"/>
                  <a:pt x="965" y="36"/>
                </a:cubicBezTo>
                <a:cubicBezTo>
                  <a:pt x="977" y="44"/>
                  <a:pt x="988" y="52"/>
                  <a:pt x="997" y="62"/>
                </a:cubicBezTo>
                <a:cubicBezTo>
                  <a:pt x="1007" y="72"/>
                  <a:pt x="1016" y="83"/>
                  <a:pt x="1024" y="94"/>
                </a:cubicBezTo>
                <a:cubicBezTo>
                  <a:pt x="1031" y="106"/>
                  <a:pt x="1038" y="118"/>
                  <a:pt x="1043" y="131"/>
                </a:cubicBezTo>
                <a:cubicBezTo>
                  <a:pt x="1049" y="144"/>
                  <a:pt x="1053" y="157"/>
                  <a:pt x="1055" y="172"/>
                </a:cubicBezTo>
                <a:cubicBezTo>
                  <a:pt x="1058" y="185"/>
                  <a:pt x="1059" y="199"/>
                  <a:pt x="1059" y="213"/>
                </a:cubicBezTo>
                <a:lnTo>
                  <a:pt x="1059" y="848"/>
                </a:lnTo>
                <a:cubicBezTo>
                  <a:pt x="1059" y="862"/>
                  <a:pt x="1058" y="876"/>
                  <a:pt x="1055" y="889"/>
                </a:cubicBezTo>
                <a:cubicBezTo>
                  <a:pt x="1053" y="903"/>
                  <a:pt x="1049" y="916"/>
                  <a:pt x="1043" y="929"/>
                </a:cubicBezTo>
                <a:cubicBezTo>
                  <a:pt x="1038" y="942"/>
                  <a:pt x="1031" y="954"/>
                  <a:pt x="1024" y="966"/>
                </a:cubicBezTo>
                <a:cubicBezTo>
                  <a:pt x="1016" y="977"/>
                  <a:pt x="1007" y="988"/>
                  <a:pt x="997" y="998"/>
                </a:cubicBezTo>
                <a:cubicBezTo>
                  <a:pt x="988" y="1007"/>
                  <a:pt x="977" y="1016"/>
                  <a:pt x="965" y="1024"/>
                </a:cubicBezTo>
                <a:cubicBezTo>
                  <a:pt x="954" y="1032"/>
                  <a:pt x="942" y="1038"/>
                  <a:pt x="929" y="1043"/>
                </a:cubicBezTo>
                <a:cubicBezTo>
                  <a:pt x="916" y="1049"/>
                  <a:pt x="903" y="1053"/>
                  <a:pt x="889" y="1056"/>
                </a:cubicBezTo>
                <a:cubicBezTo>
                  <a:pt x="875" y="1058"/>
                  <a:pt x="862" y="1060"/>
                  <a:pt x="848" y="1060"/>
                </a:cubicBezTo>
                <a:lnTo>
                  <a:pt x="212" y="1060"/>
                </a:lnTo>
                <a:cubicBezTo>
                  <a:pt x="198" y="1060"/>
                  <a:pt x="184" y="1058"/>
                  <a:pt x="170" y="1056"/>
                </a:cubicBezTo>
                <a:cubicBezTo>
                  <a:pt x="157" y="1053"/>
                  <a:pt x="144" y="1049"/>
                  <a:pt x="131" y="1043"/>
                </a:cubicBezTo>
                <a:cubicBezTo>
                  <a:pt x="118" y="1038"/>
                  <a:pt x="106" y="1032"/>
                  <a:pt x="94" y="1024"/>
                </a:cubicBezTo>
                <a:cubicBezTo>
                  <a:pt x="83" y="1016"/>
                  <a:pt x="72" y="1007"/>
                  <a:pt x="62" y="998"/>
                </a:cubicBezTo>
                <a:cubicBezTo>
                  <a:pt x="52" y="988"/>
                  <a:pt x="43" y="977"/>
                  <a:pt x="36" y="966"/>
                </a:cubicBezTo>
                <a:cubicBezTo>
                  <a:pt x="28" y="954"/>
                  <a:pt x="22" y="942"/>
                  <a:pt x="16" y="929"/>
                </a:cubicBezTo>
                <a:cubicBezTo>
                  <a:pt x="11" y="916"/>
                  <a:pt x="7" y="903"/>
                  <a:pt x="4" y="889"/>
                </a:cubicBezTo>
                <a:cubicBezTo>
                  <a:pt x="1" y="876"/>
                  <a:pt x="0" y="862"/>
                  <a:pt x="0" y="848"/>
                </a:cubicBezTo>
                <a:close/>
              </a:path>
            </a:pathLst>
          </a:custGeom>
          <a:solidFill>
            <a:srgbClr val="E6F0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任意多边形: 形状 61"/>
          <p:cNvSpPr/>
          <p:nvPr/>
        </p:nvSpPr>
        <p:spPr>
          <a:xfrm>
            <a:off x="9343800" y="1761840"/>
            <a:ext cx="171720" cy="171720"/>
          </a:xfrm>
          <a:custGeom>
            <a:avLst/>
            <a:gdLst/>
            <a:ahLst/>
            <a:cxnLst/>
            <a:rect l="0" t="0" r="r" b="b"/>
            <a:pathLst>
              <a:path w="477" h="477" fill="none">
                <a:moveTo>
                  <a:pt x="194" y="35"/>
                </a:moveTo>
                <a:cubicBezTo>
                  <a:pt x="205" y="-11"/>
                  <a:pt x="271" y="-11"/>
                  <a:pt x="283" y="35"/>
                </a:cubicBezTo>
                <a:cubicBezTo>
                  <a:pt x="284" y="42"/>
                  <a:pt x="288" y="49"/>
                  <a:pt x="292" y="54"/>
                </a:cubicBezTo>
                <a:cubicBezTo>
                  <a:pt x="297" y="60"/>
                  <a:pt x="303" y="64"/>
                  <a:pt x="309" y="67"/>
                </a:cubicBezTo>
                <a:cubicBezTo>
                  <a:pt x="316" y="69"/>
                  <a:pt x="323" y="70"/>
                  <a:pt x="330" y="70"/>
                </a:cubicBezTo>
                <a:cubicBezTo>
                  <a:pt x="338" y="69"/>
                  <a:pt x="344" y="67"/>
                  <a:pt x="351" y="63"/>
                </a:cubicBezTo>
                <a:cubicBezTo>
                  <a:pt x="391" y="38"/>
                  <a:pt x="438" y="85"/>
                  <a:pt x="413" y="127"/>
                </a:cubicBezTo>
                <a:cubicBezTo>
                  <a:pt x="410" y="133"/>
                  <a:pt x="407" y="140"/>
                  <a:pt x="407" y="147"/>
                </a:cubicBezTo>
                <a:cubicBezTo>
                  <a:pt x="406" y="155"/>
                  <a:pt x="407" y="162"/>
                  <a:pt x="410" y="168"/>
                </a:cubicBezTo>
                <a:cubicBezTo>
                  <a:pt x="413" y="175"/>
                  <a:pt x="417" y="181"/>
                  <a:pt x="423" y="185"/>
                </a:cubicBezTo>
                <a:cubicBezTo>
                  <a:pt x="428" y="190"/>
                  <a:pt x="434" y="193"/>
                  <a:pt x="442" y="195"/>
                </a:cubicBezTo>
                <a:cubicBezTo>
                  <a:pt x="489" y="206"/>
                  <a:pt x="489" y="272"/>
                  <a:pt x="442" y="284"/>
                </a:cubicBezTo>
                <a:cubicBezTo>
                  <a:pt x="434" y="285"/>
                  <a:pt x="428" y="289"/>
                  <a:pt x="423" y="293"/>
                </a:cubicBezTo>
                <a:cubicBezTo>
                  <a:pt x="417" y="298"/>
                  <a:pt x="413" y="304"/>
                  <a:pt x="410" y="311"/>
                </a:cubicBezTo>
                <a:cubicBezTo>
                  <a:pt x="407" y="317"/>
                  <a:pt x="406" y="324"/>
                  <a:pt x="407" y="332"/>
                </a:cubicBezTo>
                <a:cubicBezTo>
                  <a:pt x="407" y="339"/>
                  <a:pt x="410" y="346"/>
                  <a:pt x="413" y="352"/>
                </a:cubicBezTo>
                <a:cubicBezTo>
                  <a:pt x="438" y="393"/>
                  <a:pt x="391" y="439"/>
                  <a:pt x="351" y="415"/>
                </a:cubicBezTo>
                <a:cubicBezTo>
                  <a:pt x="344" y="411"/>
                  <a:pt x="338" y="409"/>
                  <a:pt x="330" y="408"/>
                </a:cubicBezTo>
                <a:cubicBezTo>
                  <a:pt x="323" y="407"/>
                  <a:pt x="316" y="409"/>
                  <a:pt x="309" y="411"/>
                </a:cubicBezTo>
                <a:cubicBezTo>
                  <a:pt x="303" y="414"/>
                  <a:pt x="297" y="418"/>
                  <a:pt x="292" y="424"/>
                </a:cubicBezTo>
                <a:cubicBezTo>
                  <a:pt x="288" y="429"/>
                  <a:pt x="284" y="436"/>
                  <a:pt x="283" y="443"/>
                </a:cubicBezTo>
                <a:cubicBezTo>
                  <a:pt x="271" y="489"/>
                  <a:pt x="205" y="489"/>
                  <a:pt x="194" y="443"/>
                </a:cubicBezTo>
                <a:cubicBezTo>
                  <a:pt x="192" y="436"/>
                  <a:pt x="189" y="429"/>
                  <a:pt x="184" y="424"/>
                </a:cubicBezTo>
                <a:cubicBezTo>
                  <a:pt x="180" y="418"/>
                  <a:pt x="174" y="414"/>
                  <a:pt x="167" y="411"/>
                </a:cubicBezTo>
                <a:cubicBezTo>
                  <a:pt x="160" y="409"/>
                  <a:pt x="153" y="407"/>
                  <a:pt x="146" y="408"/>
                </a:cubicBezTo>
                <a:cubicBezTo>
                  <a:pt x="139" y="409"/>
                  <a:pt x="132" y="411"/>
                  <a:pt x="126" y="414"/>
                </a:cubicBezTo>
                <a:cubicBezTo>
                  <a:pt x="85" y="439"/>
                  <a:pt x="38" y="393"/>
                  <a:pt x="63" y="352"/>
                </a:cubicBezTo>
                <a:cubicBezTo>
                  <a:pt x="67" y="346"/>
                  <a:pt x="69" y="339"/>
                  <a:pt x="70" y="332"/>
                </a:cubicBezTo>
                <a:cubicBezTo>
                  <a:pt x="70" y="324"/>
                  <a:pt x="69" y="317"/>
                  <a:pt x="66" y="311"/>
                </a:cubicBezTo>
                <a:cubicBezTo>
                  <a:pt x="64" y="304"/>
                  <a:pt x="59" y="298"/>
                  <a:pt x="54" y="293"/>
                </a:cubicBezTo>
                <a:cubicBezTo>
                  <a:pt x="48" y="289"/>
                  <a:pt x="42" y="285"/>
                  <a:pt x="35" y="284"/>
                </a:cubicBezTo>
                <a:cubicBezTo>
                  <a:pt x="-11" y="272"/>
                  <a:pt x="-11" y="206"/>
                  <a:pt x="35" y="195"/>
                </a:cubicBezTo>
                <a:cubicBezTo>
                  <a:pt x="42" y="193"/>
                  <a:pt x="48" y="190"/>
                  <a:pt x="54" y="185"/>
                </a:cubicBezTo>
                <a:cubicBezTo>
                  <a:pt x="59" y="181"/>
                  <a:pt x="64" y="175"/>
                  <a:pt x="66" y="168"/>
                </a:cubicBezTo>
                <a:cubicBezTo>
                  <a:pt x="69" y="161"/>
                  <a:pt x="70" y="155"/>
                  <a:pt x="70" y="147"/>
                </a:cubicBezTo>
                <a:cubicBezTo>
                  <a:pt x="69" y="140"/>
                  <a:pt x="67" y="133"/>
                  <a:pt x="63" y="127"/>
                </a:cubicBezTo>
                <a:cubicBezTo>
                  <a:pt x="38" y="85"/>
                  <a:pt x="85" y="38"/>
                  <a:pt x="126" y="63"/>
                </a:cubicBezTo>
                <a:cubicBezTo>
                  <a:pt x="152" y="79"/>
                  <a:pt x="187" y="65"/>
                  <a:pt x="194" y="35"/>
                </a:cubicBezTo>
              </a:path>
            </a:pathLst>
          </a:custGeom>
          <a:ln w="18720" cap="rnd">
            <a:solidFill>
              <a:srgbClr val="0052D9"/>
            </a:solidFill>
            <a:round/>
          </a:ln>
        </p:spPr>
        <p:txBody>
          <a:bodyPr lIns="9360" tIns="9360" rIns="9360" bIns="936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任意多边形: 形状 62"/>
          <p:cNvSpPr/>
          <p:nvPr/>
        </p:nvSpPr>
        <p:spPr>
          <a:xfrm>
            <a:off x="9401040" y="1819080"/>
            <a:ext cx="57600" cy="57600"/>
          </a:xfrm>
          <a:custGeom>
            <a:avLst/>
            <a:gdLst/>
            <a:ahLst/>
            <a:cxnLst/>
            <a:rect l="0" t="0" r="r" b="b"/>
            <a:pathLst>
              <a:path w="160" h="160" fill="none">
                <a:moveTo>
                  <a:pt x="160" y="79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1"/>
                  <a:pt x="144" y="129"/>
                  <a:pt x="136" y="137"/>
                </a:cubicBezTo>
                <a:cubicBezTo>
                  <a:pt x="129" y="144"/>
                  <a:pt x="120" y="150"/>
                  <a:pt x="111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60" y="158"/>
                  <a:pt x="50" y="154"/>
                </a:cubicBezTo>
                <a:cubicBezTo>
                  <a:pt x="40" y="150"/>
                  <a:pt x="31" y="144"/>
                  <a:pt x="23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40" y="10"/>
                  <a:pt x="50" y="6"/>
                </a:cubicBezTo>
                <a:cubicBezTo>
                  <a:pt x="60" y="2"/>
                  <a:pt x="70" y="0"/>
                  <a:pt x="80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1"/>
                  <a:pt x="150" y="39"/>
                  <a:pt x="154" y="49"/>
                </a:cubicBezTo>
                <a:cubicBezTo>
                  <a:pt x="158" y="59"/>
                  <a:pt x="160" y="69"/>
                  <a:pt x="160" y="79"/>
                </a:cubicBezTo>
              </a:path>
            </a:pathLst>
          </a:custGeom>
          <a:ln w="18720" cap="rnd">
            <a:solidFill>
              <a:srgbClr val="0052D9"/>
            </a:solidFill>
            <a:round/>
          </a:ln>
        </p:spPr>
        <p:txBody>
          <a:bodyPr lIns="9360" tIns="9360" rIns="9360" bIns="936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6514920" y="3438720"/>
            <a:ext cx="1820160" cy="19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4B5563"/>
                </a:solidFill>
                <a:effectLst/>
                <a:uFillTx/>
                <a:latin typeface="NotoSansSC"/>
                <a:ea typeface="NotoSansSC"/>
              </a:rPr>
              <a:t>日志预处理 </a:t>
            </a:r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NotoSansSC"/>
                <a:ea typeface="NotoSansSC"/>
              </a:rPr>
              <a:t>&amp; API</a:t>
            </a:r>
            <a:r>
              <a:rPr lang="zh-CN" sz="1050" b="0" u="none" strike="noStrike">
                <a:solidFill>
                  <a:srgbClr val="4B5563"/>
                </a:solidFill>
                <a:effectLst/>
                <a:uFillTx/>
                <a:latin typeface="NotoSansSC"/>
                <a:ea typeface="NotoSansSC"/>
              </a:rPr>
              <a:t>抽取 </a:t>
            </a:r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NotoSansSC"/>
                <a:ea typeface="NotoSansSC"/>
              </a:rPr>
              <a:t>Skill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任意多边形: 形状 64"/>
          <p:cNvSpPr/>
          <p:nvPr/>
        </p:nvSpPr>
        <p:spPr>
          <a:xfrm>
            <a:off x="9239040" y="2609640"/>
            <a:ext cx="2286360" cy="57600"/>
          </a:xfrm>
          <a:custGeom>
            <a:avLst/>
            <a:gdLst/>
            <a:ahLst/>
            <a:cxnLst/>
            <a:rect l="0" t="0" r="r" b="b"/>
            <a:pathLst>
              <a:path w="6351" h="160">
                <a:moveTo>
                  <a:pt x="0" y="79"/>
                </a:move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6272" y="0"/>
                </a:lnTo>
                <a:cubicBezTo>
                  <a:pt x="6282" y="0"/>
                  <a:pt x="6292" y="2"/>
                  <a:pt x="6302" y="6"/>
                </a:cubicBezTo>
                <a:cubicBezTo>
                  <a:pt x="6312" y="10"/>
                  <a:pt x="6320" y="16"/>
                  <a:pt x="6328" y="23"/>
                </a:cubicBezTo>
                <a:cubicBezTo>
                  <a:pt x="6335" y="31"/>
                  <a:pt x="6341" y="39"/>
                  <a:pt x="6345" y="49"/>
                </a:cubicBezTo>
                <a:cubicBezTo>
                  <a:pt x="6349" y="59"/>
                  <a:pt x="6351" y="69"/>
                  <a:pt x="6351" y="79"/>
                </a:cubicBezTo>
                <a:cubicBezTo>
                  <a:pt x="6351" y="90"/>
                  <a:pt x="6349" y="101"/>
                  <a:pt x="6345" y="111"/>
                </a:cubicBezTo>
                <a:cubicBezTo>
                  <a:pt x="6341" y="121"/>
                  <a:pt x="6335" y="129"/>
                  <a:pt x="6328" y="137"/>
                </a:cubicBezTo>
                <a:cubicBezTo>
                  <a:pt x="6320" y="144"/>
                  <a:pt x="6312" y="150"/>
                  <a:pt x="6302" y="154"/>
                </a:cubicBezTo>
                <a:cubicBezTo>
                  <a:pt x="6292" y="158"/>
                  <a:pt x="6282" y="160"/>
                  <a:pt x="6272" y="160"/>
                </a:cubicBezTo>
                <a:lnTo>
                  <a:pt x="79" y="160"/>
                </a:lnTo>
                <a:cubicBezTo>
                  <a:pt x="69" y="160"/>
                  <a:pt x="59" y="158"/>
                  <a:pt x="49" y="154"/>
                </a:cubicBezTo>
                <a:cubicBezTo>
                  <a:pt x="39" y="150"/>
                  <a:pt x="31" y="144"/>
                  <a:pt x="23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0"/>
                  <a:pt x="0" y="79"/>
                </a:cubicBez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任意多边形: 形状 65"/>
          <p:cNvSpPr/>
          <p:nvPr/>
        </p:nvSpPr>
        <p:spPr>
          <a:xfrm>
            <a:off x="9239040" y="2609640"/>
            <a:ext cx="324360" cy="57600"/>
          </a:xfrm>
          <a:custGeom>
            <a:avLst/>
            <a:gdLst/>
            <a:ahLst/>
            <a:cxnLst/>
            <a:rect l="0" t="0" r="r" b="b"/>
            <a:pathLst>
              <a:path w="901" h="160">
                <a:moveTo>
                  <a:pt x="0" y="79"/>
                </a:move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820" y="0"/>
                </a:lnTo>
                <a:cubicBezTo>
                  <a:pt x="831" y="0"/>
                  <a:pt x="841" y="2"/>
                  <a:pt x="851" y="6"/>
                </a:cubicBezTo>
                <a:cubicBezTo>
                  <a:pt x="861" y="10"/>
                  <a:pt x="870" y="16"/>
                  <a:pt x="877" y="23"/>
                </a:cubicBezTo>
                <a:cubicBezTo>
                  <a:pt x="885" y="31"/>
                  <a:pt x="891" y="39"/>
                  <a:pt x="895" y="49"/>
                </a:cubicBezTo>
                <a:cubicBezTo>
                  <a:pt x="899" y="59"/>
                  <a:pt x="901" y="69"/>
                  <a:pt x="901" y="79"/>
                </a:cubicBezTo>
                <a:cubicBezTo>
                  <a:pt x="901" y="90"/>
                  <a:pt x="899" y="101"/>
                  <a:pt x="895" y="111"/>
                </a:cubicBezTo>
                <a:cubicBezTo>
                  <a:pt x="891" y="121"/>
                  <a:pt x="885" y="129"/>
                  <a:pt x="877" y="137"/>
                </a:cubicBezTo>
                <a:cubicBezTo>
                  <a:pt x="870" y="144"/>
                  <a:pt x="861" y="150"/>
                  <a:pt x="851" y="154"/>
                </a:cubicBezTo>
                <a:cubicBezTo>
                  <a:pt x="841" y="158"/>
                  <a:pt x="831" y="160"/>
                  <a:pt x="820" y="160"/>
                </a:cubicBezTo>
                <a:lnTo>
                  <a:pt x="79" y="160"/>
                </a:lnTo>
                <a:cubicBezTo>
                  <a:pt x="69" y="160"/>
                  <a:pt x="59" y="158"/>
                  <a:pt x="49" y="154"/>
                </a:cubicBezTo>
                <a:cubicBezTo>
                  <a:pt x="39" y="150"/>
                  <a:pt x="31" y="144"/>
                  <a:pt x="23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0"/>
                  <a:pt x="0" y="79"/>
                </a:cubicBezTo>
                <a:close/>
              </a:path>
            </a:pathLst>
          </a:custGeom>
          <a:solidFill>
            <a:srgbClr val="0052D9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9734400" y="1720440"/>
            <a:ext cx="79992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500" b="0" u="none" strike="noStrike">
                <a:solidFill>
                  <a:srgbClr val="1F2937"/>
                </a:solidFill>
                <a:effectLst/>
                <a:uFillTx/>
                <a:latin typeface="NotoSansSC"/>
                <a:ea typeface="NotoSansSC"/>
              </a:rPr>
              <a:t>工具开发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9239400" y="2180520"/>
            <a:ext cx="566640" cy="39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250" b="0" u="none" strike="noStrike">
                <a:solidFill>
                  <a:srgbClr val="0052D9"/>
                </a:solidFill>
                <a:effectLst/>
                <a:uFillTx/>
                <a:latin typeface="NotoSansSC"/>
                <a:ea typeface="NotoSansSC"/>
              </a:rPr>
              <a:t>14%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任意多边形: 形状 68"/>
          <p:cNvSpPr/>
          <p:nvPr/>
        </p:nvSpPr>
        <p:spPr>
          <a:xfrm>
            <a:off x="9239040" y="2876400"/>
            <a:ext cx="57600" cy="57600"/>
          </a:xfrm>
          <a:custGeom>
            <a:avLst/>
            <a:gdLst/>
            <a:ahLst/>
            <a:cxnLst/>
            <a:rect l="0" t="0" r="r" b="b"/>
            <a:pathLst>
              <a:path w="160" h="160">
                <a:moveTo>
                  <a:pt x="160" y="79"/>
                </a:moveTo>
                <a:cubicBezTo>
                  <a:pt x="160" y="90"/>
                  <a:pt x="158" y="100"/>
                  <a:pt x="154" y="110"/>
                </a:cubicBezTo>
                <a:cubicBezTo>
                  <a:pt x="150" y="119"/>
                  <a:pt x="144" y="128"/>
                  <a:pt x="137" y="135"/>
                </a:cubicBezTo>
                <a:cubicBezTo>
                  <a:pt x="129" y="143"/>
                  <a:pt x="121" y="150"/>
                  <a:pt x="111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60" y="158"/>
                  <a:pt x="50" y="154"/>
                </a:cubicBezTo>
                <a:cubicBezTo>
                  <a:pt x="40" y="150"/>
                  <a:pt x="32" y="143"/>
                  <a:pt x="24" y="135"/>
                </a:cubicBezTo>
                <a:cubicBezTo>
                  <a:pt x="17" y="128"/>
                  <a:pt x="10" y="119"/>
                  <a:pt x="6" y="110"/>
                </a:cubicBezTo>
                <a:cubicBezTo>
                  <a:pt x="2" y="100"/>
                  <a:pt x="0" y="90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7" y="31"/>
                  <a:pt x="24" y="23"/>
                </a:cubicBezTo>
                <a:cubicBezTo>
                  <a:pt x="32" y="16"/>
                  <a:pt x="40" y="10"/>
                  <a:pt x="50" y="6"/>
                </a:cubicBezTo>
                <a:cubicBezTo>
                  <a:pt x="60" y="2"/>
                  <a:pt x="70" y="0"/>
                  <a:pt x="80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0"/>
                  <a:pt x="129" y="16"/>
                  <a:pt x="137" y="23"/>
                </a:cubicBezTo>
                <a:cubicBezTo>
                  <a:pt x="144" y="31"/>
                  <a:pt x="150" y="39"/>
                  <a:pt x="154" y="49"/>
                </a:cubicBezTo>
                <a:cubicBezTo>
                  <a:pt x="158" y="59"/>
                  <a:pt x="160" y="69"/>
                  <a:pt x="160" y="79"/>
                </a:cubicBezTo>
                <a:close/>
              </a:path>
            </a:pathLst>
          </a:custGeom>
          <a:solidFill>
            <a:srgbClr val="0052D9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文本框 69"/>
          <p:cNvSpPr txBox="1"/>
          <p:nvPr/>
        </p:nvSpPr>
        <p:spPr>
          <a:xfrm>
            <a:off x="9934560" y="2343600"/>
            <a:ext cx="349920" cy="19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6B7280"/>
                </a:solidFill>
                <a:effectLst/>
                <a:uFillTx/>
                <a:latin typeface="NotoSansSC"/>
                <a:ea typeface="NotoSansSC"/>
              </a:rPr>
              <a:t>/ 9</a:t>
            </a:r>
            <a:r>
              <a:rPr lang="zh-CN" sz="1050" b="0" u="none" strike="noStrike">
                <a:solidFill>
                  <a:srgbClr val="6B7280"/>
                </a:solidFill>
                <a:effectLst/>
                <a:uFillTx/>
                <a:latin typeface="NotoSansSC"/>
                <a:ea typeface="NotoSansSC"/>
              </a:rPr>
              <a:t>项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任意多边形: 形状 70"/>
          <p:cNvSpPr/>
          <p:nvPr/>
        </p:nvSpPr>
        <p:spPr>
          <a:xfrm>
            <a:off x="9239040" y="3181320"/>
            <a:ext cx="57600" cy="57240"/>
          </a:xfrm>
          <a:custGeom>
            <a:avLst/>
            <a:gdLst/>
            <a:ahLst/>
            <a:cxnLst/>
            <a:rect l="0" t="0" r="r" b="b"/>
            <a:pathLst>
              <a:path w="160" h="159">
                <a:moveTo>
                  <a:pt x="160" y="79"/>
                </a:moveTo>
                <a:cubicBezTo>
                  <a:pt x="160" y="89"/>
                  <a:pt x="158" y="101"/>
                  <a:pt x="154" y="110"/>
                </a:cubicBezTo>
                <a:cubicBezTo>
                  <a:pt x="150" y="120"/>
                  <a:pt x="144" y="129"/>
                  <a:pt x="137" y="136"/>
                </a:cubicBezTo>
                <a:cubicBezTo>
                  <a:pt x="129" y="144"/>
                  <a:pt x="121" y="149"/>
                  <a:pt x="111" y="153"/>
                </a:cubicBezTo>
                <a:cubicBezTo>
                  <a:pt x="101" y="157"/>
                  <a:pt x="91" y="159"/>
                  <a:pt x="80" y="159"/>
                </a:cubicBezTo>
                <a:cubicBezTo>
                  <a:pt x="70" y="159"/>
                  <a:pt x="60" y="157"/>
                  <a:pt x="50" y="153"/>
                </a:cubicBezTo>
                <a:cubicBezTo>
                  <a:pt x="40" y="149"/>
                  <a:pt x="32" y="144"/>
                  <a:pt x="24" y="136"/>
                </a:cubicBezTo>
                <a:cubicBezTo>
                  <a:pt x="17" y="129"/>
                  <a:pt x="10" y="120"/>
                  <a:pt x="6" y="110"/>
                </a:cubicBezTo>
                <a:cubicBezTo>
                  <a:pt x="2" y="101"/>
                  <a:pt x="0" y="89"/>
                  <a:pt x="0" y="79"/>
                </a:cubicBezTo>
                <a:cubicBezTo>
                  <a:pt x="0" y="68"/>
                  <a:pt x="2" y="58"/>
                  <a:pt x="6" y="49"/>
                </a:cubicBezTo>
                <a:cubicBezTo>
                  <a:pt x="10" y="39"/>
                  <a:pt x="17" y="30"/>
                  <a:pt x="24" y="23"/>
                </a:cubicBezTo>
                <a:cubicBezTo>
                  <a:pt x="32" y="15"/>
                  <a:pt x="40" y="10"/>
                  <a:pt x="50" y="6"/>
                </a:cubicBezTo>
                <a:cubicBezTo>
                  <a:pt x="60" y="2"/>
                  <a:pt x="70" y="0"/>
                  <a:pt x="80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0"/>
                  <a:pt x="129" y="15"/>
                  <a:pt x="137" y="23"/>
                </a:cubicBezTo>
                <a:cubicBezTo>
                  <a:pt x="144" y="30"/>
                  <a:pt x="150" y="39"/>
                  <a:pt x="154" y="49"/>
                </a:cubicBezTo>
                <a:cubicBezTo>
                  <a:pt x="158" y="58"/>
                  <a:pt x="160" y="68"/>
                  <a:pt x="160" y="79"/>
                </a:cubicBezTo>
                <a:close/>
              </a:path>
            </a:pathLst>
          </a:custGeom>
          <a:solidFill>
            <a:srgbClr val="0052D9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文本框 71"/>
          <p:cNvSpPr txBox="1"/>
          <p:nvPr/>
        </p:nvSpPr>
        <p:spPr>
          <a:xfrm>
            <a:off x="9372600" y="2829240"/>
            <a:ext cx="1260000" cy="19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NotoSansSC"/>
                <a:ea typeface="NotoSansSC"/>
              </a:rPr>
              <a:t>Able </a:t>
            </a:r>
            <a:r>
              <a:rPr lang="zh-CN" sz="1050" b="0" u="none" strike="noStrike">
                <a:solidFill>
                  <a:srgbClr val="4B5563"/>
                </a:solidFill>
                <a:effectLst/>
                <a:uFillTx/>
                <a:latin typeface="NotoSansSC"/>
                <a:ea typeface="NotoSansSC"/>
              </a:rPr>
              <a:t>编辑器 </a:t>
            </a:r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NotoSansSC"/>
                <a:ea typeface="NotoSansSC"/>
              </a:rPr>
              <a:t>ECA </a:t>
            </a:r>
            <a:r>
              <a:rPr lang="zh-CN" sz="1050" b="0" u="none" strike="noStrike">
                <a:solidFill>
                  <a:srgbClr val="4B5563"/>
                </a:solidFill>
                <a:effectLst/>
                <a:uFillTx/>
                <a:latin typeface="NotoSansSC"/>
                <a:ea typeface="NotoSansSC"/>
              </a:rPr>
              <a:t>化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文本框 72"/>
          <p:cNvSpPr txBox="1"/>
          <p:nvPr/>
        </p:nvSpPr>
        <p:spPr>
          <a:xfrm>
            <a:off x="9372601" y="3134160"/>
            <a:ext cx="2152800" cy="32316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lstStyle/>
          <a:p>
            <a:r>
              <a:rPr lang="zh-CN" sz="1050" b="0" u="none" strike="noStrike" dirty="0">
                <a:solidFill>
                  <a:srgbClr val="4B5563"/>
                </a:solidFill>
                <a:effectLst/>
                <a:uFillTx/>
                <a:latin typeface="NotoSansSC"/>
                <a:ea typeface="NotoSansSC"/>
              </a:rPr>
              <a:t>地图生成器开发 </a:t>
            </a:r>
            <a:r>
              <a:rPr lang="en-US" sz="1050" b="0" u="none" strike="noStrike" dirty="0">
                <a:solidFill>
                  <a:srgbClr val="4B5563"/>
                </a:solidFill>
                <a:effectLst/>
                <a:uFillTx/>
                <a:latin typeface="NotoSansSC"/>
                <a:ea typeface="NotoSansSC"/>
              </a:rPr>
              <a:t>(</a:t>
            </a:r>
            <a:r>
              <a:rPr lang="zh-CN" altLang="en-US" sz="1050" b="0" u="none" strike="noStrike" dirty="0">
                <a:solidFill>
                  <a:srgbClr val="4B5563"/>
                </a:solidFill>
                <a:effectLst/>
                <a:uFillTx/>
                <a:latin typeface="NotoSansSC"/>
                <a:ea typeface="NotoSansSC"/>
              </a:rPr>
              <a:t>连通率拓展、</a:t>
            </a:r>
            <a:r>
              <a:rPr lang="en-US" sz="1050" b="0" u="none" strike="noStrike" dirty="0">
                <a:solidFill>
                  <a:srgbClr val="4B5563"/>
                </a:solidFill>
                <a:effectLst/>
                <a:uFillTx/>
                <a:latin typeface="NotoSansSC"/>
                <a:ea typeface="NotoSansSC"/>
              </a:rPr>
              <a:t>Debug</a:t>
            </a:r>
            <a:r>
              <a:rPr lang="zh-CN" sz="1050" b="0" u="none" strike="noStrike" dirty="0">
                <a:solidFill>
                  <a:srgbClr val="4B5563"/>
                </a:solidFill>
                <a:effectLst/>
                <a:uFillTx/>
                <a:latin typeface="NotoSansSC"/>
                <a:ea typeface="NotoSansSC"/>
              </a:rPr>
              <a:t>模块、</a:t>
            </a:r>
            <a:r>
              <a:rPr lang="en-US" sz="1050" b="0" u="none" strike="noStrike" dirty="0">
                <a:solidFill>
                  <a:srgbClr val="4B5563"/>
                </a:solidFill>
                <a:effectLst/>
                <a:uFillTx/>
                <a:latin typeface="NotoSansSC"/>
                <a:ea typeface="NotoSansSC"/>
              </a:rPr>
              <a:t>UI</a:t>
            </a:r>
            <a:r>
              <a:rPr lang="zh-CN" sz="1050" b="0" u="none" strike="noStrike" dirty="0">
                <a:solidFill>
                  <a:srgbClr val="4B5563"/>
                </a:solidFill>
                <a:effectLst/>
                <a:uFillTx/>
                <a:latin typeface="NotoSansSC"/>
                <a:ea typeface="NotoSansSC"/>
              </a:rPr>
              <a:t>美</a:t>
            </a:r>
            <a:r>
              <a:rPr lang="zh-CN" altLang="en-US" sz="1050" b="0" u="none" strike="noStrike" dirty="0">
                <a:solidFill>
                  <a:srgbClr val="4B5563"/>
                </a:solidFill>
                <a:effectLst/>
                <a:uFillTx/>
                <a:latin typeface="NotoSansSC"/>
                <a:ea typeface="NotoSansSC"/>
              </a:rPr>
              <a:t>化）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74" name="图片 73"/>
          <p:cNvPicPr/>
          <p:nvPr/>
        </p:nvPicPr>
        <p:blipFill>
          <a:blip r:embed="rId11"/>
          <a:stretch/>
        </p:blipFill>
        <p:spPr>
          <a:xfrm>
            <a:off x="476280" y="5734080"/>
            <a:ext cx="11239200" cy="742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" name="任意多边形: 形状 75"/>
          <p:cNvSpPr/>
          <p:nvPr/>
        </p:nvSpPr>
        <p:spPr>
          <a:xfrm>
            <a:off x="2124000" y="5952960"/>
            <a:ext cx="76320" cy="76680"/>
          </a:xfrm>
          <a:custGeom>
            <a:avLst/>
            <a:gdLst/>
            <a:ahLst/>
            <a:cxnLst/>
            <a:rect l="0" t="0" r="r" b="b"/>
            <a:pathLst>
              <a:path w="212" h="213" fill="none">
                <a:moveTo>
                  <a:pt x="106" y="0"/>
                </a:moveTo>
                <a:lnTo>
                  <a:pt x="106" y="107"/>
                </a:lnTo>
                <a:moveTo>
                  <a:pt x="106" y="107"/>
                </a:moveTo>
                <a:lnTo>
                  <a:pt x="106" y="213"/>
                </a:lnTo>
                <a:moveTo>
                  <a:pt x="106" y="107"/>
                </a:moveTo>
                <a:lnTo>
                  <a:pt x="212" y="107"/>
                </a:lnTo>
                <a:moveTo>
                  <a:pt x="106" y="107"/>
                </a:moveTo>
                <a:lnTo>
                  <a:pt x="0" y="107"/>
                </a:lnTo>
              </a:path>
            </a:pathLst>
          </a:custGeom>
          <a:ln w="12600" cap="rnd">
            <a:solidFill>
              <a:srgbClr val="0052D9"/>
            </a:solidFill>
            <a:round/>
          </a:ln>
        </p:spPr>
        <p:txBody>
          <a:bodyPr lIns="6120" tIns="6120" rIns="6120" bIns="612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638280" y="6029640"/>
            <a:ext cx="839880" cy="19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6B7280"/>
                </a:solidFill>
                <a:effectLst/>
                <a:uFillTx/>
                <a:latin typeface="NotoSansSC"/>
                <a:ea typeface="NotoSansSC"/>
              </a:rPr>
              <a:t>工作类型分布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任意多边形: 形状 77"/>
          <p:cNvSpPr/>
          <p:nvPr/>
        </p:nvSpPr>
        <p:spPr>
          <a:xfrm>
            <a:off x="10105920" y="5933880"/>
            <a:ext cx="114480" cy="114840"/>
          </a:xfrm>
          <a:custGeom>
            <a:avLst/>
            <a:gdLst/>
            <a:ahLst/>
            <a:cxnLst/>
            <a:rect l="0" t="0" r="r" b="b"/>
            <a:pathLst>
              <a:path w="318" h="319" fill="none">
                <a:moveTo>
                  <a:pt x="159" y="88"/>
                </a:moveTo>
                <a:lnTo>
                  <a:pt x="159" y="159"/>
                </a:lnTo>
                <a:moveTo>
                  <a:pt x="159" y="230"/>
                </a:moveTo>
                <a:moveTo>
                  <a:pt x="318" y="159"/>
                </a:moveTo>
                <a:cubicBezTo>
                  <a:pt x="318" y="170"/>
                  <a:pt x="317" y="181"/>
                  <a:pt x="315" y="191"/>
                </a:cubicBezTo>
                <a:cubicBezTo>
                  <a:pt x="313" y="201"/>
                  <a:pt x="310" y="211"/>
                  <a:pt x="306" y="221"/>
                </a:cubicBezTo>
                <a:cubicBezTo>
                  <a:pt x="302" y="230"/>
                  <a:pt x="296" y="239"/>
                  <a:pt x="291" y="248"/>
                </a:cubicBezTo>
                <a:cubicBezTo>
                  <a:pt x="285" y="257"/>
                  <a:pt x="278" y="265"/>
                  <a:pt x="271" y="272"/>
                </a:cubicBezTo>
                <a:cubicBezTo>
                  <a:pt x="263" y="279"/>
                  <a:pt x="255" y="286"/>
                  <a:pt x="247" y="292"/>
                </a:cubicBezTo>
                <a:cubicBezTo>
                  <a:pt x="238" y="298"/>
                  <a:pt x="229" y="303"/>
                  <a:pt x="219" y="307"/>
                </a:cubicBezTo>
                <a:cubicBezTo>
                  <a:pt x="210" y="310"/>
                  <a:pt x="200" y="314"/>
                  <a:pt x="190" y="316"/>
                </a:cubicBezTo>
                <a:cubicBezTo>
                  <a:pt x="179" y="318"/>
                  <a:pt x="169" y="319"/>
                  <a:pt x="159" y="319"/>
                </a:cubicBezTo>
                <a:cubicBezTo>
                  <a:pt x="148" y="319"/>
                  <a:pt x="138" y="318"/>
                  <a:pt x="128" y="316"/>
                </a:cubicBezTo>
                <a:cubicBezTo>
                  <a:pt x="117" y="314"/>
                  <a:pt x="107" y="310"/>
                  <a:pt x="98" y="307"/>
                </a:cubicBezTo>
                <a:cubicBezTo>
                  <a:pt x="88" y="303"/>
                  <a:pt x="79" y="298"/>
                  <a:pt x="70" y="292"/>
                </a:cubicBezTo>
                <a:cubicBezTo>
                  <a:pt x="62" y="286"/>
                  <a:pt x="54" y="279"/>
                  <a:pt x="46" y="272"/>
                </a:cubicBezTo>
                <a:cubicBezTo>
                  <a:pt x="39" y="265"/>
                  <a:pt x="32" y="257"/>
                  <a:pt x="27" y="248"/>
                </a:cubicBezTo>
                <a:cubicBezTo>
                  <a:pt x="21" y="239"/>
                  <a:pt x="16" y="230"/>
                  <a:pt x="12" y="221"/>
                </a:cubicBezTo>
                <a:cubicBezTo>
                  <a:pt x="8" y="211"/>
                  <a:pt x="5" y="201"/>
                  <a:pt x="3" y="191"/>
                </a:cubicBezTo>
                <a:cubicBezTo>
                  <a:pt x="1" y="181"/>
                  <a:pt x="0" y="170"/>
                  <a:pt x="0" y="159"/>
                </a:cubicBez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7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4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cubicBezTo>
                  <a:pt x="169" y="0"/>
                  <a:pt x="179" y="1"/>
                  <a:pt x="190" y="3"/>
                </a:cubicBezTo>
                <a:cubicBezTo>
                  <a:pt x="200" y="5"/>
                  <a:pt x="210" y="8"/>
                  <a:pt x="219" y="12"/>
                </a:cubicBezTo>
                <a:cubicBezTo>
                  <a:pt x="229" y="16"/>
                  <a:pt x="238" y="21"/>
                  <a:pt x="247" y="27"/>
                </a:cubicBezTo>
                <a:cubicBezTo>
                  <a:pt x="255" y="33"/>
                  <a:pt x="263" y="39"/>
                  <a:pt x="271" y="47"/>
                </a:cubicBezTo>
                <a:cubicBezTo>
                  <a:pt x="278" y="54"/>
                  <a:pt x="285" y="62"/>
                  <a:pt x="291" y="71"/>
                </a:cubicBezTo>
                <a:cubicBezTo>
                  <a:pt x="296" y="79"/>
                  <a:pt x="302" y="88"/>
                  <a:pt x="306" y="98"/>
                </a:cubicBezTo>
                <a:cubicBezTo>
                  <a:pt x="310" y="108"/>
                  <a:pt x="313" y="118"/>
                  <a:pt x="315" y="128"/>
                </a:cubicBezTo>
                <a:cubicBezTo>
                  <a:pt x="317" y="138"/>
                  <a:pt x="318" y="148"/>
                  <a:pt x="318" y="159"/>
                </a:cubicBezTo>
              </a:path>
            </a:pathLst>
          </a:custGeom>
          <a:ln w="12600" cap="rnd">
            <a:solidFill>
              <a:srgbClr val="F97316"/>
            </a:solidFill>
            <a:round/>
          </a:ln>
        </p:spPr>
        <p:txBody>
          <a:bodyPr lIns="6120" tIns="6120" rIns="6120" bIns="612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文本框 78"/>
          <p:cNvSpPr txBox="1"/>
          <p:nvPr/>
        </p:nvSpPr>
        <p:spPr>
          <a:xfrm>
            <a:off x="2314440" y="5905800"/>
            <a:ext cx="1330200" cy="19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0052D9"/>
                </a:solidFill>
                <a:effectLst/>
                <a:uFillTx/>
                <a:latin typeface="NotoSansSC"/>
                <a:ea typeface="NotoSansSC"/>
              </a:rPr>
              <a:t>功能开发 </a:t>
            </a:r>
            <a:r>
              <a:rPr lang="en-US" sz="1050" b="0" u="none" strike="noStrike">
                <a:solidFill>
                  <a:srgbClr val="0052D9"/>
                </a:solidFill>
                <a:effectLst/>
                <a:uFillTx/>
                <a:latin typeface="NotoSansSC"/>
                <a:ea typeface="NotoSansSC"/>
              </a:rPr>
              <a:t>47</a:t>
            </a:r>
            <a:r>
              <a:rPr lang="zh-CN" sz="1050" b="0" u="none" strike="noStrike">
                <a:solidFill>
                  <a:srgbClr val="0052D9"/>
                </a:solidFill>
                <a:effectLst/>
                <a:uFillTx/>
                <a:latin typeface="NotoSansSC"/>
                <a:ea typeface="NotoSansSC"/>
              </a:rPr>
              <a:t>项 </a:t>
            </a:r>
            <a:r>
              <a:rPr lang="en-US" sz="1050" b="0" u="none" strike="noStrike">
                <a:solidFill>
                  <a:srgbClr val="0052D9"/>
                </a:solidFill>
                <a:effectLst/>
                <a:uFillTx/>
                <a:latin typeface="NotoSansSC"/>
                <a:ea typeface="NotoSansSC"/>
              </a:rPr>
              <a:t>(75%)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任意多边形: 形状 79"/>
          <p:cNvSpPr/>
          <p:nvPr/>
        </p:nvSpPr>
        <p:spPr>
          <a:xfrm>
            <a:off x="2085840" y="6162480"/>
            <a:ext cx="9468000" cy="152640"/>
          </a:xfrm>
          <a:custGeom>
            <a:avLst/>
            <a:gdLst/>
            <a:ahLst/>
            <a:cxnLst/>
            <a:rect l="0" t="0" r="r" b="b"/>
            <a:pathLst>
              <a:path w="26300" h="424">
                <a:moveTo>
                  <a:pt x="0" y="213"/>
                </a:moveTo>
                <a:cubicBezTo>
                  <a:pt x="0" y="199"/>
                  <a:pt x="1" y="185"/>
                  <a:pt x="4" y="171"/>
                </a:cubicBezTo>
                <a:cubicBezTo>
                  <a:pt x="7" y="158"/>
                  <a:pt x="11" y="145"/>
                  <a:pt x="16" y="132"/>
                </a:cubicBezTo>
                <a:cubicBezTo>
                  <a:pt x="21" y="119"/>
                  <a:pt x="28" y="107"/>
                  <a:pt x="36" y="95"/>
                </a:cubicBezTo>
                <a:cubicBezTo>
                  <a:pt x="43" y="84"/>
                  <a:pt x="52" y="73"/>
                  <a:pt x="62" y="63"/>
                </a:cubicBezTo>
                <a:cubicBezTo>
                  <a:pt x="72" y="53"/>
                  <a:pt x="82" y="44"/>
                  <a:pt x="94" y="37"/>
                </a:cubicBezTo>
                <a:cubicBezTo>
                  <a:pt x="106" y="29"/>
                  <a:pt x="118" y="22"/>
                  <a:pt x="131" y="17"/>
                </a:cubicBezTo>
                <a:cubicBezTo>
                  <a:pt x="143" y="11"/>
                  <a:pt x="157" y="7"/>
                  <a:pt x="170" y="4"/>
                </a:cubicBezTo>
                <a:cubicBezTo>
                  <a:pt x="184" y="1"/>
                  <a:pt x="198" y="0"/>
                  <a:pt x="212" y="0"/>
                </a:cubicBezTo>
                <a:lnTo>
                  <a:pt x="26089" y="0"/>
                </a:lnTo>
                <a:cubicBezTo>
                  <a:pt x="26103" y="0"/>
                  <a:pt x="26116" y="1"/>
                  <a:pt x="26130" y="4"/>
                </a:cubicBezTo>
                <a:cubicBezTo>
                  <a:pt x="26144" y="7"/>
                  <a:pt x="26157" y="11"/>
                  <a:pt x="26170" y="17"/>
                </a:cubicBezTo>
                <a:cubicBezTo>
                  <a:pt x="26183" y="22"/>
                  <a:pt x="26195" y="29"/>
                  <a:pt x="26206" y="37"/>
                </a:cubicBezTo>
                <a:cubicBezTo>
                  <a:pt x="26218" y="44"/>
                  <a:pt x="26229" y="53"/>
                  <a:pt x="26238" y="63"/>
                </a:cubicBezTo>
                <a:cubicBezTo>
                  <a:pt x="26248" y="73"/>
                  <a:pt x="26257" y="84"/>
                  <a:pt x="26265" y="95"/>
                </a:cubicBezTo>
                <a:cubicBezTo>
                  <a:pt x="26273" y="107"/>
                  <a:pt x="26279" y="119"/>
                  <a:pt x="26284" y="132"/>
                </a:cubicBezTo>
                <a:cubicBezTo>
                  <a:pt x="26290" y="145"/>
                  <a:pt x="26294" y="158"/>
                  <a:pt x="26296" y="171"/>
                </a:cubicBezTo>
                <a:cubicBezTo>
                  <a:pt x="26299" y="185"/>
                  <a:pt x="26300" y="199"/>
                  <a:pt x="26300" y="213"/>
                </a:cubicBezTo>
                <a:cubicBezTo>
                  <a:pt x="26300" y="227"/>
                  <a:pt x="26299" y="240"/>
                  <a:pt x="26296" y="254"/>
                </a:cubicBezTo>
                <a:cubicBezTo>
                  <a:pt x="26294" y="268"/>
                  <a:pt x="26290" y="281"/>
                  <a:pt x="26284" y="294"/>
                </a:cubicBezTo>
                <a:cubicBezTo>
                  <a:pt x="26279" y="307"/>
                  <a:pt x="26273" y="319"/>
                  <a:pt x="26265" y="330"/>
                </a:cubicBezTo>
                <a:cubicBezTo>
                  <a:pt x="26257" y="342"/>
                  <a:pt x="26248" y="353"/>
                  <a:pt x="26238" y="362"/>
                </a:cubicBezTo>
                <a:cubicBezTo>
                  <a:pt x="26229" y="372"/>
                  <a:pt x="26218" y="381"/>
                  <a:pt x="26206" y="389"/>
                </a:cubicBezTo>
                <a:cubicBezTo>
                  <a:pt x="26195" y="396"/>
                  <a:pt x="26183" y="403"/>
                  <a:pt x="26170" y="408"/>
                </a:cubicBezTo>
                <a:cubicBezTo>
                  <a:pt x="26157" y="414"/>
                  <a:pt x="26144" y="418"/>
                  <a:pt x="26130" y="420"/>
                </a:cubicBezTo>
                <a:cubicBezTo>
                  <a:pt x="26116" y="423"/>
                  <a:pt x="26103" y="424"/>
                  <a:pt x="26089" y="424"/>
                </a:cubicBezTo>
                <a:lnTo>
                  <a:pt x="212" y="424"/>
                </a:lnTo>
                <a:cubicBezTo>
                  <a:pt x="198" y="424"/>
                  <a:pt x="184" y="423"/>
                  <a:pt x="170" y="420"/>
                </a:cubicBezTo>
                <a:cubicBezTo>
                  <a:pt x="157" y="418"/>
                  <a:pt x="143" y="414"/>
                  <a:pt x="131" y="408"/>
                </a:cubicBezTo>
                <a:cubicBezTo>
                  <a:pt x="118" y="403"/>
                  <a:pt x="106" y="396"/>
                  <a:pt x="94" y="389"/>
                </a:cubicBezTo>
                <a:cubicBezTo>
                  <a:pt x="82" y="381"/>
                  <a:pt x="72" y="372"/>
                  <a:pt x="62" y="362"/>
                </a:cubicBezTo>
                <a:cubicBezTo>
                  <a:pt x="52" y="353"/>
                  <a:pt x="43" y="342"/>
                  <a:pt x="36" y="330"/>
                </a:cubicBezTo>
                <a:cubicBezTo>
                  <a:pt x="28" y="319"/>
                  <a:pt x="21" y="307"/>
                  <a:pt x="16" y="294"/>
                </a:cubicBezTo>
                <a:cubicBezTo>
                  <a:pt x="11" y="281"/>
                  <a:pt x="7" y="268"/>
                  <a:pt x="4" y="254"/>
                </a:cubicBezTo>
                <a:cubicBezTo>
                  <a:pt x="1" y="240"/>
                  <a:pt x="0" y="227"/>
                  <a:pt x="0" y="213"/>
                </a:cubicBez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任意多边形: 形状 80"/>
          <p:cNvSpPr/>
          <p:nvPr/>
        </p:nvSpPr>
        <p:spPr>
          <a:xfrm>
            <a:off x="2085840" y="6162480"/>
            <a:ext cx="7106040" cy="152640"/>
          </a:xfrm>
          <a:custGeom>
            <a:avLst/>
            <a:gdLst/>
            <a:ahLst/>
            <a:cxnLst/>
            <a:rect l="0" t="0" r="r" b="b"/>
            <a:pathLst>
              <a:path w="19739" h="424">
                <a:moveTo>
                  <a:pt x="16" y="132"/>
                </a:moveTo>
                <a:cubicBezTo>
                  <a:pt x="27" y="106"/>
                  <a:pt x="42" y="83"/>
                  <a:pt x="62" y="63"/>
                </a:cubicBezTo>
                <a:cubicBezTo>
                  <a:pt x="82" y="43"/>
                  <a:pt x="105" y="28"/>
                  <a:pt x="131" y="17"/>
                </a:cubicBezTo>
                <a:cubicBezTo>
                  <a:pt x="156" y="5"/>
                  <a:pt x="183" y="0"/>
                  <a:pt x="212" y="0"/>
                </a:cubicBezTo>
                <a:lnTo>
                  <a:pt x="19739" y="0"/>
                </a:lnTo>
                <a:lnTo>
                  <a:pt x="19739" y="424"/>
                </a:lnTo>
                <a:lnTo>
                  <a:pt x="212" y="424"/>
                </a:lnTo>
                <a:cubicBezTo>
                  <a:pt x="183" y="424"/>
                  <a:pt x="156" y="419"/>
                  <a:pt x="131" y="408"/>
                </a:cubicBezTo>
                <a:cubicBezTo>
                  <a:pt x="105" y="398"/>
                  <a:pt x="82" y="382"/>
                  <a:pt x="62" y="362"/>
                </a:cubicBezTo>
                <a:cubicBezTo>
                  <a:pt x="42" y="343"/>
                  <a:pt x="27" y="320"/>
                  <a:pt x="16" y="294"/>
                </a:cubicBezTo>
                <a:cubicBezTo>
                  <a:pt x="5" y="268"/>
                  <a:pt x="0" y="241"/>
                  <a:pt x="0" y="213"/>
                </a:cubicBezTo>
                <a:cubicBezTo>
                  <a:pt x="0" y="185"/>
                  <a:pt x="5" y="158"/>
                  <a:pt x="16" y="132"/>
                </a:cubicBezTo>
                <a:close/>
              </a:path>
            </a:pathLst>
          </a:custGeom>
          <a:solidFill>
            <a:srgbClr val="0052D9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82" name="图片 81"/>
          <p:cNvPicPr/>
          <p:nvPr/>
        </p:nvPicPr>
        <p:blipFill>
          <a:blip r:embed="rId12"/>
          <a:stretch/>
        </p:blipFill>
        <p:spPr>
          <a:xfrm>
            <a:off x="2085840" y="6162840"/>
            <a:ext cx="7105320" cy="151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3" name="任意多边形: 形状 82"/>
          <p:cNvSpPr/>
          <p:nvPr/>
        </p:nvSpPr>
        <p:spPr>
          <a:xfrm>
            <a:off x="9191520" y="6162480"/>
            <a:ext cx="2362320" cy="152640"/>
          </a:xfrm>
          <a:custGeom>
            <a:avLst/>
            <a:gdLst/>
            <a:ahLst/>
            <a:cxnLst/>
            <a:rect l="0" t="0" r="r" b="b"/>
            <a:pathLst>
              <a:path w="6562" h="424">
                <a:moveTo>
                  <a:pt x="6432" y="17"/>
                </a:moveTo>
                <a:cubicBezTo>
                  <a:pt x="6458" y="28"/>
                  <a:pt x="6481" y="43"/>
                  <a:pt x="6500" y="63"/>
                </a:cubicBezTo>
                <a:cubicBezTo>
                  <a:pt x="6520" y="83"/>
                  <a:pt x="6536" y="106"/>
                  <a:pt x="6546" y="132"/>
                </a:cubicBezTo>
                <a:cubicBezTo>
                  <a:pt x="6557" y="158"/>
                  <a:pt x="6562" y="185"/>
                  <a:pt x="6562" y="213"/>
                </a:cubicBezTo>
                <a:cubicBezTo>
                  <a:pt x="6562" y="241"/>
                  <a:pt x="6557" y="268"/>
                  <a:pt x="6546" y="294"/>
                </a:cubicBezTo>
                <a:cubicBezTo>
                  <a:pt x="6536" y="320"/>
                  <a:pt x="6520" y="343"/>
                  <a:pt x="6500" y="362"/>
                </a:cubicBezTo>
                <a:cubicBezTo>
                  <a:pt x="6481" y="382"/>
                  <a:pt x="6458" y="398"/>
                  <a:pt x="6432" y="408"/>
                </a:cubicBezTo>
                <a:cubicBezTo>
                  <a:pt x="6406" y="419"/>
                  <a:pt x="6379" y="424"/>
                  <a:pt x="6351" y="424"/>
                </a:cubicBezTo>
                <a:lnTo>
                  <a:pt x="0" y="424"/>
                </a:lnTo>
                <a:lnTo>
                  <a:pt x="0" y="0"/>
                </a:lnTo>
                <a:lnTo>
                  <a:pt x="6351" y="0"/>
                </a:lnTo>
                <a:cubicBezTo>
                  <a:pt x="6379" y="0"/>
                  <a:pt x="6406" y="5"/>
                  <a:pt x="6432" y="17"/>
                </a:cubicBezTo>
                <a:close/>
              </a:path>
            </a:pathLst>
          </a:custGeom>
          <a:solidFill>
            <a:srgbClr val="FB923C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84" name="图片 83"/>
          <p:cNvPicPr/>
          <p:nvPr/>
        </p:nvPicPr>
        <p:blipFill>
          <a:blip r:embed="rId13"/>
          <a:stretch/>
        </p:blipFill>
        <p:spPr>
          <a:xfrm>
            <a:off x="9191520" y="6162840"/>
            <a:ext cx="2361960" cy="151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5" name="文本框 84"/>
          <p:cNvSpPr txBox="1"/>
          <p:nvPr/>
        </p:nvSpPr>
        <p:spPr>
          <a:xfrm>
            <a:off x="10315440" y="5905800"/>
            <a:ext cx="1348920" cy="19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F97316"/>
                </a:solidFill>
                <a:effectLst/>
                <a:uFillTx/>
                <a:latin typeface="NotoSansSC"/>
                <a:ea typeface="NotoSansSC"/>
              </a:rPr>
              <a:t>Bug</a:t>
            </a:r>
            <a:r>
              <a:rPr lang="zh-CN" sz="1050" b="0" u="none" strike="noStrike">
                <a:solidFill>
                  <a:srgbClr val="F97316"/>
                </a:solidFill>
                <a:effectLst/>
                <a:uFillTx/>
                <a:latin typeface="NotoSansSC"/>
                <a:ea typeface="NotoSansSC"/>
              </a:rPr>
              <a:t>修复 </a:t>
            </a:r>
            <a:r>
              <a:rPr lang="en-US" sz="1050" b="0" u="none" strike="noStrike">
                <a:solidFill>
                  <a:srgbClr val="F97316"/>
                </a:solidFill>
                <a:effectLst/>
                <a:uFillTx/>
                <a:latin typeface="NotoSansSC"/>
                <a:ea typeface="NotoSansSC"/>
              </a:rPr>
              <a:t>16</a:t>
            </a:r>
            <a:r>
              <a:rPr lang="zh-CN" sz="1050" b="0" u="none" strike="noStrike">
                <a:solidFill>
                  <a:srgbClr val="F97316"/>
                </a:solidFill>
                <a:effectLst/>
                <a:uFillTx/>
                <a:latin typeface="NotoSansSC"/>
                <a:ea typeface="NotoSansSC"/>
              </a:rPr>
              <a:t>项 </a:t>
            </a:r>
            <a:r>
              <a:rPr lang="en-US" sz="1050" b="0" u="none" strike="noStrike">
                <a:solidFill>
                  <a:srgbClr val="F97316"/>
                </a:solidFill>
                <a:effectLst/>
                <a:uFillTx/>
                <a:latin typeface="NotoSansSC"/>
                <a:ea typeface="NotoSansSC"/>
              </a:rPr>
              <a:t>(25%)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任意多边形: 形状 42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429" name="图片 428"/>
          <p:cNvPicPr/>
          <p:nvPr/>
        </p:nvPicPr>
        <p:blipFill>
          <a:blip r:embed="rId2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30" name="图片 429"/>
          <p:cNvPicPr/>
          <p:nvPr/>
        </p:nvPicPr>
        <p:blipFill>
          <a:blip r:embed="rId3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31" name="图片 430"/>
          <p:cNvPicPr/>
          <p:nvPr/>
        </p:nvPicPr>
        <p:blipFill>
          <a:blip r:embed="rId4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32" name="图片 431"/>
          <p:cNvPicPr/>
          <p:nvPr/>
        </p:nvPicPr>
        <p:blipFill>
          <a:blip r:embed="rId5"/>
          <a:stretch/>
        </p:blipFill>
        <p:spPr>
          <a:xfrm>
            <a:off x="380880" y="380880"/>
            <a:ext cx="1218960" cy="1218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33" name="图片 432"/>
          <p:cNvPicPr/>
          <p:nvPr/>
        </p:nvPicPr>
        <p:blipFill>
          <a:blip r:embed="rId5"/>
          <a:stretch/>
        </p:blipFill>
        <p:spPr>
          <a:xfrm rot="10800000">
            <a:off x="10591920" y="5258160"/>
            <a:ext cx="1218960" cy="1218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34" name="图片 433"/>
          <p:cNvPicPr/>
          <p:nvPr/>
        </p:nvPicPr>
        <p:blipFill>
          <a:blip r:embed="rId6"/>
          <a:stretch/>
        </p:blipFill>
        <p:spPr>
          <a:xfrm>
            <a:off x="0" y="6781680"/>
            <a:ext cx="12191760" cy="75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5" name="任意多边形: 形状 434"/>
          <p:cNvSpPr/>
          <p:nvPr/>
        </p:nvSpPr>
        <p:spPr>
          <a:xfrm>
            <a:off x="5867280" y="1380960"/>
            <a:ext cx="457560" cy="457560"/>
          </a:xfrm>
          <a:custGeom>
            <a:avLst/>
            <a:gdLst/>
            <a:ahLst/>
            <a:cxnLst/>
            <a:rect l="0" t="0" r="r" b="b"/>
            <a:pathLst>
              <a:path w="1271" h="1271" fill="none">
                <a:moveTo>
                  <a:pt x="1271" y="600"/>
                </a:moveTo>
                <a:cubicBezTo>
                  <a:pt x="1271" y="695"/>
                  <a:pt x="1250" y="784"/>
                  <a:pt x="1207" y="869"/>
                </a:cubicBezTo>
                <a:cubicBezTo>
                  <a:pt x="1182" y="919"/>
                  <a:pt x="1151" y="964"/>
                  <a:pt x="1114" y="1005"/>
                </a:cubicBezTo>
                <a:cubicBezTo>
                  <a:pt x="1076" y="1046"/>
                  <a:pt x="1034" y="1081"/>
                  <a:pt x="986" y="1111"/>
                </a:cubicBezTo>
                <a:cubicBezTo>
                  <a:pt x="939" y="1140"/>
                  <a:pt x="889" y="1162"/>
                  <a:pt x="834" y="1178"/>
                </a:cubicBezTo>
                <a:cubicBezTo>
                  <a:pt x="780" y="1193"/>
                  <a:pt x="726" y="1200"/>
                  <a:pt x="670" y="1200"/>
                </a:cubicBezTo>
                <a:cubicBezTo>
                  <a:pt x="576" y="1201"/>
                  <a:pt x="486" y="1179"/>
                  <a:pt x="402" y="1137"/>
                </a:cubicBezTo>
                <a:lnTo>
                  <a:pt x="0" y="1271"/>
                </a:lnTo>
                <a:lnTo>
                  <a:pt x="134" y="869"/>
                </a:lnTo>
                <a:cubicBezTo>
                  <a:pt x="91" y="784"/>
                  <a:pt x="70" y="695"/>
                  <a:pt x="70" y="600"/>
                </a:cubicBezTo>
                <a:cubicBezTo>
                  <a:pt x="70" y="544"/>
                  <a:pt x="78" y="489"/>
                  <a:pt x="93" y="436"/>
                </a:cubicBezTo>
                <a:cubicBezTo>
                  <a:pt x="109" y="382"/>
                  <a:pt x="131" y="332"/>
                  <a:pt x="160" y="284"/>
                </a:cubicBezTo>
                <a:cubicBezTo>
                  <a:pt x="189" y="237"/>
                  <a:pt x="225" y="195"/>
                  <a:pt x="266" y="157"/>
                </a:cubicBezTo>
                <a:cubicBezTo>
                  <a:pt x="307" y="120"/>
                  <a:pt x="352" y="88"/>
                  <a:pt x="402" y="63"/>
                </a:cubicBezTo>
                <a:cubicBezTo>
                  <a:pt x="486" y="21"/>
                  <a:pt x="576" y="0"/>
                  <a:pt x="670" y="0"/>
                </a:cubicBezTo>
                <a:lnTo>
                  <a:pt x="705" y="0"/>
                </a:lnTo>
                <a:cubicBezTo>
                  <a:pt x="742" y="2"/>
                  <a:pt x="778" y="7"/>
                  <a:pt x="813" y="16"/>
                </a:cubicBezTo>
                <a:cubicBezTo>
                  <a:pt x="850" y="24"/>
                  <a:pt x="884" y="36"/>
                  <a:pt x="918" y="51"/>
                </a:cubicBezTo>
                <a:cubicBezTo>
                  <a:pt x="951" y="66"/>
                  <a:pt x="983" y="84"/>
                  <a:pt x="1013" y="105"/>
                </a:cubicBezTo>
                <a:cubicBezTo>
                  <a:pt x="1043" y="125"/>
                  <a:pt x="1071" y="148"/>
                  <a:pt x="1096" y="174"/>
                </a:cubicBezTo>
                <a:cubicBezTo>
                  <a:pt x="1122" y="200"/>
                  <a:pt x="1146" y="228"/>
                  <a:pt x="1166" y="258"/>
                </a:cubicBezTo>
                <a:cubicBezTo>
                  <a:pt x="1187" y="288"/>
                  <a:pt x="1205" y="320"/>
                  <a:pt x="1220" y="353"/>
                </a:cubicBezTo>
                <a:cubicBezTo>
                  <a:pt x="1235" y="387"/>
                  <a:pt x="1246" y="421"/>
                  <a:pt x="1255" y="456"/>
                </a:cubicBezTo>
                <a:cubicBezTo>
                  <a:pt x="1264" y="492"/>
                  <a:pt x="1269" y="528"/>
                  <a:pt x="1271" y="564"/>
                </a:cubicBezTo>
                <a:lnTo>
                  <a:pt x="1271" y="600"/>
                </a:lnTo>
              </a:path>
            </a:pathLst>
          </a:custGeom>
          <a:ln w="37800" cap="rnd">
            <a:solidFill>
              <a:srgbClr val="ED7B2F"/>
            </a:solidFill>
            <a:round/>
          </a:ln>
        </p:spPr>
        <p:txBody>
          <a:bodyPr lIns="18720" tIns="18720" rIns="18720" bIns="1872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6" name="任意多边形: 形状 435"/>
          <p:cNvSpPr/>
          <p:nvPr/>
        </p:nvSpPr>
        <p:spPr>
          <a:xfrm>
            <a:off x="5000400" y="5362560"/>
            <a:ext cx="457560" cy="9720"/>
          </a:xfrm>
          <a:custGeom>
            <a:avLst/>
            <a:gdLst/>
            <a:ahLst/>
            <a:cxnLst/>
            <a:rect l="0" t="0" r="r" b="b"/>
            <a:pathLst>
              <a:path w="1271" h="27">
                <a:moveTo>
                  <a:pt x="0" y="0"/>
                </a:moveTo>
                <a:lnTo>
                  <a:pt x="1271" y="0"/>
                </a:lnTo>
                <a:lnTo>
                  <a:pt x="127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3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7" name="任意多边形: 形状 436"/>
          <p:cNvSpPr/>
          <p:nvPr/>
        </p:nvSpPr>
        <p:spPr>
          <a:xfrm>
            <a:off x="6743520" y="5362560"/>
            <a:ext cx="457560" cy="9720"/>
          </a:xfrm>
          <a:custGeom>
            <a:avLst/>
            <a:gdLst/>
            <a:ahLst/>
            <a:cxnLst/>
            <a:rect l="0" t="0" r="r" b="b"/>
            <a:pathLst>
              <a:path w="1271" h="27">
                <a:moveTo>
                  <a:pt x="0" y="0"/>
                </a:moveTo>
                <a:lnTo>
                  <a:pt x="1271" y="0"/>
                </a:lnTo>
                <a:lnTo>
                  <a:pt x="127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3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38" name="图片 437"/>
          <p:cNvPicPr/>
          <p:nvPr/>
        </p:nvPicPr>
        <p:blipFill>
          <a:blip r:embed="rId7"/>
          <a:stretch/>
        </p:blipFill>
        <p:spPr>
          <a:xfrm>
            <a:off x="4591080" y="2219400"/>
            <a:ext cx="3009600" cy="685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39" name="图片 438"/>
          <p:cNvPicPr/>
          <p:nvPr/>
        </p:nvPicPr>
        <p:blipFill>
          <a:blip r:embed="rId8"/>
          <a:stretch/>
        </p:blipFill>
        <p:spPr>
          <a:xfrm>
            <a:off x="5638680" y="3133800"/>
            <a:ext cx="914040" cy="56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40" name="图片 439"/>
          <p:cNvPicPr/>
          <p:nvPr/>
        </p:nvPicPr>
        <p:blipFill>
          <a:blip r:embed="rId9"/>
          <a:stretch/>
        </p:blipFill>
        <p:spPr>
          <a:xfrm>
            <a:off x="2943360" y="3571920"/>
            <a:ext cx="6305040" cy="999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1" name="文本框 440"/>
          <p:cNvSpPr txBox="1"/>
          <p:nvPr/>
        </p:nvSpPr>
        <p:spPr>
          <a:xfrm>
            <a:off x="5605560" y="5158080"/>
            <a:ext cx="916920" cy="46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700" b="0" u="none" strike="noStrike">
                <a:solidFill>
                  <a:srgbClr val="ED7B2F"/>
                </a:solidFill>
                <a:effectLst/>
                <a:uFillTx/>
                <a:latin typeface="NotoSansSC"/>
                <a:ea typeface="NotoSansSC"/>
              </a:rPr>
              <a:t>Q &amp; A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2" name="文本框 441"/>
          <p:cNvSpPr txBox="1"/>
          <p:nvPr/>
        </p:nvSpPr>
        <p:spPr>
          <a:xfrm>
            <a:off x="3409920" y="3927600"/>
            <a:ext cx="624096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800" b="0" u="none" strike="noStrike">
                <a:solidFill>
                  <a:srgbClr val="FFFFFF"/>
                </a:solidFill>
                <a:effectLst/>
                <a:uFillTx/>
                <a:latin typeface="NotoSansSC"/>
                <a:ea typeface="NotoSansSC"/>
              </a:rPr>
              <a:t>感谢导师  蒋甫政  及  元梦之星开发一组  的指导与帮助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1566</TotalTime>
  <Words>864</Words>
  <Application>Microsoft Office PowerPoint</Application>
  <PresentationFormat>宽屏</PresentationFormat>
  <Paragraphs>221</Paragraphs>
  <Slides>9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7" baseType="lpstr">
      <vt:lpstr>NotoSansSC</vt:lpstr>
      <vt:lpstr>等线</vt:lpstr>
      <vt:lpstr>Arial</vt:lpstr>
      <vt:lpstr>Roboto</vt:lpstr>
      <vt:lpstr>Symbol</vt:lpstr>
      <vt:lpstr>Times New Roman</vt:lpstr>
      <vt:lpstr>Wingdings</vt:lpstr>
      <vt:lpstr>Office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dc:description/>
  <cp:lastModifiedBy>T166201</cp:lastModifiedBy>
  <cp:revision>14</cp:revision>
  <dcterms:modified xsi:type="dcterms:W3CDTF">2026-01-20T14:31:00Z</dcterms:modified>
  <dc:language>en-US</dc:language>
</cp:coreProperties>
</file>